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52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953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138"/>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B3A5C"/>
          </a:solidFill>
          <a:ln/>
        </p:spPr>
      </p:sp>
      <p:sp>
        <p:nvSpPr>
          <p:cNvPr id="3" name="Shape 1"/>
          <p:cNvSpPr/>
          <p:nvPr/>
        </p:nvSpPr>
        <p:spPr>
          <a:xfrm>
            <a:off x="10607040" y="4206240"/>
            <a:ext cx="3291840" cy="3291840"/>
          </a:xfrm>
          <a:prstGeom prst="ellipse">
            <a:avLst/>
          </a:prstGeom>
          <a:solidFill>
            <a:srgbClr val="3E92CC"/>
          </a:solidFill>
          <a:ln/>
        </p:spPr>
      </p:sp>
      <p:sp>
        <p:nvSpPr>
          <p:cNvPr id="4" name="Shape 2"/>
          <p:cNvSpPr/>
          <p:nvPr/>
        </p:nvSpPr>
        <p:spPr>
          <a:xfrm>
            <a:off x="0" y="0"/>
            <a:ext cx="164592" cy="6858000"/>
          </a:xfrm>
          <a:prstGeom prst="rect">
            <a:avLst/>
          </a:prstGeom>
          <a:solidFill>
            <a:srgbClr val="F2A541"/>
          </a:solidFill>
          <a:ln/>
        </p:spPr>
      </p:sp>
      <p:sp>
        <p:nvSpPr>
          <p:cNvPr id="5" name="Text 3"/>
          <p:cNvSpPr/>
          <p:nvPr/>
        </p:nvSpPr>
        <p:spPr>
          <a:xfrm>
            <a:off x="822960" y="1828800"/>
            <a:ext cx="7315200" cy="548640"/>
          </a:xfrm>
          <a:prstGeom prst="rect">
            <a:avLst/>
          </a:prstGeom>
          <a:noFill/>
          <a:ln/>
        </p:spPr>
        <p:txBody>
          <a:bodyPr wrap="square" rtlCol="0" anchor="ctr"/>
          <a:lstStyle/>
          <a:p>
            <a:pPr marL="0" indent="0">
              <a:buNone/>
            </a:pPr>
            <a:r>
              <a:rPr lang="en-US" sz="1800" b="1" kern="0" spc="300" dirty="0">
                <a:solidFill>
                  <a:srgbClr val="F2A541"/>
                </a:solidFill>
                <a:latin typeface="Calibri" pitchFamily="34" charset="0"/>
                <a:ea typeface="Calibri" pitchFamily="34" charset="-122"/>
                <a:cs typeface="Calibri" pitchFamily="34" charset="-120"/>
              </a:rPr>
              <a:t>CHƯƠNG 2</a:t>
            </a:r>
            <a:endParaRPr lang="en-US" sz="1800" dirty="0"/>
          </a:p>
        </p:txBody>
      </p:sp>
      <p:sp>
        <p:nvSpPr>
          <p:cNvPr id="6" name="Text 4"/>
          <p:cNvSpPr/>
          <p:nvPr/>
        </p:nvSpPr>
        <p:spPr>
          <a:xfrm>
            <a:off x="822960" y="2331720"/>
            <a:ext cx="9875520" cy="1828800"/>
          </a:xfrm>
          <a:prstGeom prst="rect">
            <a:avLst/>
          </a:prstGeom>
          <a:noFill/>
          <a:ln/>
        </p:spPr>
        <p:txBody>
          <a:bodyPr wrap="square" rtlCol="0" anchor="ctr"/>
          <a:lstStyle/>
          <a:p>
            <a:pPr marL="0" indent="0" algn="l">
              <a:lnSpc>
                <a:spcPct val="105000"/>
              </a:lnSpc>
              <a:buNone/>
            </a:pPr>
            <a:r>
              <a:rPr lang="en-US" sz="4200" b="1" dirty="0">
                <a:solidFill>
                  <a:srgbClr val="FFFFFF"/>
                </a:solidFill>
                <a:latin typeface="Calibri" pitchFamily="34" charset="0"/>
                <a:ea typeface="Calibri" pitchFamily="34" charset="-122"/>
                <a:cs typeface="Calibri" pitchFamily="34" charset="-120"/>
              </a:rPr>
              <a:t>ĐỊNH HƯỚNG QUÁ TRÌNH</a:t>
            </a:r>
            <a:endParaRPr lang="en-US" sz="4200" dirty="0"/>
          </a:p>
          <a:p>
            <a:pPr marL="0" indent="0" algn="l">
              <a:lnSpc>
                <a:spcPct val="105000"/>
              </a:lnSpc>
              <a:buNone/>
            </a:pPr>
            <a:r>
              <a:rPr lang="en-US" sz="4200" b="1" dirty="0">
                <a:solidFill>
                  <a:srgbClr val="FFFFFF"/>
                </a:solidFill>
                <a:latin typeface="Calibri" pitchFamily="34" charset="0"/>
                <a:ea typeface="Calibri" pitchFamily="34" charset="-122"/>
                <a:cs typeface="Calibri" pitchFamily="34" charset="-120"/>
              </a:rPr>
              <a:t>DẠY HỌC MÔN TIN HỌC</a:t>
            </a:r>
            <a:endParaRPr lang="en-US" sz="4200" dirty="0"/>
          </a:p>
        </p:txBody>
      </p:sp>
      <p:sp>
        <p:nvSpPr>
          <p:cNvPr id="7" name="Text 5"/>
          <p:cNvSpPr/>
          <p:nvPr/>
        </p:nvSpPr>
        <p:spPr>
          <a:xfrm>
            <a:off x="822960" y="4343400"/>
            <a:ext cx="914400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Lý luận và Phương pháp dạy học Tin học · Chương trình GDPT 2018</a:t>
            </a:r>
            <a:endParaRPr lang="en-US" sz="1600" dirty="0"/>
          </a:p>
        </p:txBody>
      </p:sp>
      <p:sp>
        <p:nvSpPr>
          <p:cNvPr id="8" name="Shape 6"/>
          <p:cNvSpPr/>
          <p:nvPr/>
        </p:nvSpPr>
        <p:spPr>
          <a:xfrm>
            <a:off x="822960" y="5074920"/>
            <a:ext cx="1828800" cy="0"/>
          </a:xfrm>
          <a:prstGeom prst="line">
            <a:avLst/>
          </a:prstGeom>
          <a:noFill/>
          <a:ln w="31750">
            <a:solidFill>
              <a:srgbClr val="F2A541"/>
            </a:solidFill>
            <a:prstDash val="solid"/>
          </a:ln>
        </p:spPr>
      </p:sp>
      <p:sp>
        <p:nvSpPr>
          <p:cNvPr id="9" name="Text 7"/>
          <p:cNvSpPr/>
          <p:nvPr/>
        </p:nvSpPr>
        <p:spPr>
          <a:xfrm>
            <a:off x="822960" y="5257800"/>
            <a:ext cx="8229600" cy="365760"/>
          </a:xfrm>
          <a:prstGeom prst="rect">
            <a:avLst/>
          </a:prstGeom>
          <a:noFill/>
          <a:ln/>
        </p:spPr>
        <p:txBody>
          <a:bodyPr wrap="square" rtlCol="0" anchor="ctr"/>
          <a:lstStyle/>
          <a:p>
            <a:pPr marL="0" indent="0">
              <a:buNone/>
            </a:pPr>
            <a:r>
              <a:rPr lang="en-US" sz="1200" dirty="0">
                <a:solidFill>
                  <a:srgbClr val="9FB4C9"/>
                </a:solidFill>
                <a:latin typeface="Calibri" pitchFamily="34" charset="0"/>
                <a:ea typeface="Calibri" pitchFamily="34" charset="-122"/>
                <a:cs typeface="Calibri" pitchFamily="34" charset="-120"/>
              </a:rPr>
              <a:t>Bài giảng phục vụ giảng dạy học phần Lý luận và PPDH Tin học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MỞ ĐẦU</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Mục tiêu của chương</a:t>
            </a:r>
            <a:endParaRPr lang="en-US" sz="3000" dirty="0"/>
          </a:p>
        </p:txBody>
      </p:sp>
      <p:sp>
        <p:nvSpPr>
          <p:cNvPr id="5" name="Shape 3"/>
          <p:cNvSpPr/>
          <p:nvPr/>
        </p:nvSpPr>
        <p:spPr>
          <a:xfrm>
            <a:off x="548640" y="1783080"/>
            <a:ext cx="11064240" cy="1051560"/>
          </a:xfrm>
          <a:prstGeom prst="roundRect">
            <a:avLst>
              <a:gd name="adj" fmla="val 6957"/>
            </a:avLst>
          </a:prstGeom>
          <a:solidFill>
            <a:srgbClr val="FFFFFF"/>
          </a:solidFill>
          <a:ln w="12700">
            <a:solidFill>
              <a:srgbClr val="DCE4EC"/>
            </a:solidFill>
            <a:prstDash val="solid"/>
          </a:ln>
          <a:effectLst>
            <a:outerShdw blurRad="76200" dist="25400" dir="5400000" algn="bl" rotWithShape="0">
              <a:srgbClr val="9AA9B8">
                <a:alpha val="25000"/>
              </a:srgbClr>
            </a:outerShdw>
          </a:effectLst>
        </p:spPr>
      </p:sp>
      <p:sp>
        <p:nvSpPr>
          <p:cNvPr id="6" name="Shape 4"/>
          <p:cNvSpPr/>
          <p:nvPr/>
        </p:nvSpPr>
        <p:spPr>
          <a:xfrm>
            <a:off x="822960" y="2039112"/>
            <a:ext cx="548640" cy="548640"/>
          </a:xfrm>
          <a:prstGeom prst="ellipse">
            <a:avLst/>
          </a:prstGeom>
          <a:solidFill>
            <a:srgbClr val="1B3A5C"/>
          </a:solidFill>
          <a:ln/>
        </p:spPr>
      </p:sp>
      <p:sp>
        <p:nvSpPr>
          <p:cNvPr id="7" name="Text 5"/>
          <p:cNvSpPr/>
          <p:nvPr/>
        </p:nvSpPr>
        <p:spPr>
          <a:xfrm>
            <a:off x="822960" y="2039112"/>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01</a:t>
            </a:r>
            <a:endParaRPr lang="en-US" sz="1320" dirty="0"/>
          </a:p>
        </p:txBody>
      </p:sp>
      <p:sp>
        <p:nvSpPr>
          <p:cNvPr id="8" name="Text 6"/>
          <p:cNvSpPr/>
          <p:nvPr/>
        </p:nvSpPr>
        <p:spPr>
          <a:xfrm>
            <a:off x="1691640" y="1874520"/>
            <a:ext cx="9692640" cy="868680"/>
          </a:xfrm>
          <a:prstGeom prst="rect">
            <a:avLst/>
          </a:prstGeom>
          <a:noFill/>
          <a:ln/>
        </p:spPr>
        <p:txBody>
          <a:bodyPr wrap="square" rtlCol="0" anchor="ctr"/>
          <a:lstStyle/>
          <a:p>
            <a:pPr marL="0" indent="0" algn="l">
              <a:buNone/>
            </a:pPr>
            <a:r>
              <a:rPr lang="en-US" sz="1450" dirty="0">
                <a:solidFill>
                  <a:srgbClr val="1B2430"/>
                </a:solidFill>
                <a:latin typeface="Calibri" pitchFamily="34" charset="0"/>
                <a:ea typeface="Calibri" pitchFamily="34" charset="-122"/>
                <a:cs typeface="Calibri" pitchFamily="34" charset="-120"/>
              </a:rPr>
              <a:t>Phân tích cấu trúc, mục tiêu và ba mạch kiến thức cốt lõi (CS, ICT, DL); so sánh chương trình cũ và hiện hành.</a:t>
            </a:r>
            <a:endParaRPr lang="en-US" sz="1450" dirty="0"/>
          </a:p>
        </p:txBody>
      </p:sp>
      <p:sp>
        <p:nvSpPr>
          <p:cNvPr id="9" name="Shape 7"/>
          <p:cNvSpPr/>
          <p:nvPr/>
        </p:nvSpPr>
        <p:spPr>
          <a:xfrm>
            <a:off x="548640" y="2990088"/>
            <a:ext cx="11064240" cy="1051560"/>
          </a:xfrm>
          <a:prstGeom prst="roundRect">
            <a:avLst>
              <a:gd name="adj" fmla="val 6957"/>
            </a:avLst>
          </a:prstGeom>
          <a:solidFill>
            <a:srgbClr val="FFFFFF"/>
          </a:solidFill>
          <a:ln w="12700">
            <a:solidFill>
              <a:srgbClr val="DCE4EC"/>
            </a:solidFill>
            <a:prstDash val="solid"/>
          </a:ln>
          <a:effectLst>
            <a:outerShdw blurRad="76200" dist="25400" dir="5400000" algn="bl" rotWithShape="0">
              <a:srgbClr val="9AA9B8">
                <a:alpha val="25000"/>
              </a:srgbClr>
            </a:outerShdw>
          </a:effectLst>
        </p:spPr>
      </p:sp>
      <p:sp>
        <p:nvSpPr>
          <p:cNvPr id="10" name="Shape 8"/>
          <p:cNvSpPr/>
          <p:nvPr/>
        </p:nvSpPr>
        <p:spPr>
          <a:xfrm>
            <a:off x="822960" y="3246120"/>
            <a:ext cx="548640" cy="548640"/>
          </a:xfrm>
          <a:prstGeom prst="ellipse">
            <a:avLst/>
          </a:prstGeom>
          <a:solidFill>
            <a:srgbClr val="1B3A5C"/>
          </a:solidFill>
          <a:ln/>
        </p:spPr>
      </p:sp>
      <p:sp>
        <p:nvSpPr>
          <p:cNvPr id="11" name="Text 9"/>
          <p:cNvSpPr/>
          <p:nvPr/>
        </p:nvSpPr>
        <p:spPr>
          <a:xfrm>
            <a:off x="822960" y="3246120"/>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02</a:t>
            </a:r>
            <a:endParaRPr lang="en-US" sz="1320" dirty="0"/>
          </a:p>
        </p:txBody>
      </p:sp>
      <p:sp>
        <p:nvSpPr>
          <p:cNvPr id="12" name="Text 10"/>
          <p:cNvSpPr/>
          <p:nvPr/>
        </p:nvSpPr>
        <p:spPr>
          <a:xfrm>
            <a:off x="1691640" y="3081528"/>
            <a:ext cx="9692640" cy="868680"/>
          </a:xfrm>
          <a:prstGeom prst="rect">
            <a:avLst/>
          </a:prstGeom>
          <a:noFill/>
          <a:ln/>
        </p:spPr>
        <p:txBody>
          <a:bodyPr wrap="square" rtlCol="0" anchor="ctr"/>
          <a:lstStyle/>
          <a:p>
            <a:pPr marL="0" indent="0" algn="l">
              <a:buNone/>
            </a:pPr>
            <a:r>
              <a:rPr lang="en-US" sz="1450" dirty="0">
                <a:solidFill>
                  <a:srgbClr val="1B2430"/>
                </a:solidFill>
                <a:latin typeface="Calibri" pitchFamily="34" charset="0"/>
                <a:ea typeface="Calibri" pitchFamily="34" charset="-122"/>
                <a:cs typeface="Calibri" pitchFamily="34" charset="-120"/>
              </a:rPr>
              <a:t>Chuyển hóa chính xác “Yêu cầu cần đạt” thành kế hoạch bài dạy và tổ chức hoạt động giáo dục linh hoạt.</a:t>
            </a:r>
            <a:endParaRPr lang="en-US" sz="1450" dirty="0"/>
          </a:p>
        </p:txBody>
      </p:sp>
      <p:sp>
        <p:nvSpPr>
          <p:cNvPr id="13" name="Shape 11"/>
          <p:cNvSpPr/>
          <p:nvPr/>
        </p:nvSpPr>
        <p:spPr>
          <a:xfrm>
            <a:off x="548640" y="4197096"/>
            <a:ext cx="11064240" cy="1051560"/>
          </a:xfrm>
          <a:prstGeom prst="roundRect">
            <a:avLst>
              <a:gd name="adj" fmla="val 6957"/>
            </a:avLst>
          </a:prstGeom>
          <a:solidFill>
            <a:srgbClr val="FFFFFF"/>
          </a:solidFill>
          <a:ln w="12700">
            <a:solidFill>
              <a:srgbClr val="DCE4EC"/>
            </a:solidFill>
            <a:prstDash val="solid"/>
          </a:ln>
          <a:effectLst>
            <a:outerShdw blurRad="76200" dist="25400" dir="5400000" algn="bl" rotWithShape="0">
              <a:srgbClr val="9AA9B8">
                <a:alpha val="25000"/>
              </a:srgbClr>
            </a:outerShdw>
          </a:effectLst>
        </p:spPr>
      </p:sp>
      <p:sp>
        <p:nvSpPr>
          <p:cNvPr id="14" name="Shape 12"/>
          <p:cNvSpPr/>
          <p:nvPr/>
        </p:nvSpPr>
        <p:spPr>
          <a:xfrm>
            <a:off x="822960" y="4453128"/>
            <a:ext cx="548640" cy="548640"/>
          </a:xfrm>
          <a:prstGeom prst="ellipse">
            <a:avLst/>
          </a:prstGeom>
          <a:solidFill>
            <a:srgbClr val="1B3A5C"/>
          </a:solidFill>
          <a:ln/>
        </p:spPr>
      </p:sp>
      <p:sp>
        <p:nvSpPr>
          <p:cNvPr id="15" name="Text 13"/>
          <p:cNvSpPr/>
          <p:nvPr/>
        </p:nvSpPr>
        <p:spPr>
          <a:xfrm>
            <a:off x="822960" y="445312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03</a:t>
            </a:r>
            <a:endParaRPr lang="en-US" sz="1320" dirty="0"/>
          </a:p>
        </p:txBody>
      </p:sp>
      <p:sp>
        <p:nvSpPr>
          <p:cNvPr id="16" name="Text 14"/>
          <p:cNvSpPr/>
          <p:nvPr/>
        </p:nvSpPr>
        <p:spPr>
          <a:xfrm>
            <a:off x="1691640" y="4288536"/>
            <a:ext cx="9692640" cy="868680"/>
          </a:xfrm>
          <a:prstGeom prst="rect">
            <a:avLst/>
          </a:prstGeom>
          <a:noFill/>
          <a:ln/>
        </p:spPr>
        <p:txBody>
          <a:bodyPr wrap="square" rtlCol="0" anchor="ctr"/>
          <a:lstStyle/>
          <a:p>
            <a:pPr marL="0" indent="0" algn="l">
              <a:buNone/>
            </a:pPr>
            <a:r>
              <a:rPr lang="en-US" sz="1450" dirty="0">
                <a:solidFill>
                  <a:srgbClr val="1B2430"/>
                </a:solidFill>
                <a:latin typeface="Calibri" pitchFamily="34" charset="0"/>
                <a:ea typeface="Calibri" pitchFamily="34" charset="-122"/>
                <a:cs typeface="Calibri" pitchFamily="34" charset="-120"/>
              </a:rPr>
              <a:t>Chủ động cập nhật xu hướng công nghệ, hình thành năng lực phát triển chương trình môn học ở phổ thông.</a:t>
            </a:r>
            <a:endParaRPr lang="en-US" sz="1450" dirty="0"/>
          </a:p>
        </p:txBody>
      </p:sp>
      <p:sp>
        <p:nvSpPr>
          <p:cNvPr id="17" name="Shape 15"/>
          <p:cNvSpPr/>
          <p:nvPr/>
        </p:nvSpPr>
        <p:spPr>
          <a:xfrm>
            <a:off x="548640" y="5404104"/>
            <a:ext cx="11064240" cy="1051560"/>
          </a:xfrm>
          <a:prstGeom prst="roundRect">
            <a:avLst>
              <a:gd name="adj" fmla="val 6957"/>
            </a:avLst>
          </a:prstGeom>
          <a:solidFill>
            <a:srgbClr val="FFFFFF"/>
          </a:solidFill>
          <a:ln w="12700">
            <a:solidFill>
              <a:srgbClr val="DCE4EC"/>
            </a:solidFill>
            <a:prstDash val="solid"/>
          </a:ln>
          <a:effectLst>
            <a:outerShdw blurRad="76200" dist="25400" dir="5400000" algn="bl" rotWithShape="0">
              <a:srgbClr val="9AA9B8">
                <a:alpha val="25000"/>
              </a:srgbClr>
            </a:outerShdw>
          </a:effectLst>
        </p:spPr>
      </p:sp>
      <p:sp>
        <p:nvSpPr>
          <p:cNvPr id="18" name="Shape 16"/>
          <p:cNvSpPr/>
          <p:nvPr/>
        </p:nvSpPr>
        <p:spPr>
          <a:xfrm>
            <a:off x="822960" y="5660136"/>
            <a:ext cx="548640" cy="548640"/>
          </a:xfrm>
          <a:prstGeom prst="ellipse">
            <a:avLst/>
          </a:prstGeom>
          <a:solidFill>
            <a:srgbClr val="1B3A5C"/>
          </a:solidFill>
          <a:ln/>
        </p:spPr>
      </p:sp>
      <p:sp>
        <p:nvSpPr>
          <p:cNvPr id="19" name="Text 17"/>
          <p:cNvSpPr/>
          <p:nvPr/>
        </p:nvSpPr>
        <p:spPr>
          <a:xfrm>
            <a:off x="822960" y="5660136"/>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04</a:t>
            </a:r>
            <a:endParaRPr lang="en-US" sz="1320" dirty="0"/>
          </a:p>
        </p:txBody>
      </p:sp>
      <p:sp>
        <p:nvSpPr>
          <p:cNvPr id="20" name="Text 18"/>
          <p:cNvSpPr/>
          <p:nvPr/>
        </p:nvSpPr>
        <p:spPr>
          <a:xfrm>
            <a:off x="1691640" y="5495544"/>
            <a:ext cx="9692640" cy="868680"/>
          </a:xfrm>
          <a:prstGeom prst="rect">
            <a:avLst/>
          </a:prstGeom>
          <a:noFill/>
          <a:ln/>
        </p:spPr>
        <p:txBody>
          <a:bodyPr wrap="square" rtlCol="0" anchor="ctr"/>
          <a:lstStyle/>
          <a:p>
            <a:pPr marL="0" indent="0" algn="l">
              <a:buNone/>
            </a:pPr>
            <a:r>
              <a:rPr lang="en-US" sz="1450" dirty="0">
                <a:solidFill>
                  <a:srgbClr val="1B2430"/>
                </a:solidFill>
                <a:latin typeface="Calibri" pitchFamily="34" charset="0"/>
                <a:ea typeface="Calibri" pitchFamily="34" charset="-122"/>
                <a:cs typeface="Calibri" pitchFamily="34" charset="-120"/>
              </a:rPr>
              <a:t>Nắm vững bản chất nội dung giáo dục Tin học và mối liên hệ với hoạt động nhận thức của học sinh.</a:t>
            </a:r>
            <a:endParaRPr lang="en-US" sz="145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MỞ ĐẦU</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Nội dung chương</a:t>
            </a:r>
            <a:endParaRPr lang="en-US" sz="3000" dirty="0"/>
          </a:p>
        </p:txBody>
      </p:sp>
      <p:sp>
        <p:nvSpPr>
          <p:cNvPr id="5" name="Shape 3"/>
          <p:cNvSpPr/>
          <p:nvPr/>
        </p:nvSpPr>
        <p:spPr>
          <a:xfrm>
            <a:off x="548640" y="1783080"/>
            <a:ext cx="5349240" cy="713232"/>
          </a:xfrm>
          <a:prstGeom prst="roundRect">
            <a:avLst>
              <a:gd name="adj" fmla="val 7692"/>
            </a:avLst>
          </a:prstGeom>
          <a:solidFill>
            <a:srgbClr val="FFFFFF"/>
          </a:solidFill>
          <a:ln w="12700">
            <a:solidFill>
              <a:srgbClr val="DCE4EC"/>
            </a:solidFill>
            <a:prstDash val="solid"/>
          </a:ln>
        </p:spPr>
      </p:sp>
      <p:sp>
        <p:nvSpPr>
          <p:cNvPr id="6" name="Shape 4"/>
          <p:cNvSpPr/>
          <p:nvPr/>
        </p:nvSpPr>
        <p:spPr>
          <a:xfrm>
            <a:off x="658368" y="1911096"/>
            <a:ext cx="457200" cy="457200"/>
          </a:xfrm>
          <a:prstGeom prst="roundRect">
            <a:avLst>
              <a:gd name="adj" fmla="val 12000"/>
            </a:avLst>
          </a:prstGeom>
          <a:solidFill>
            <a:srgbClr val="3E92CC"/>
          </a:solidFill>
          <a:ln/>
        </p:spPr>
      </p:sp>
      <p:sp>
        <p:nvSpPr>
          <p:cNvPr id="7" name="Text 5"/>
          <p:cNvSpPr/>
          <p:nvPr/>
        </p:nvSpPr>
        <p:spPr>
          <a:xfrm>
            <a:off x="658368" y="191109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261872" y="178308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2.1 Chương trình GDPT 2018 &amp; vị trí môn Tin học</a:t>
            </a:r>
            <a:endParaRPr lang="en-US" sz="1350" dirty="0"/>
          </a:p>
        </p:txBody>
      </p:sp>
      <p:sp>
        <p:nvSpPr>
          <p:cNvPr id="9" name="Shape 7"/>
          <p:cNvSpPr/>
          <p:nvPr/>
        </p:nvSpPr>
        <p:spPr>
          <a:xfrm>
            <a:off x="548640" y="2651760"/>
            <a:ext cx="5349240" cy="713232"/>
          </a:xfrm>
          <a:prstGeom prst="roundRect">
            <a:avLst>
              <a:gd name="adj" fmla="val 7692"/>
            </a:avLst>
          </a:prstGeom>
          <a:solidFill>
            <a:srgbClr val="FFFFFF"/>
          </a:solidFill>
          <a:ln w="12700">
            <a:solidFill>
              <a:srgbClr val="DCE4EC"/>
            </a:solidFill>
            <a:prstDash val="solid"/>
          </a:ln>
        </p:spPr>
      </p:sp>
      <p:sp>
        <p:nvSpPr>
          <p:cNvPr id="10" name="Shape 8"/>
          <p:cNvSpPr/>
          <p:nvPr/>
        </p:nvSpPr>
        <p:spPr>
          <a:xfrm>
            <a:off x="658368" y="2779776"/>
            <a:ext cx="457200" cy="457200"/>
          </a:xfrm>
          <a:prstGeom prst="roundRect">
            <a:avLst>
              <a:gd name="adj" fmla="val 12000"/>
            </a:avLst>
          </a:prstGeom>
          <a:solidFill>
            <a:srgbClr val="3E92CC"/>
          </a:solidFill>
          <a:ln/>
        </p:spPr>
      </p:sp>
      <p:sp>
        <p:nvSpPr>
          <p:cNvPr id="11" name="Text 9"/>
          <p:cNvSpPr/>
          <p:nvPr/>
        </p:nvSpPr>
        <p:spPr>
          <a:xfrm>
            <a:off x="658368" y="277977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261872" y="265176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2.2 Mục tiêu dạy học môn Tin học</a:t>
            </a:r>
            <a:endParaRPr lang="en-US" sz="1350" dirty="0"/>
          </a:p>
        </p:txBody>
      </p:sp>
      <p:sp>
        <p:nvSpPr>
          <p:cNvPr id="13" name="Shape 11"/>
          <p:cNvSpPr/>
          <p:nvPr/>
        </p:nvSpPr>
        <p:spPr>
          <a:xfrm>
            <a:off x="548640" y="3520440"/>
            <a:ext cx="5349240" cy="713232"/>
          </a:xfrm>
          <a:prstGeom prst="roundRect">
            <a:avLst>
              <a:gd name="adj" fmla="val 7692"/>
            </a:avLst>
          </a:prstGeom>
          <a:solidFill>
            <a:srgbClr val="FFFFFF"/>
          </a:solidFill>
          <a:ln w="12700">
            <a:solidFill>
              <a:srgbClr val="DCE4EC"/>
            </a:solidFill>
            <a:prstDash val="solid"/>
          </a:ln>
        </p:spPr>
      </p:sp>
      <p:sp>
        <p:nvSpPr>
          <p:cNvPr id="14" name="Shape 12"/>
          <p:cNvSpPr/>
          <p:nvPr/>
        </p:nvSpPr>
        <p:spPr>
          <a:xfrm>
            <a:off x="658368" y="3648456"/>
            <a:ext cx="457200" cy="457200"/>
          </a:xfrm>
          <a:prstGeom prst="roundRect">
            <a:avLst>
              <a:gd name="adj" fmla="val 12000"/>
            </a:avLst>
          </a:prstGeom>
          <a:solidFill>
            <a:srgbClr val="3E92CC"/>
          </a:solidFill>
          <a:ln/>
        </p:spPr>
      </p:sp>
      <p:sp>
        <p:nvSpPr>
          <p:cNvPr id="15" name="Text 13"/>
          <p:cNvSpPr/>
          <p:nvPr/>
        </p:nvSpPr>
        <p:spPr>
          <a:xfrm>
            <a:off x="658368" y="364845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261872" y="352044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2.3 Quan điểm phát triển chương trình</a:t>
            </a:r>
            <a:endParaRPr lang="en-US" sz="1350" dirty="0"/>
          </a:p>
        </p:txBody>
      </p:sp>
      <p:sp>
        <p:nvSpPr>
          <p:cNvPr id="17" name="Shape 15"/>
          <p:cNvSpPr/>
          <p:nvPr/>
        </p:nvSpPr>
        <p:spPr>
          <a:xfrm>
            <a:off x="548640" y="4389120"/>
            <a:ext cx="5349240" cy="713232"/>
          </a:xfrm>
          <a:prstGeom prst="roundRect">
            <a:avLst>
              <a:gd name="adj" fmla="val 7692"/>
            </a:avLst>
          </a:prstGeom>
          <a:solidFill>
            <a:srgbClr val="FFFFFF"/>
          </a:solidFill>
          <a:ln w="12700">
            <a:solidFill>
              <a:srgbClr val="DCE4EC"/>
            </a:solidFill>
            <a:prstDash val="solid"/>
          </a:ln>
        </p:spPr>
      </p:sp>
      <p:sp>
        <p:nvSpPr>
          <p:cNvPr id="18" name="Shape 16"/>
          <p:cNvSpPr/>
          <p:nvPr/>
        </p:nvSpPr>
        <p:spPr>
          <a:xfrm>
            <a:off x="658368" y="4517136"/>
            <a:ext cx="457200" cy="457200"/>
          </a:xfrm>
          <a:prstGeom prst="roundRect">
            <a:avLst>
              <a:gd name="adj" fmla="val 12000"/>
            </a:avLst>
          </a:prstGeom>
          <a:solidFill>
            <a:srgbClr val="3E92CC"/>
          </a:solidFill>
          <a:ln/>
        </p:spPr>
      </p:sp>
      <p:sp>
        <p:nvSpPr>
          <p:cNvPr id="19" name="Text 17"/>
          <p:cNvSpPr/>
          <p:nvPr/>
        </p:nvSpPr>
        <p:spPr>
          <a:xfrm>
            <a:off x="658368" y="451713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261872" y="438912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2.4 Cấu trúc &amp; nội dung theo từng cấp học</a:t>
            </a:r>
            <a:endParaRPr lang="en-US" sz="1350" dirty="0"/>
          </a:p>
        </p:txBody>
      </p:sp>
      <p:sp>
        <p:nvSpPr>
          <p:cNvPr id="21" name="Shape 19"/>
          <p:cNvSpPr/>
          <p:nvPr/>
        </p:nvSpPr>
        <p:spPr>
          <a:xfrm>
            <a:off x="548640" y="5257800"/>
            <a:ext cx="5349240" cy="713232"/>
          </a:xfrm>
          <a:prstGeom prst="roundRect">
            <a:avLst>
              <a:gd name="adj" fmla="val 7692"/>
            </a:avLst>
          </a:prstGeom>
          <a:solidFill>
            <a:srgbClr val="FFFFFF"/>
          </a:solidFill>
          <a:ln w="12700">
            <a:solidFill>
              <a:srgbClr val="DCE4EC"/>
            </a:solidFill>
            <a:prstDash val="solid"/>
          </a:ln>
        </p:spPr>
      </p:sp>
      <p:sp>
        <p:nvSpPr>
          <p:cNvPr id="22" name="Shape 20"/>
          <p:cNvSpPr/>
          <p:nvPr/>
        </p:nvSpPr>
        <p:spPr>
          <a:xfrm>
            <a:off x="658368" y="5385816"/>
            <a:ext cx="457200" cy="457200"/>
          </a:xfrm>
          <a:prstGeom prst="roundRect">
            <a:avLst>
              <a:gd name="adj" fmla="val 12000"/>
            </a:avLst>
          </a:prstGeom>
          <a:solidFill>
            <a:srgbClr val="3E92CC"/>
          </a:solidFill>
          <a:ln/>
        </p:spPr>
      </p:sp>
      <p:sp>
        <p:nvSpPr>
          <p:cNvPr id="23" name="Text 21"/>
          <p:cNvSpPr/>
          <p:nvPr/>
        </p:nvSpPr>
        <p:spPr>
          <a:xfrm>
            <a:off x="658368" y="538581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1261872" y="525780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2.5 Nguyên tắc dạy học vận dụng vào Tin học</a:t>
            </a:r>
            <a:endParaRPr lang="en-US" sz="1350" dirty="0"/>
          </a:p>
        </p:txBody>
      </p:sp>
      <p:sp>
        <p:nvSpPr>
          <p:cNvPr id="25" name="Shape 23"/>
          <p:cNvSpPr/>
          <p:nvPr/>
        </p:nvSpPr>
        <p:spPr>
          <a:xfrm>
            <a:off x="6355080" y="1783080"/>
            <a:ext cx="5349240" cy="713232"/>
          </a:xfrm>
          <a:prstGeom prst="roundRect">
            <a:avLst>
              <a:gd name="adj" fmla="val 7692"/>
            </a:avLst>
          </a:prstGeom>
          <a:solidFill>
            <a:srgbClr val="FFFFFF"/>
          </a:solidFill>
          <a:ln w="12700">
            <a:solidFill>
              <a:srgbClr val="DCE4EC"/>
            </a:solidFill>
            <a:prstDash val="solid"/>
          </a:ln>
        </p:spPr>
      </p:sp>
      <p:sp>
        <p:nvSpPr>
          <p:cNvPr id="26" name="Shape 24"/>
          <p:cNvSpPr/>
          <p:nvPr/>
        </p:nvSpPr>
        <p:spPr>
          <a:xfrm>
            <a:off x="6464808" y="1911096"/>
            <a:ext cx="457200" cy="457200"/>
          </a:xfrm>
          <a:prstGeom prst="roundRect">
            <a:avLst>
              <a:gd name="adj" fmla="val 12000"/>
            </a:avLst>
          </a:prstGeom>
          <a:solidFill>
            <a:srgbClr val="F2A541"/>
          </a:solidFill>
          <a:ln/>
        </p:spPr>
      </p:sp>
      <p:sp>
        <p:nvSpPr>
          <p:cNvPr id="27" name="Text 25"/>
          <p:cNvSpPr/>
          <p:nvPr/>
        </p:nvSpPr>
        <p:spPr>
          <a:xfrm>
            <a:off x="6464808" y="191109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7068312" y="178308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2.6 Nội dung giáo dục Tin học</a:t>
            </a:r>
            <a:endParaRPr lang="en-US" sz="1350" dirty="0"/>
          </a:p>
        </p:txBody>
      </p:sp>
      <p:sp>
        <p:nvSpPr>
          <p:cNvPr id="29" name="Shape 27"/>
          <p:cNvSpPr/>
          <p:nvPr/>
        </p:nvSpPr>
        <p:spPr>
          <a:xfrm>
            <a:off x="6355080" y="2651760"/>
            <a:ext cx="5349240" cy="713232"/>
          </a:xfrm>
          <a:prstGeom prst="roundRect">
            <a:avLst>
              <a:gd name="adj" fmla="val 7692"/>
            </a:avLst>
          </a:prstGeom>
          <a:solidFill>
            <a:srgbClr val="FFFFFF"/>
          </a:solidFill>
          <a:ln w="12700">
            <a:solidFill>
              <a:srgbClr val="DCE4EC"/>
            </a:solidFill>
            <a:prstDash val="solid"/>
          </a:ln>
        </p:spPr>
      </p:sp>
      <p:sp>
        <p:nvSpPr>
          <p:cNvPr id="30" name="Shape 28"/>
          <p:cNvSpPr/>
          <p:nvPr/>
        </p:nvSpPr>
        <p:spPr>
          <a:xfrm>
            <a:off x="6464808" y="2779776"/>
            <a:ext cx="457200" cy="457200"/>
          </a:xfrm>
          <a:prstGeom prst="roundRect">
            <a:avLst>
              <a:gd name="adj" fmla="val 12000"/>
            </a:avLst>
          </a:prstGeom>
          <a:solidFill>
            <a:srgbClr val="F2A541"/>
          </a:solidFill>
          <a:ln/>
        </p:spPr>
      </p:sp>
      <p:sp>
        <p:nvSpPr>
          <p:cNvPr id="31" name="Text 29"/>
          <p:cNvSpPr/>
          <p:nvPr/>
        </p:nvSpPr>
        <p:spPr>
          <a:xfrm>
            <a:off x="6464808" y="277977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7</a:t>
            </a:r>
            <a:endParaRPr lang="en-US" sz="1600" dirty="0"/>
          </a:p>
        </p:txBody>
      </p:sp>
      <p:sp>
        <p:nvSpPr>
          <p:cNvPr id="32" name="Text 30"/>
          <p:cNvSpPr/>
          <p:nvPr/>
        </p:nvSpPr>
        <p:spPr>
          <a:xfrm>
            <a:off x="7068312" y="265176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2.7 Nội dung Tin học của chương trình phổ thông</a:t>
            </a:r>
            <a:endParaRPr lang="en-US" sz="1350" dirty="0"/>
          </a:p>
        </p:txBody>
      </p:sp>
      <p:sp>
        <p:nvSpPr>
          <p:cNvPr id="33" name="Shape 31"/>
          <p:cNvSpPr/>
          <p:nvPr/>
        </p:nvSpPr>
        <p:spPr>
          <a:xfrm>
            <a:off x="6355080" y="3520440"/>
            <a:ext cx="5349240" cy="713232"/>
          </a:xfrm>
          <a:prstGeom prst="roundRect">
            <a:avLst>
              <a:gd name="adj" fmla="val 7692"/>
            </a:avLst>
          </a:prstGeom>
          <a:solidFill>
            <a:srgbClr val="FFFFFF"/>
          </a:solidFill>
          <a:ln w="12700">
            <a:solidFill>
              <a:srgbClr val="DCE4EC"/>
            </a:solidFill>
            <a:prstDash val="solid"/>
          </a:ln>
        </p:spPr>
      </p:sp>
      <p:sp>
        <p:nvSpPr>
          <p:cNvPr id="34" name="Shape 32"/>
          <p:cNvSpPr/>
          <p:nvPr/>
        </p:nvSpPr>
        <p:spPr>
          <a:xfrm>
            <a:off x="6464808" y="3648456"/>
            <a:ext cx="457200" cy="457200"/>
          </a:xfrm>
          <a:prstGeom prst="roundRect">
            <a:avLst>
              <a:gd name="adj" fmla="val 12000"/>
            </a:avLst>
          </a:prstGeom>
          <a:solidFill>
            <a:srgbClr val="F2A541"/>
          </a:solidFill>
          <a:ln/>
        </p:spPr>
      </p:sp>
      <p:sp>
        <p:nvSpPr>
          <p:cNvPr id="35" name="Text 33"/>
          <p:cNvSpPr/>
          <p:nvPr/>
        </p:nvSpPr>
        <p:spPr>
          <a:xfrm>
            <a:off x="6464808" y="364845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8</a:t>
            </a:r>
            <a:endParaRPr lang="en-US" sz="1600" dirty="0"/>
          </a:p>
        </p:txBody>
      </p:sp>
      <p:sp>
        <p:nvSpPr>
          <p:cNvPr id="36" name="Text 34"/>
          <p:cNvSpPr/>
          <p:nvPr/>
        </p:nvSpPr>
        <p:spPr>
          <a:xfrm>
            <a:off x="7068312" y="352044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2.8 Tư duy máy tính (Computational Thinking)</a:t>
            </a:r>
            <a:endParaRPr lang="en-US" sz="1350" dirty="0"/>
          </a:p>
        </p:txBody>
      </p:sp>
      <p:sp>
        <p:nvSpPr>
          <p:cNvPr id="37" name="Shape 35"/>
          <p:cNvSpPr/>
          <p:nvPr/>
        </p:nvSpPr>
        <p:spPr>
          <a:xfrm>
            <a:off x="6355080" y="4389120"/>
            <a:ext cx="5349240" cy="713232"/>
          </a:xfrm>
          <a:prstGeom prst="roundRect">
            <a:avLst>
              <a:gd name="adj" fmla="val 7692"/>
            </a:avLst>
          </a:prstGeom>
          <a:solidFill>
            <a:srgbClr val="FFFFFF"/>
          </a:solidFill>
          <a:ln w="12700">
            <a:solidFill>
              <a:srgbClr val="DCE4EC"/>
            </a:solidFill>
            <a:prstDash val="solid"/>
          </a:ln>
        </p:spPr>
      </p:sp>
      <p:sp>
        <p:nvSpPr>
          <p:cNvPr id="38" name="Shape 36"/>
          <p:cNvSpPr/>
          <p:nvPr/>
        </p:nvSpPr>
        <p:spPr>
          <a:xfrm>
            <a:off x="6464808" y="4517136"/>
            <a:ext cx="457200" cy="457200"/>
          </a:xfrm>
          <a:prstGeom prst="roundRect">
            <a:avLst>
              <a:gd name="adj" fmla="val 12000"/>
            </a:avLst>
          </a:prstGeom>
          <a:solidFill>
            <a:srgbClr val="F2A541"/>
          </a:solidFill>
          <a:ln/>
        </p:spPr>
      </p:sp>
      <p:sp>
        <p:nvSpPr>
          <p:cNvPr id="39" name="Text 37"/>
          <p:cNvSpPr/>
          <p:nvPr/>
        </p:nvSpPr>
        <p:spPr>
          <a:xfrm>
            <a:off x="6464808" y="451713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9</a:t>
            </a:r>
            <a:endParaRPr lang="en-US" sz="1600" dirty="0"/>
          </a:p>
        </p:txBody>
      </p:sp>
      <p:sp>
        <p:nvSpPr>
          <p:cNvPr id="40" name="Text 38"/>
          <p:cNvSpPr/>
          <p:nvPr/>
        </p:nvSpPr>
        <p:spPr>
          <a:xfrm>
            <a:off x="7068312" y="438912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2.9 Hoạt động học tập phù hợp với môn Tin học</a:t>
            </a:r>
            <a:endParaRPr lang="en-US" sz="1350" dirty="0"/>
          </a:p>
        </p:txBody>
      </p:sp>
      <p:sp>
        <p:nvSpPr>
          <p:cNvPr id="41" name="Shape 39"/>
          <p:cNvSpPr/>
          <p:nvPr/>
        </p:nvSpPr>
        <p:spPr>
          <a:xfrm>
            <a:off x="6355080" y="5257800"/>
            <a:ext cx="5349240" cy="713232"/>
          </a:xfrm>
          <a:prstGeom prst="roundRect">
            <a:avLst>
              <a:gd name="adj" fmla="val 7692"/>
            </a:avLst>
          </a:prstGeom>
          <a:solidFill>
            <a:srgbClr val="FFFFFF"/>
          </a:solidFill>
          <a:ln w="12700">
            <a:solidFill>
              <a:srgbClr val="DCE4EC"/>
            </a:solidFill>
            <a:prstDash val="solid"/>
          </a:ln>
        </p:spPr>
      </p:sp>
      <p:sp>
        <p:nvSpPr>
          <p:cNvPr id="42" name="Shape 40"/>
          <p:cNvSpPr/>
          <p:nvPr/>
        </p:nvSpPr>
        <p:spPr>
          <a:xfrm>
            <a:off x="6464808" y="5385816"/>
            <a:ext cx="457200" cy="457200"/>
          </a:xfrm>
          <a:prstGeom prst="roundRect">
            <a:avLst>
              <a:gd name="adj" fmla="val 12000"/>
            </a:avLst>
          </a:prstGeom>
          <a:solidFill>
            <a:srgbClr val="F2A541"/>
          </a:solidFill>
          <a:ln/>
        </p:spPr>
      </p:sp>
      <p:sp>
        <p:nvSpPr>
          <p:cNvPr id="43" name="Text 41"/>
          <p:cNvSpPr/>
          <p:nvPr/>
        </p:nvSpPr>
        <p:spPr>
          <a:xfrm>
            <a:off x="6464808" y="5385816"/>
            <a:ext cx="457200" cy="457200"/>
          </a:xfrm>
          <a:prstGeom prst="rect">
            <a:avLst/>
          </a:prstGeom>
          <a:noFill/>
          <a:ln/>
        </p:spPr>
        <p:txBody>
          <a:bodyPr wrap="square" rtlCol="0" anchor="ctr"/>
          <a:lstStyle/>
          <a:p>
            <a:pPr marL="0" indent="0" algn="ctr">
              <a:buNone/>
            </a:pPr>
            <a:r>
              <a:rPr lang="en-US" sz="1600" b="1" dirty="0">
                <a:solidFill>
                  <a:srgbClr val="0F2138"/>
                </a:solidFill>
                <a:latin typeface="Calibri" pitchFamily="34" charset="0"/>
                <a:ea typeface="Calibri" pitchFamily="34" charset="-122"/>
                <a:cs typeface="Calibri" pitchFamily="34" charset="-120"/>
              </a:rPr>
              <a:t>10</a:t>
            </a:r>
            <a:endParaRPr lang="en-US" sz="1600" dirty="0"/>
          </a:p>
        </p:txBody>
      </p:sp>
      <p:sp>
        <p:nvSpPr>
          <p:cNvPr id="44" name="Text 42"/>
          <p:cNvSpPr/>
          <p:nvPr/>
        </p:nvSpPr>
        <p:spPr>
          <a:xfrm>
            <a:off x="7068312" y="5257800"/>
            <a:ext cx="4526280" cy="713232"/>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2.10 Định hướng PPDH và kiểm tra đánh giá</a:t>
            </a:r>
            <a:endParaRPr lang="en-US" sz="1350" dirty="0"/>
          </a:p>
        </p:txBody>
      </p:sp>
      <p:sp>
        <p:nvSpPr>
          <p:cNvPr id="45" name="Text 43"/>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46" name="Text 4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2.1</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Bối cảnh ra đời &amp; định hướng đổi mới</a:t>
            </a:r>
            <a:endParaRPr lang="en-US" sz="3000" dirty="0"/>
          </a:p>
        </p:txBody>
      </p:sp>
      <p:sp>
        <p:nvSpPr>
          <p:cNvPr id="5" name="Shape 3"/>
          <p:cNvSpPr/>
          <p:nvPr/>
        </p:nvSpPr>
        <p:spPr>
          <a:xfrm>
            <a:off x="548640" y="1783080"/>
            <a:ext cx="6766560" cy="4297680"/>
          </a:xfrm>
          <a:prstGeom prst="roundRect">
            <a:avLst>
              <a:gd name="adj" fmla="val 1702"/>
            </a:avLst>
          </a:prstGeom>
          <a:solidFill>
            <a:srgbClr val="FFFFFF"/>
          </a:solidFill>
          <a:ln w="12700">
            <a:solidFill>
              <a:srgbClr val="DCE4EC"/>
            </a:solidFill>
            <a:prstDash val="solid"/>
          </a:ln>
        </p:spPr>
      </p:sp>
      <p:sp>
        <p:nvSpPr>
          <p:cNvPr id="6" name="Text 4"/>
          <p:cNvSpPr/>
          <p:nvPr/>
        </p:nvSpPr>
        <p:spPr>
          <a:xfrm>
            <a:off x="868680" y="2011680"/>
            <a:ext cx="6126480" cy="3840480"/>
          </a:xfrm>
          <a:prstGeom prst="rect">
            <a:avLst/>
          </a:prstGeom>
          <a:noFill/>
          <a:ln/>
        </p:spPr>
        <p:txBody>
          <a:bodyPr wrap="square" rtlCol="0" anchor="ctr"/>
          <a:lstStyle/>
          <a:p>
            <a:pPr marL="0" indent="0" algn="l">
              <a:lnSpc>
                <a:spcPct val="115000"/>
              </a:lnSpc>
              <a:buNone/>
            </a:pPr>
            <a:r>
              <a:rPr lang="en-US" sz="1400" b="1" dirty="0">
                <a:solidFill>
                  <a:srgbClr val="1B3A5C"/>
                </a:solidFill>
                <a:latin typeface="Calibri" pitchFamily="34" charset="0"/>
                <a:ea typeface="Calibri" pitchFamily="34" charset="-122"/>
                <a:cs typeface="Calibri" pitchFamily="34" charset="-120"/>
              </a:rPr>
              <a:t>Nghị quyết 29-NQ/TW (2013): </a:t>
            </a:r>
            <a:r>
              <a:rPr lang="en-US" sz="1400" dirty="0">
                <a:solidFill>
                  <a:srgbClr val="1B2430"/>
                </a:solidFill>
                <a:latin typeface="Calibri" pitchFamily="34" charset="0"/>
                <a:ea typeface="Calibri" pitchFamily="34" charset="-122"/>
                <a:cs typeface="Calibri" pitchFamily="34" charset="-120"/>
              </a:rPr>
              <a:t>chuyển từ giáo dục truyền thụ kiến thức một chiều sang giáo dục phát triển phẩm chất và năng lực người học.
</a:t>
            </a:r>
            <a:r>
              <a:rPr lang="en-US" sz="1400" b="1" dirty="0">
                <a:solidFill>
                  <a:srgbClr val="1B3A5C"/>
                </a:solidFill>
                <a:latin typeface="Calibri" pitchFamily="34" charset="0"/>
                <a:ea typeface="Calibri" pitchFamily="34" charset="-122"/>
                <a:cs typeface="Calibri" pitchFamily="34" charset="-120"/>
              </a:rPr>
              <a:t>Không chỉ là cập nhật nội dung</a:t>
            </a:r>
            <a:r>
              <a:rPr lang="en-US" sz="1400" dirty="0">
                <a:solidFill>
                  <a:srgbClr val="1B2430"/>
                </a:solidFill>
                <a:latin typeface="Calibri" pitchFamily="34" charset="0"/>
                <a:ea typeface="Calibri" pitchFamily="34" charset="-122"/>
                <a:cs typeface="Calibri" pitchFamily="34" charset="-120"/>
              </a:rPr>
              <a:t> mà là thay đổi triết lý giáo dục — dạy “biết cái gì”, “làm được gì” và “ứng xử như thế nào”.
</a:t>
            </a:r>
            <a:r>
              <a:rPr lang="en-US" sz="1400" b="1" dirty="0">
                <a:solidFill>
                  <a:srgbClr val="1B3A5C"/>
                </a:solidFill>
                <a:latin typeface="Calibri" pitchFamily="34" charset="0"/>
                <a:ea typeface="Calibri" pitchFamily="34" charset="-122"/>
                <a:cs typeface="Calibri" pitchFamily="34" charset="-120"/>
              </a:rPr>
              <a:t>Bối cảnh CMCN 4.0 &amp; chuyển đổi số quốc gia: </a:t>
            </a:r>
            <a:r>
              <a:rPr lang="en-US" sz="1400" dirty="0">
                <a:solidFill>
                  <a:srgbClr val="1B2430"/>
                </a:solidFill>
                <a:latin typeface="Calibri" pitchFamily="34" charset="0"/>
                <a:ea typeface="Calibri" pitchFamily="34" charset="-122"/>
                <a:cs typeface="Calibri" pitchFamily="34" charset="-120"/>
              </a:rPr>
              <a:t>đặt ra yêu cầu đào tạo công dân số có năng lực thích ứng, sáng tạo và làm chủ công nghệ — nền tảng cho sự thay đổi vị thế môn Tin học.</a:t>
            </a:r>
            <a:endParaRPr lang="en-US" sz="1400" dirty="0"/>
          </a:p>
        </p:txBody>
      </p:sp>
      <p:sp>
        <p:nvSpPr>
          <p:cNvPr id="7" name="Shape 5"/>
          <p:cNvSpPr/>
          <p:nvPr/>
        </p:nvSpPr>
        <p:spPr>
          <a:xfrm>
            <a:off x="7543800" y="1783080"/>
            <a:ext cx="4069080" cy="2011680"/>
          </a:xfrm>
          <a:prstGeom prst="roundRect">
            <a:avLst>
              <a:gd name="adj" fmla="val 3636"/>
            </a:avLst>
          </a:prstGeom>
          <a:solidFill>
            <a:srgbClr val="1B3A5C"/>
          </a:solidFill>
          <a:ln/>
        </p:spPr>
      </p:sp>
      <p:sp>
        <p:nvSpPr>
          <p:cNvPr id="8" name="Text 6"/>
          <p:cNvSpPr/>
          <p:nvPr/>
        </p:nvSpPr>
        <p:spPr>
          <a:xfrm>
            <a:off x="7543800" y="1874520"/>
            <a:ext cx="4069080" cy="1005840"/>
          </a:xfrm>
          <a:prstGeom prst="rect">
            <a:avLst/>
          </a:prstGeom>
          <a:noFill/>
          <a:ln/>
        </p:spPr>
        <p:txBody>
          <a:bodyPr wrap="square" rtlCol="0" anchor="ctr"/>
          <a:lstStyle/>
          <a:p>
            <a:pPr marL="0" indent="0" algn="ctr">
              <a:buNone/>
            </a:pPr>
            <a:r>
              <a:rPr lang="en-US" sz="5400" b="1" dirty="0">
                <a:solidFill>
                  <a:srgbClr val="F2A541"/>
                </a:solidFill>
                <a:latin typeface="Calibri" pitchFamily="34" charset="0"/>
                <a:ea typeface="Calibri" pitchFamily="34" charset="-122"/>
                <a:cs typeface="Calibri" pitchFamily="34" charset="-120"/>
              </a:rPr>
              <a:t>5</a:t>
            </a:r>
            <a:endParaRPr lang="en-US" sz="5400" dirty="0"/>
          </a:p>
        </p:txBody>
      </p:sp>
      <p:sp>
        <p:nvSpPr>
          <p:cNvPr id="9" name="Text 7"/>
          <p:cNvSpPr/>
          <p:nvPr/>
        </p:nvSpPr>
        <p:spPr>
          <a:xfrm>
            <a:off x="7818120" y="2880360"/>
            <a:ext cx="3520440" cy="82296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phẩm chất chủ yếu</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yêu nước · nhân ái · chăm chỉ · trung thực · trách nhiệm</a:t>
            </a:r>
            <a:endParaRPr lang="en-US" sz="1150" dirty="0"/>
          </a:p>
        </p:txBody>
      </p:sp>
      <p:sp>
        <p:nvSpPr>
          <p:cNvPr id="10" name="Shape 8"/>
          <p:cNvSpPr/>
          <p:nvPr/>
        </p:nvSpPr>
        <p:spPr>
          <a:xfrm>
            <a:off x="7543800" y="3977640"/>
            <a:ext cx="4069080" cy="2103120"/>
          </a:xfrm>
          <a:prstGeom prst="roundRect">
            <a:avLst>
              <a:gd name="adj" fmla="val 3478"/>
            </a:avLst>
          </a:prstGeom>
          <a:solidFill>
            <a:srgbClr val="3E92CC"/>
          </a:solidFill>
          <a:ln/>
        </p:spPr>
      </p:sp>
      <p:sp>
        <p:nvSpPr>
          <p:cNvPr id="11" name="Text 9"/>
          <p:cNvSpPr/>
          <p:nvPr/>
        </p:nvSpPr>
        <p:spPr>
          <a:xfrm>
            <a:off x="7543800" y="4041648"/>
            <a:ext cx="4069080" cy="1005840"/>
          </a:xfrm>
          <a:prstGeom prst="rect">
            <a:avLst/>
          </a:prstGeom>
          <a:noFill/>
          <a:ln/>
        </p:spPr>
        <p:txBody>
          <a:bodyPr wrap="square" rtlCol="0" anchor="ctr"/>
          <a:lstStyle/>
          <a:p>
            <a:pPr marL="0" indent="0" algn="ctr">
              <a:buNone/>
            </a:pPr>
            <a:r>
              <a:rPr lang="en-US" sz="5400" b="1" dirty="0">
                <a:solidFill>
                  <a:srgbClr val="0F2138"/>
                </a:solidFill>
                <a:latin typeface="Calibri" pitchFamily="34" charset="0"/>
                <a:ea typeface="Calibri" pitchFamily="34" charset="-122"/>
                <a:cs typeface="Calibri" pitchFamily="34" charset="-120"/>
              </a:rPr>
              <a:t>10</a:t>
            </a:r>
            <a:endParaRPr lang="en-US" sz="5400" dirty="0"/>
          </a:p>
        </p:txBody>
      </p:sp>
      <p:sp>
        <p:nvSpPr>
          <p:cNvPr id="12" name="Text 10"/>
          <p:cNvSpPr/>
          <p:nvPr/>
        </p:nvSpPr>
        <p:spPr>
          <a:xfrm>
            <a:off x="7818120" y="5074920"/>
            <a:ext cx="3520440" cy="914400"/>
          </a:xfrm>
          <a:prstGeom prst="rect">
            <a:avLst/>
          </a:prstGeom>
          <a:noFill/>
          <a:ln/>
        </p:spPr>
        <p:txBody>
          <a:bodyPr wrap="square" rtlCol="0" anchor="ctr"/>
          <a:lstStyle/>
          <a:p>
            <a:pPr marL="0" indent="0" algn="ctr">
              <a:buNone/>
            </a:pPr>
            <a:r>
              <a:rPr lang="en-US" sz="1150" dirty="0">
                <a:solidFill>
                  <a:srgbClr val="0F2138"/>
                </a:solidFill>
                <a:latin typeface="Calibri" pitchFamily="34" charset="0"/>
                <a:ea typeface="Calibri" pitchFamily="34" charset="-122"/>
                <a:cs typeface="Calibri" pitchFamily="34" charset="-120"/>
              </a:rPr>
              <a:t>năng lực cốt lõi</a:t>
            </a:r>
            <a:endParaRPr lang="en-US" sz="1150" dirty="0"/>
          </a:p>
          <a:p>
            <a:pPr marL="0" indent="0" algn="ctr">
              <a:buNone/>
            </a:pPr>
            <a:r>
              <a:rPr lang="en-US" sz="1150" dirty="0">
                <a:solidFill>
                  <a:srgbClr val="0F2138"/>
                </a:solidFill>
                <a:latin typeface="Calibri" pitchFamily="34" charset="0"/>
                <a:ea typeface="Calibri" pitchFamily="34" charset="-122"/>
                <a:cs typeface="Calibri" pitchFamily="34" charset="-120"/>
              </a:rPr>
              <a:t>3 năng lực chung + 7 năng lực đặc thù (Tin học là 1 trong số đó)</a:t>
            </a:r>
            <a:endParaRPr lang="en-US" sz="1150" dirty="0"/>
          </a:p>
        </p:txBody>
      </p:sp>
      <p:sp>
        <p:nvSpPr>
          <p:cNvPr id="13" name="Text 11"/>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14"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2.1</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Vị trí, vai trò &amp; năng lực Tin học</a:t>
            </a:r>
            <a:endParaRPr lang="en-US" sz="3000" dirty="0"/>
          </a:p>
        </p:txBody>
      </p:sp>
      <p:sp>
        <p:nvSpPr>
          <p:cNvPr id="5" name="Shape 3"/>
          <p:cNvSpPr/>
          <p:nvPr/>
        </p:nvSpPr>
        <p:spPr>
          <a:xfrm>
            <a:off x="548640" y="1737360"/>
            <a:ext cx="11064240" cy="685800"/>
          </a:xfrm>
          <a:prstGeom prst="roundRect">
            <a:avLst>
              <a:gd name="adj" fmla="val 10667"/>
            </a:avLst>
          </a:prstGeom>
          <a:solidFill>
            <a:srgbClr val="F2A541"/>
          </a:solidFill>
          <a:ln/>
        </p:spPr>
      </p:sp>
      <p:sp>
        <p:nvSpPr>
          <p:cNvPr id="6" name="Text 4"/>
          <p:cNvSpPr/>
          <p:nvPr/>
        </p:nvSpPr>
        <p:spPr>
          <a:xfrm>
            <a:off x="777240" y="1737360"/>
            <a:ext cx="10607040" cy="685800"/>
          </a:xfrm>
          <a:prstGeom prst="rect">
            <a:avLst/>
          </a:prstGeom>
          <a:noFill/>
          <a:ln/>
        </p:spPr>
        <p:txBody>
          <a:bodyPr wrap="square" rtlCol="0" anchor="ctr"/>
          <a:lstStyle/>
          <a:p>
            <a:pPr marL="0" indent="0">
              <a:buNone/>
            </a:pPr>
            <a:r>
              <a:rPr lang="en-US" sz="1400" b="1" dirty="0">
                <a:solidFill>
                  <a:srgbClr val="0F2138"/>
                </a:solidFill>
                <a:latin typeface="Calibri" pitchFamily="34" charset="0"/>
                <a:ea typeface="Calibri" pitchFamily="34" charset="-122"/>
                <a:cs typeface="Calibri" pitchFamily="34" charset="-120"/>
              </a:rPr>
              <a:t>Môn học BẮT BUỘC từ lớp 3 đến lớp 12 — bước tiến so với chương trình 2006 (chỉ từ lớp 6, không bắt buộc)</a:t>
            </a:r>
            <a:endParaRPr lang="en-US" sz="1400" dirty="0"/>
          </a:p>
        </p:txBody>
      </p:sp>
      <p:sp>
        <p:nvSpPr>
          <p:cNvPr id="7" name="Shape 5"/>
          <p:cNvSpPr/>
          <p:nvPr/>
        </p:nvSpPr>
        <p:spPr>
          <a:xfrm>
            <a:off x="548640" y="2606040"/>
            <a:ext cx="2139696" cy="2880360"/>
          </a:xfrm>
          <a:prstGeom prst="roundRect">
            <a:avLst>
              <a:gd name="adj" fmla="val 3419"/>
            </a:avLst>
          </a:prstGeom>
          <a:solidFill>
            <a:srgbClr val="FFFFFF"/>
          </a:solidFill>
          <a:ln w="12700">
            <a:solidFill>
              <a:srgbClr val="DCE4EC"/>
            </a:solidFill>
            <a:prstDash val="solid"/>
          </a:ln>
        </p:spPr>
      </p:sp>
      <p:sp>
        <p:nvSpPr>
          <p:cNvPr id="8" name="Shape 6"/>
          <p:cNvSpPr/>
          <p:nvPr/>
        </p:nvSpPr>
        <p:spPr>
          <a:xfrm>
            <a:off x="1252728" y="2788920"/>
            <a:ext cx="731520" cy="457200"/>
          </a:xfrm>
          <a:prstGeom prst="roundRect">
            <a:avLst>
              <a:gd name="adj" fmla="val 12000"/>
            </a:avLst>
          </a:prstGeom>
          <a:solidFill>
            <a:srgbClr val="1B3A5C"/>
          </a:solidFill>
          <a:ln/>
        </p:spPr>
      </p:sp>
      <p:sp>
        <p:nvSpPr>
          <p:cNvPr id="9" name="Text 7"/>
          <p:cNvSpPr/>
          <p:nvPr/>
        </p:nvSpPr>
        <p:spPr>
          <a:xfrm>
            <a:off x="1252728" y="2788920"/>
            <a:ext cx="7315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NLa</a:t>
            </a:r>
            <a:endParaRPr lang="en-US" sz="1400" dirty="0"/>
          </a:p>
        </p:txBody>
      </p:sp>
      <p:sp>
        <p:nvSpPr>
          <p:cNvPr id="10" name="Text 8"/>
          <p:cNvSpPr/>
          <p:nvPr/>
        </p:nvSpPr>
        <p:spPr>
          <a:xfrm>
            <a:off x="658368" y="3364992"/>
            <a:ext cx="1920240" cy="1051560"/>
          </a:xfrm>
          <a:prstGeom prst="rect">
            <a:avLst/>
          </a:prstGeom>
          <a:noFill/>
          <a:ln/>
        </p:spPr>
        <p:txBody>
          <a:bodyPr wrap="square" rtlCol="0" anchor="t"/>
          <a:lstStyle/>
          <a:p>
            <a:pPr marL="0" indent="0" algn="ctr">
              <a:buNone/>
            </a:pPr>
            <a:r>
              <a:rPr lang="en-US" sz="1150" b="1" dirty="0">
                <a:solidFill>
                  <a:srgbClr val="1B2430"/>
                </a:solidFill>
                <a:latin typeface="Calibri" pitchFamily="34" charset="0"/>
                <a:ea typeface="Calibri" pitchFamily="34" charset="-122"/>
                <a:cs typeface="Calibri" pitchFamily="34" charset="-120"/>
              </a:rPr>
              <a:t>Sử dụng và quản lý các phương tiện ICT</a:t>
            </a:r>
            <a:endParaRPr lang="en-US" sz="1150" dirty="0"/>
          </a:p>
        </p:txBody>
      </p:sp>
      <p:sp>
        <p:nvSpPr>
          <p:cNvPr id="11" name="Text 9"/>
          <p:cNvSpPr/>
          <p:nvPr/>
        </p:nvSpPr>
        <p:spPr>
          <a:xfrm>
            <a:off x="658368" y="4434840"/>
            <a:ext cx="1920240" cy="960120"/>
          </a:xfrm>
          <a:prstGeom prst="rect">
            <a:avLst/>
          </a:prstGeom>
          <a:noFill/>
          <a:ln/>
        </p:spPr>
        <p:txBody>
          <a:bodyPr wrap="square" rtlCol="0" anchor="t"/>
          <a:lstStyle/>
          <a:p>
            <a:pPr marL="0" indent="0" algn="ctr">
              <a:buNone/>
            </a:pPr>
            <a:r>
              <a:rPr lang="en-US" sz="1050" i="1" dirty="0">
                <a:solidFill>
                  <a:srgbClr val="5B6B79"/>
                </a:solidFill>
                <a:latin typeface="Calibri" pitchFamily="34" charset="0"/>
                <a:ea typeface="Calibri" pitchFamily="34" charset="-122"/>
                <a:cs typeface="Calibri" pitchFamily="34" charset="-120"/>
              </a:rPr>
              <a:t>Thao tác thành thạo với thiết bị, phần mềm</a:t>
            </a:r>
            <a:endParaRPr lang="en-US" sz="1050" dirty="0"/>
          </a:p>
        </p:txBody>
      </p:sp>
      <p:sp>
        <p:nvSpPr>
          <p:cNvPr id="12" name="Shape 10"/>
          <p:cNvSpPr/>
          <p:nvPr/>
        </p:nvSpPr>
        <p:spPr>
          <a:xfrm>
            <a:off x="2816352" y="2606040"/>
            <a:ext cx="2139696" cy="2880360"/>
          </a:xfrm>
          <a:prstGeom prst="roundRect">
            <a:avLst>
              <a:gd name="adj" fmla="val 3419"/>
            </a:avLst>
          </a:prstGeom>
          <a:solidFill>
            <a:srgbClr val="FFFFFF"/>
          </a:solidFill>
          <a:ln w="12700">
            <a:solidFill>
              <a:srgbClr val="DCE4EC"/>
            </a:solidFill>
            <a:prstDash val="solid"/>
          </a:ln>
        </p:spPr>
      </p:sp>
      <p:sp>
        <p:nvSpPr>
          <p:cNvPr id="13" name="Shape 11"/>
          <p:cNvSpPr/>
          <p:nvPr/>
        </p:nvSpPr>
        <p:spPr>
          <a:xfrm>
            <a:off x="3520440" y="2788920"/>
            <a:ext cx="731520" cy="457200"/>
          </a:xfrm>
          <a:prstGeom prst="roundRect">
            <a:avLst>
              <a:gd name="adj" fmla="val 12000"/>
            </a:avLst>
          </a:prstGeom>
          <a:solidFill>
            <a:srgbClr val="1B3A5C"/>
          </a:solidFill>
          <a:ln/>
        </p:spPr>
      </p:sp>
      <p:sp>
        <p:nvSpPr>
          <p:cNvPr id="14" name="Text 12"/>
          <p:cNvSpPr/>
          <p:nvPr/>
        </p:nvSpPr>
        <p:spPr>
          <a:xfrm>
            <a:off x="3520440" y="2788920"/>
            <a:ext cx="7315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NLb</a:t>
            </a:r>
            <a:endParaRPr lang="en-US" sz="1400" dirty="0"/>
          </a:p>
        </p:txBody>
      </p:sp>
      <p:sp>
        <p:nvSpPr>
          <p:cNvPr id="15" name="Text 13"/>
          <p:cNvSpPr/>
          <p:nvPr/>
        </p:nvSpPr>
        <p:spPr>
          <a:xfrm>
            <a:off x="2926080" y="3364992"/>
            <a:ext cx="1920240" cy="1051560"/>
          </a:xfrm>
          <a:prstGeom prst="rect">
            <a:avLst/>
          </a:prstGeom>
          <a:noFill/>
          <a:ln/>
        </p:spPr>
        <p:txBody>
          <a:bodyPr wrap="square" rtlCol="0" anchor="t"/>
          <a:lstStyle/>
          <a:p>
            <a:pPr marL="0" indent="0" algn="ctr">
              <a:buNone/>
            </a:pPr>
            <a:r>
              <a:rPr lang="en-US" sz="1150" b="1" dirty="0">
                <a:solidFill>
                  <a:srgbClr val="1B2430"/>
                </a:solidFill>
                <a:latin typeface="Calibri" pitchFamily="34" charset="0"/>
                <a:ea typeface="Calibri" pitchFamily="34" charset="-122"/>
                <a:cs typeface="Calibri" pitchFamily="34" charset="-120"/>
              </a:rPr>
              <a:t>Ứng xử phù hợp trong môi trường số</a:t>
            </a:r>
            <a:endParaRPr lang="en-US" sz="1150" dirty="0"/>
          </a:p>
        </p:txBody>
      </p:sp>
      <p:sp>
        <p:nvSpPr>
          <p:cNvPr id="16" name="Text 14"/>
          <p:cNvSpPr/>
          <p:nvPr/>
        </p:nvSpPr>
        <p:spPr>
          <a:xfrm>
            <a:off x="2926080" y="4434840"/>
            <a:ext cx="1920240" cy="960120"/>
          </a:xfrm>
          <a:prstGeom prst="rect">
            <a:avLst/>
          </a:prstGeom>
          <a:noFill/>
          <a:ln/>
        </p:spPr>
        <p:txBody>
          <a:bodyPr wrap="square" rtlCol="0" anchor="t"/>
          <a:lstStyle/>
          <a:p>
            <a:pPr marL="0" indent="0" algn="ctr">
              <a:buNone/>
            </a:pPr>
            <a:r>
              <a:rPr lang="en-US" sz="1050" i="1" dirty="0">
                <a:solidFill>
                  <a:srgbClr val="5B6B79"/>
                </a:solidFill>
                <a:latin typeface="Calibri" pitchFamily="34" charset="0"/>
                <a:ea typeface="Calibri" pitchFamily="34" charset="-122"/>
                <a:cs typeface="Calibri" pitchFamily="34" charset="-120"/>
              </a:rPr>
              <a:t>Đạo đức số, bảo vệ thông tin cá nhân</a:t>
            </a:r>
            <a:endParaRPr lang="en-US" sz="1050" dirty="0"/>
          </a:p>
        </p:txBody>
      </p:sp>
      <p:sp>
        <p:nvSpPr>
          <p:cNvPr id="17" name="Shape 15"/>
          <p:cNvSpPr/>
          <p:nvPr/>
        </p:nvSpPr>
        <p:spPr>
          <a:xfrm>
            <a:off x="5084064" y="2606040"/>
            <a:ext cx="2139696" cy="2880360"/>
          </a:xfrm>
          <a:prstGeom prst="roundRect">
            <a:avLst>
              <a:gd name="adj" fmla="val 3419"/>
            </a:avLst>
          </a:prstGeom>
          <a:solidFill>
            <a:srgbClr val="FFFFFF"/>
          </a:solidFill>
          <a:ln w="12700">
            <a:solidFill>
              <a:srgbClr val="DCE4EC"/>
            </a:solidFill>
            <a:prstDash val="solid"/>
          </a:ln>
        </p:spPr>
      </p:sp>
      <p:sp>
        <p:nvSpPr>
          <p:cNvPr id="18" name="Shape 16"/>
          <p:cNvSpPr/>
          <p:nvPr/>
        </p:nvSpPr>
        <p:spPr>
          <a:xfrm>
            <a:off x="5788152" y="2788920"/>
            <a:ext cx="731520" cy="457200"/>
          </a:xfrm>
          <a:prstGeom prst="roundRect">
            <a:avLst>
              <a:gd name="adj" fmla="val 12000"/>
            </a:avLst>
          </a:prstGeom>
          <a:solidFill>
            <a:srgbClr val="1B3A5C"/>
          </a:solidFill>
          <a:ln/>
        </p:spPr>
      </p:sp>
      <p:sp>
        <p:nvSpPr>
          <p:cNvPr id="19" name="Text 17"/>
          <p:cNvSpPr/>
          <p:nvPr/>
        </p:nvSpPr>
        <p:spPr>
          <a:xfrm>
            <a:off x="5788152" y="2788920"/>
            <a:ext cx="7315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NLc</a:t>
            </a:r>
            <a:endParaRPr lang="en-US" sz="1400" dirty="0"/>
          </a:p>
        </p:txBody>
      </p:sp>
      <p:sp>
        <p:nvSpPr>
          <p:cNvPr id="20" name="Text 18"/>
          <p:cNvSpPr/>
          <p:nvPr/>
        </p:nvSpPr>
        <p:spPr>
          <a:xfrm>
            <a:off x="5193792" y="3364992"/>
            <a:ext cx="1920240" cy="1051560"/>
          </a:xfrm>
          <a:prstGeom prst="rect">
            <a:avLst/>
          </a:prstGeom>
          <a:noFill/>
          <a:ln/>
        </p:spPr>
        <p:txBody>
          <a:bodyPr wrap="square" rtlCol="0" anchor="t"/>
          <a:lstStyle/>
          <a:p>
            <a:pPr marL="0" indent="0" algn="ctr">
              <a:buNone/>
            </a:pPr>
            <a:r>
              <a:rPr lang="en-US" sz="1150" b="1" dirty="0">
                <a:solidFill>
                  <a:srgbClr val="1B2430"/>
                </a:solidFill>
                <a:latin typeface="Calibri" pitchFamily="34" charset="0"/>
                <a:ea typeface="Calibri" pitchFamily="34" charset="-122"/>
                <a:cs typeface="Calibri" pitchFamily="34" charset="-120"/>
              </a:rPr>
              <a:t>Giải quyết vấn đề với sự hỗ trợ của ICT</a:t>
            </a:r>
            <a:endParaRPr lang="en-US" sz="1150" dirty="0"/>
          </a:p>
        </p:txBody>
      </p:sp>
      <p:sp>
        <p:nvSpPr>
          <p:cNvPr id="21" name="Text 19"/>
          <p:cNvSpPr/>
          <p:nvPr/>
        </p:nvSpPr>
        <p:spPr>
          <a:xfrm>
            <a:off x="5193792" y="4434840"/>
            <a:ext cx="1920240" cy="960120"/>
          </a:xfrm>
          <a:prstGeom prst="rect">
            <a:avLst/>
          </a:prstGeom>
          <a:noFill/>
          <a:ln/>
        </p:spPr>
        <p:txBody>
          <a:bodyPr wrap="square" rtlCol="0" anchor="t"/>
          <a:lstStyle/>
          <a:p>
            <a:pPr marL="0" indent="0" algn="ctr">
              <a:buNone/>
            </a:pPr>
            <a:r>
              <a:rPr lang="en-US" sz="1050" i="1" dirty="0">
                <a:solidFill>
                  <a:srgbClr val="5B6B79"/>
                </a:solidFill>
                <a:latin typeface="Calibri" pitchFamily="34" charset="0"/>
                <a:ea typeface="Calibri" pitchFamily="34" charset="-122"/>
                <a:cs typeface="Calibri" pitchFamily="34" charset="-120"/>
              </a:rPr>
              <a:t>Lập trình, tư duy máy tính</a:t>
            </a:r>
            <a:endParaRPr lang="en-US" sz="1050" dirty="0"/>
          </a:p>
        </p:txBody>
      </p:sp>
      <p:sp>
        <p:nvSpPr>
          <p:cNvPr id="22" name="Shape 20"/>
          <p:cNvSpPr/>
          <p:nvPr/>
        </p:nvSpPr>
        <p:spPr>
          <a:xfrm>
            <a:off x="7351776" y="2606040"/>
            <a:ext cx="2139696" cy="2880360"/>
          </a:xfrm>
          <a:prstGeom prst="roundRect">
            <a:avLst>
              <a:gd name="adj" fmla="val 3419"/>
            </a:avLst>
          </a:prstGeom>
          <a:solidFill>
            <a:srgbClr val="FFFFFF"/>
          </a:solidFill>
          <a:ln w="12700">
            <a:solidFill>
              <a:srgbClr val="DCE4EC"/>
            </a:solidFill>
            <a:prstDash val="solid"/>
          </a:ln>
        </p:spPr>
      </p:sp>
      <p:sp>
        <p:nvSpPr>
          <p:cNvPr id="23" name="Shape 21"/>
          <p:cNvSpPr/>
          <p:nvPr/>
        </p:nvSpPr>
        <p:spPr>
          <a:xfrm>
            <a:off x="8055864" y="2788920"/>
            <a:ext cx="731520" cy="457200"/>
          </a:xfrm>
          <a:prstGeom prst="roundRect">
            <a:avLst>
              <a:gd name="adj" fmla="val 12000"/>
            </a:avLst>
          </a:prstGeom>
          <a:solidFill>
            <a:srgbClr val="1B3A5C"/>
          </a:solidFill>
          <a:ln/>
        </p:spPr>
      </p:sp>
      <p:sp>
        <p:nvSpPr>
          <p:cNvPr id="24" name="Text 22"/>
          <p:cNvSpPr/>
          <p:nvPr/>
        </p:nvSpPr>
        <p:spPr>
          <a:xfrm>
            <a:off x="8055864" y="2788920"/>
            <a:ext cx="7315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NLd</a:t>
            </a:r>
            <a:endParaRPr lang="en-US" sz="1400" dirty="0"/>
          </a:p>
        </p:txBody>
      </p:sp>
      <p:sp>
        <p:nvSpPr>
          <p:cNvPr id="25" name="Text 23"/>
          <p:cNvSpPr/>
          <p:nvPr/>
        </p:nvSpPr>
        <p:spPr>
          <a:xfrm>
            <a:off x="7461504" y="3364992"/>
            <a:ext cx="1920240" cy="1051560"/>
          </a:xfrm>
          <a:prstGeom prst="rect">
            <a:avLst/>
          </a:prstGeom>
          <a:noFill/>
          <a:ln/>
        </p:spPr>
        <p:txBody>
          <a:bodyPr wrap="square" rtlCol="0" anchor="t"/>
          <a:lstStyle/>
          <a:p>
            <a:pPr marL="0" indent="0" algn="ctr">
              <a:buNone/>
            </a:pPr>
            <a:r>
              <a:rPr lang="en-US" sz="1150" b="1" dirty="0">
                <a:solidFill>
                  <a:srgbClr val="1B2430"/>
                </a:solidFill>
                <a:latin typeface="Calibri" pitchFamily="34" charset="0"/>
                <a:ea typeface="Calibri" pitchFamily="34" charset="-122"/>
                <a:cs typeface="Calibri" pitchFamily="34" charset="-120"/>
              </a:rPr>
              <a:t>Ứng dụng ICT trong học và tự học</a:t>
            </a:r>
            <a:endParaRPr lang="en-US" sz="1150" dirty="0"/>
          </a:p>
        </p:txBody>
      </p:sp>
      <p:sp>
        <p:nvSpPr>
          <p:cNvPr id="26" name="Text 24"/>
          <p:cNvSpPr/>
          <p:nvPr/>
        </p:nvSpPr>
        <p:spPr>
          <a:xfrm>
            <a:off x="7461504" y="4434840"/>
            <a:ext cx="1920240" cy="960120"/>
          </a:xfrm>
          <a:prstGeom prst="rect">
            <a:avLst/>
          </a:prstGeom>
          <a:noFill/>
          <a:ln/>
        </p:spPr>
        <p:txBody>
          <a:bodyPr wrap="square" rtlCol="0" anchor="t"/>
          <a:lstStyle/>
          <a:p>
            <a:pPr marL="0" indent="0" algn="ctr">
              <a:buNone/>
            </a:pPr>
            <a:r>
              <a:rPr lang="en-US" sz="1050" i="1" dirty="0">
                <a:solidFill>
                  <a:srgbClr val="5B6B79"/>
                </a:solidFill>
                <a:latin typeface="Calibri" pitchFamily="34" charset="0"/>
                <a:ea typeface="Calibri" pitchFamily="34" charset="-122"/>
                <a:cs typeface="Calibri" pitchFamily="34" charset="-120"/>
              </a:rPr>
              <a:t>Khai thác công cụ số để học tập</a:t>
            </a:r>
            <a:endParaRPr lang="en-US" sz="1050" dirty="0"/>
          </a:p>
        </p:txBody>
      </p:sp>
      <p:sp>
        <p:nvSpPr>
          <p:cNvPr id="27" name="Shape 25"/>
          <p:cNvSpPr/>
          <p:nvPr/>
        </p:nvSpPr>
        <p:spPr>
          <a:xfrm>
            <a:off x="9619488" y="2606040"/>
            <a:ext cx="2139696" cy="2880360"/>
          </a:xfrm>
          <a:prstGeom prst="roundRect">
            <a:avLst>
              <a:gd name="adj" fmla="val 3419"/>
            </a:avLst>
          </a:prstGeom>
          <a:solidFill>
            <a:srgbClr val="FFFFFF"/>
          </a:solidFill>
          <a:ln w="12700">
            <a:solidFill>
              <a:srgbClr val="DCE4EC"/>
            </a:solidFill>
            <a:prstDash val="solid"/>
          </a:ln>
        </p:spPr>
      </p:sp>
      <p:sp>
        <p:nvSpPr>
          <p:cNvPr id="28" name="Shape 26"/>
          <p:cNvSpPr/>
          <p:nvPr/>
        </p:nvSpPr>
        <p:spPr>
          <a:xfrm>
            <a:off x="10323576" y="2788920"/>
            <a:ext cx="731520" cy="457200"/>
          </a:xfrm>
          <a:prstGeom prst="roundRect">
            <a:avLst>
              <a:gd name="adj" fmla="val 12000"/>
            </a:avLst>
          </a:prstGeom>
          <a:solidFill>
            <a:srgbClr val="1B3A5C"/>
          </a:solidFill>
          <a:ln/>
        </p:spPr>
      </p:sp>
      <p:sp>
        <p:nvSpPr>
          <p:cNvPr id="29" name="Text 27"/>
          <p:cNvSpPr/>
          <p:nvPr/>
        </p:nvSpPr>
        <p:spPr>
          <a:xfrm>
            <a:off x="10323576" y="2788920"/>
            <a:ext cx="7315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NLe</a:t>
            </a:r>
            <a:endParaRPr lang="en-US" sz="1400" dirty="0"/>
          </a:p>
        </p:txBody>
      </p:sp>
      <p:sp>
        <p:nvSpPr>
          <p:cNvPr id="30" name="Text 28"/>
          <p:cNvSpPr/>
          <p:nvPr/>
        </p:nvSpPr>
        <p:spPr>
          <a:xfrm>
            <a:off x="9729216" y="3364992"/>
            <a:ext cx="1920240" cy="1051560"/>
          </a:xfrm>
          <a:prstGeom prst="rect">
            <a:avLst/>
          </a:prstGeom>
          <a:noFill/>
          <a:ln/>
        </p:spPr>
        <p:txBody>
          <a:bodyPr wrap="square" rtlCol="0" anchor="t"/>
          <a:lstStyle/>
          <a:p>
            <a:pPr marL="0" indent="0" algn="ctr">
              <a:buNone/>
            </a:pPr>
            <a:r>
              <a:rPr lang="en-US" sz="1150" b="1" dirty="0">
                <a:solidFill>
                  <a:srgbClr val="1B2430"/>
                </a:solidFill>
                <a:latin typeface="Calibri" pitchFamily="34" charset="0"/>
                <a:ea typeface="Calibri" pitchFamily="34" charset="-122"/>
                <a:cs typeface="Calibri" pitchFamily="34" charset="-120"/>
              </a:rPr>
              <a:t>Hợp tác trong môi trường số</a:t>
            </a:r>
            <a:endParaRPr lang="en-US" sz="1150" dirty="0"/>
          </a:p>
        </p:txBody>
      </p:sp>
      <p:sp>
        <p:nvSpPr>
          <p:cNvPr id="31" name="Text 29"/>
          <p:cNvSpPr/>
          <p:nvPr/>
        </p:nvSpPr>
        <p:spPr>
          <a:xfrm>
            <a:off x="9729216" y="4434840"/>
            <a:ext cx="1920240" cy="960120"/>
          </a:xfrm>
          <a:prstGeom prst="rect">
            <a:avLst/>
          </a:prstGeom>
          <a:noFill/>
          <a:ln/>
        </p:spPr>
        <p:txBody>
          <a:bodyPr wrap="square" rtlCol="0" anchor="t"/>
          <a:lstStyle/>
          <a:p>
            <a:pPr marL="0" indent="0" algn="ctr">
              <a:buNone/>
            </a:pPr>
            <a:r>
              <a:rPr lang="en-US" sz="1050" i="1" dirty="0">
                <a:solidFill>
                  <a:srgbClr val="5B6B79"/>
                </a:solidFill>
                <a:latin typeface="Calibri" pitchFamily="34" charset="0"/>
                <a:ea typeface="Calibri" pitchFamily="34" charset="-122"/>
                <a:cs typeface="Calibri" pitchFamily="34" charset="-120"/>
              </a:rPr>
              <a:t>Làm việc nhóm trực tuyến, chia sẻ tài nguyên số</a:t>
            </a:r>
            <a:endParaRPr lang="en-US" sz="1050" dirty="0"/>
          </a:p>
        </p:txBody>
      </p:sp>
      <p:sp>
        <p:nvSpPr>
          <p:cNvPr id="32" name="Text 30"/>
          <p:cNvSpPr/>
          <p:nvPr/>
        </p:nvSpPr>
        <p:spPr>
          <a:xfrm>
            <a:off x="548640" y="5623560"/>
            <a:ext cx="11064240" cy="502920"/>
          </a:xfrm>
          <a:prstGeom prst="rect">
            <a:avLst/>
          </a:prstGeom>
          <a:noFill/>
          <a:ln/>
        </p:spPr>
        <p:txBody>
          <a:bodyPr wrap="square" rtlCol="0" anchor="ctr"/>
          <a:lstStyle/>
          <a:p>
            <a:pPr marL="0" indent="0">
              <a:buNone/>
            </a:pPr>
            <a:r>
              <a:rPr lang="en-US" sz="1150" i="1" dirty="0">
                <a:solidFill>
                  <a:srgbClr val="5B6B79"/>
                </a:solidFill>
                <a:latin typeface="Calibri" pitchFamily="34" charset="0"/>
                <a:ea typeface="Calibri" pitchFamily="34" charset="-122"/>
                <a:cs typeface="Calibri" pitchFamily="34" charset="-120"/>
              </a:rPr>
              <a:t>Lưu ý: không phải bài học nào cũng phát triển cả 5 thành phần cùng lúc — GV cần xác định thành phần trọng tâm để thiết kế hoạt động phù hợp.</a:t>
            </a:r>
            <a:endParaRPr lang="en-US" sz="1150" dirty="0"/>
          </a:p>
        </p:txBody>
      </p:sp>
      <p:sp>
        <p:nvSpPr>
          <p:cNvPr id="33" name="Text 31"/>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34" name="Text 3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2.1</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So sánh chương trình cũ và hiện hành</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3703320"/>
        </p:xfrm>
        <a:graphic>
          <a:graphicData uri="http://schemas.openxmlformats.org/drawingml/2006/table">
            <a:tbl>
              <a:tblPr/>
              <a:tblGrid>
                <a:gridCol w="2377440"/>
                <a:gridCol w="4206240"/>
                <a:gridCol w="4480560"/>
              </a:tblGrid>
              <a:tr h="50292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Tiêu chí</a:t>
                      </a:r>
                      <a:endParaRPr lang="en-US" sz="12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Chương trình cũ</a:t>
                      </a:r>
                      <a:endParaRPr lang="en-US" sz="12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Chương trình GDPT hiện hành</a:t>
                      </a:r>
                      <a:endParaRPr lang="en-US" sz="12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Triết lý</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Truyền thụ nội dung kiến thức</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Phát triển phẩm chất và năng lực</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Phạm vi áp dụng</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Từ lớp 6 (THCS), không thống nhất ở Tiểu học</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Bắt buộc từ lớp 3 đến lớp 12</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Cấu trúc</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Một mạch nội dung duy nhất</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Ba mạch nội dung có hệ thống (CS, ICT, DL)</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Chuẩn đánh giá</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Chuẩn kiến thức kỹ năng (ghi nhớ)</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Yêu cầu cần đạt (năng lực, hành động)</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Ngôn ngữ lập trình</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Pascal (ít ứng dụng thực tiễn)</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Python, Scratch (hiện đại, phổ biến)</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Định hướng THPT</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Một chương trình chung</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Phân hóa 2 định hướng (CS và ICT)</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45720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Vai trò giáo viên</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Trung tâm, truyền đạt</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Hướng dẫn, tổ chức hoạt động học tập</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bl>
          </a:graphicData>
        </a:graphic>
      </p:graphicFrame>
      <p:sp>
        <p:nvSpPr>
          <p:cNvPr id="6" name="Text 3"/>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5"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2.2</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Mục tiêu tổng quát của môn Tin học</a:t>
            </a:r>
            <a:endParaRPr lang="en-US" sz="3000" dirty="0"/>
          </a:p>
        </p:txBody>
      </p:sp>
      <p:sp>
        <p:nvSpPr>
          <p:cNvPr id="5" name="Text 3"/>
          <p:cNvSpPr/>
          <p:nvPr/>
        </p:nvSpPr>
        <p:spPr>
          <a:xfrm>
            <a:off x="548640" y="1572768"/>
            <a:ext cx="11064240" cy="457200"/>
          </a:xfrm>
          <a:prstGeom prst="rect">
            <a:avLst/>
          </a:prstGeom>
          <a:noFill/>
          <a:ln/>
        </p:spPr>
        <p:txBody>
          <a:bodyPr wrap="square" rtlCol="0" anchor="ctr"/>
          <a:lstStyle/>
          <a:p>
            <a:pPr marL="0" indent="0">
              <a:buNone/>
            </a:pPr>
            <a:r>
              <a:rPr lang="en-US" sz="1300" i="1" dirty="0">
                <a:solidFill>
                  <a:srgbClr val="5B6B79"/>
                </a:solidFill>
                <a:latin typeface="Calibri" pitchFamily="34" charset="0"/>
                <a:ea typeface="Calibri" pitchFamily="34" charset="-122"/>
                <a:cs typeface="Calibri" pitchFamily="34" charset="-120"/>
              </a:rPr>
              <a:t>Hình thành và phát triển năng lực Tin học (NLa → NLe), góp phần phát triển năng lực chung và phẩm chất chủ yếu.</a:t>
            </a:r>
            <a:endParaRPr lang="en-US" sz="1300" dirty="0"/>
          </a:p>
        </p:txBody>
      </p:sp>
      <p:sp>
        <p:nvSpPr>
          <p:cNvPr id="6" name="Shape 4"/>
          <p:cNvSpPr/>
          <p:nvPr/>
        </p:nvSpPr>
        <p:spPr>
          <a:xfrm>
            <a:off x="548640" y="2286000"/>
            <a:ext cx="2724912" cy="3383280"/>
          </a:xfrm>
          <a:prstGeom prst="roundRect">
            <a:avLst>
              <a:gd name="adj" fmla="val 3356"/>
            </a:avLst>
          </a:prstGeom>
          <a:solidFill>
            <a:srgbClr val="FFFFFF"/>
          </a:solidFill>
          <a:ln w="12700">
            <a:solidFill>
              <a:srgbClr val="DCE4EC"/>
            </a:solidFill>
            <a:prstDash val="solid"/>
          </a:ln>
          <a:effectLst>
            <a:outerShdw blurRad="63500" dist="25400" dir="5400000" algn="bl" rotWithShape="0">
              <a:srgbClr val="9AA9B8">
                <a:alpha val="20000"/>
              </a:srgbClr>
            </a:outerShdw>
          </a:effectLst>
        </p:spPr>
      </p:sp>
      <p:sp>
        <p:nvSpPr>
          <p:cNvPr id="7" name="Shape 5"/>
          <p:cNvSpPr/>
          <p:nvPr/>
        </p:nvSpPr>
        <p:spPr>
          <a:xfrm>
            <a:off x="1545336" y="2514600"/>
            <a:ext cx="731520" cy="731520"/>
          </a:xfrm>
          <a:prstGeom prst="ellipse">
            <a:avLst/>
          </a:prstGeom>
          <a:solidFill>
            <a:srgbClr val="3E92CC"/>
          </a:solidFill>
          <a:ln/>
        </p:spPr>
      </p:sp>
      <p:sp>
        <p:nvSpPr>
          <p:cNvPr id="8" name="Text 6"/>
          <p:cNvSpPr/>
          <p:nvPr/>
        </p:nvSpPr>
        <p:spPr>
          <a:xfrm>
            <a:off x="1545336" y="251460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A</a:t>
            </a:r>
            <a:endParaRPr lang="en-US" sz="1760" dirty="0"/>
          </a:p>
        </p:txBody>
      </p:sp>
      <p:sp>
        <p:nvSpPr>
          <p:cNvPr id="9" name="Text 7"/>
          <p:cNvSpPr/>
          <p:nvPr/>
        </p:nvSpPr>
        <p:spPr>
          <a:xfrm>
            <a:off x="685800" y="3383280"/>
            <a:ext cx="2450592" cy="822960"/>
          </a:xfrm>
          <a:prstGeom prst="rect">
            <a:avLst/>
          </a:prstGeom>
          <a:noFill/>
          <a:ln/>
        </p:spPr>
        <p:txBody>
          <a:bodyPr wrap="square" rtlCol="0" anchor="t"/>
          <a:lstStyle/>
          <a:p>
            <a:pPr marL="0" indent="0" algn="ctr">
              <a:buNone/>
            </a:pPr>
            <a:r>
              <a:rPr lang="en-US" sz="1300" b="1" dirty="0">
                <a:solidFill>
                  <a:srgbClr val="1B3A5C"/>
                </a:solidFill>
                <a:latin typeface="Calibri" pitchFamily="34" charset="0"/>
                <a:ea typeface="Calibri" pitchFamily="34" charset="-122"/>
                <a:cs typeface="Calibri" pitchFamily="34" charset="-120"/>
              </a:rPr>
              <a:t>Hiểu và sử dụng công nghệ số</a:t>
            </a:r>
            <a:endParaRPr lang="en-US" sz="1300" dirty="0"/>
          </a:p>
        </p:txBody>
      </p:sp>
      <p:sp>
        <p:nvSpPr>
          <p:cNvPr id="10" name="Text 8"/>
          <p:cNvSpPr/>
          <p:nvPr/>
        </p:nvSpPr>
        <p:spPr>
          <a:xfrm>
            <a:off x="685800" y="4251960"/>
            <a:ext cx="2450592" cy="1280160"/>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an toàn, có đạo đức và hiệu quả trong học tập, lao động, đời sống</a:t>
            </a:r>
            <a:endParaRPr lang="en-US" sz="1100" dirty="0"/>
          </a:p>
        </p:txBody>
      </p:sp>
      <p:sp>
        <p:nvSpPr>
          <p:cNvPr id="11" name="Shape 9"/>
          <p:cNvSpPr/>
          <p:nvPr/>
        </p:nvSpPr>
        <p:spPr>
          <a:xfrm>
            <a:off x="3410712" y="2286000"/>
            <a:ext cx="2724912" cy="3383280"/>
          </a:xfrm>
          <a:prstGeom prst="roundRect">
            <a:avLst>
              <a:gd name="adj" fmla="val 3356"/>
            </a:avLst>
          </a:prstGeom>
          <a:solidFill>
            <a:srgbClr val="FFFFFF"/>
          </a:solidFill>
          <a:ln w="12700">
            <a:solidFill>
              <a:srgbClr val="DCE4EC"/>
            </a:solidFill>
            <a:prstDash val="solid"/>
          </a:ln>
          <a:effectLst>
            <a:outerShdw blurRad="63500" dist="25400" dir="5400000" algn="bl" rotWithShape="0">
              <a:srgbClr val="9AA9B8">
                <a:alpha val="20000"/>
              </a:srgbClr>
            </a:outerShdw>
          </a:effectLst>
        </p:spPr>
      </p:sp>
      <p:sp>
        <p:nvSpPr>
          <p:cNvPr id="12" name="Shape 10"/>
          <p:cNvSpPr/>
          <p:nvPr/>
        </p:nvSpPr>
        <p:spPr>
          <a:xfrm>
            <a:off x="4407408" y="2514600"/>
            <a:ext cx="731520" cy="731520"/>
          </a:xfrm>
          <a:prstGeom prst="ellipse">
            <a:avLst/>
          </a:prstGeom>
          <a:solidFill>
            <a:srgbClr val="3E92CC"/>
          </a:solidFill>
          <a:ln/>
        </p:spPr>
      </p:sp>
      <p:sp>
        <p:nvSpPr>
          <p:cNvPr id="13" name="Text 11"/>
          <p:cNvSpPr/>
          <p:nvPr/>
        </p:nvSpPr>
        <p:spPr>
          <a:xfrm>
            <a:off x="4407408" y="251460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B</a:t>
            </a:r>
            <a:endParaRPr lang="en-US" sz="1760" dirty="0"/>
          </a:p>
        </p:txBody>
      </p:sp>
      <p:sp>
        <p:nvSpPr>
          <p:cNvPr id="14" name="Text 12"/>
          <p:cNvSpPr/>
          <p:nvPr/>
        </p:nvSpPr>
        <p:spPr>
          <a:xfrm>
            <a:off x="3547872" y="3383280"/>
            <a:ext cx="2450592" cy="822960"/>
          </a:xfrm>
          <a:prstGeom prst="rect">
            <a:avLst/>
          </a:prstGeom>
          <a:noFill/>
          <a:ln/>
        </p:spPr>
        <p:txBody>
          <a:bodyPr wrap="square" rtlCol="0" anchor="t"/>
          <a:lstStyle/>
          <a:p>
            <a:pPr marL="0" indent="0" algn="ctr">
              <a:buNone/>
            </a:pPr>
            <a:r>
              <a:rPr lang="en-US" sz="1300" b="1" dirty="0">
                <a:solidFill>
                  <a:srgbClr val="1B3A5C"/>
                </a:solidFill>
                <a:latin typeface="Calibri" pitchFamily="34" charset="0"/>
                <a:ea typeface="Calibri" pitchFamily="34" charset="-122"/>
                <a:cs typeface="Calibri" pitchFamily="34" charset="-120"/>
              </a:rPr>
              <a:t>Phát triển tư duy máy tính</a:t>
            </a:r>
            <a:endParaRPr lang="en-US" sz="1300" dirty="0"/>
          </a:p>
        </p:txBody>
      </p:sp>
      <p:sp>
        <p:nvSpPr>
          <p:cNvPr id="15" name="Text 13"/>
          <p:cNvSpPr/>
          <p:nvPr/>
        </p:nvSpPr>
        <p:spPr>
          <a:xfrm>
            <a:off x="3547872" y="4251960"/>
            <a:ext cx="2450592" cy="1280160"/>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phân rã, nhận dạng mẫu, trừu tượng hóa, thiết kế thuật toán</a:t>
            </a:r>
            <a:endParaRPr lang="en-US" sz="1100" dirty="0"/>
          </a:p>
        </p:txBody>
      </p:sp>
      <p:sp>
        <p:nvSpPr>
          <p:cNvPr id="16" name="Shape 14"/>
          <p:cNvSpPr/>
          <p:nvPr/>
        </p:nvSpPr>
        <p:spPr>
          <a:xfrm>
            <a:off x="6272784" y="2286000"/>
            <a:ext cx="2724912" cy="3383280"/>
          </a:xfrm>
          <a:prstGeom prst="roundRect">
            <a:avLst>
              <a:gd name="adj" fmla="val 3356"/>
            </a:avLst>
          </a:prstGeom>
          <a:solidFill>
            <a:srgbClr val="FFFFFF"/>
          </a:solidFill>
          <a:ln w="12700">
            <a:solidFill>
              <a:srgbClr val="DCE4EC"/>
            </a:solidFill>
            <a:prstDash val="solid"/>
          </a:ln>
          <a:effectLst>
            <a:outerShdw blurRad="63500" dist="25400" dir="5400000" algn="bl" rotWithShape="0">
              <a:srgbClr val="9AA9B8">
                <a:alpha val="20000"/>
              </a:srgbClr>
            </a:outerShdw>
          </a:effectLst>
        </p:spPr>
      </p:sp>
      <p:sp>
        <p:nvSpPr>
          <p:cNvPr id="17" name="Shape 15"/>
          <p:cNvSpPr/>
          <p:nvPr/>
        </p:nvSpPr>
        <p:spPr>
          <a:xfrm>
            <a:off x="7269480" y="2514600"/>
            <a:ext cx="731520" cy="731520"/>
          </a:xfrm>
          <a:prstGeom prst="ellipse">
            <a:avLst/>
          </a:prstGeom>
          <a:solidFill>
            <a:srgbClr val="3E92CC"/>
          </a:solidFill>
          <a:ln/>
        </p:spPr>
      </p:sp>
      <p:sp>
        <p:nvSpPr>
          <p:cNvPr id="18" name="Text 16"/>
          <p:cNvSpPr/>
          <p:nvPr/>
        </p:nvSpPr>
        <p:spPr>
          <a:xfrm>
            <a:off x="7269480" y="251460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C</a:t>
            </a:r>
            <a:endParaRPr lang="en-US" sz="1760" dirty="0"/>
          </a:p>
        </p:txBody>
      </p:sp>
      <p:sp>
        <p:nvSpPr>
          <p:cNvPr id="19" name="Text 17"/>
          <p:cNvSpPr/>
          <p:nvPr/>
        </p:nvSpPr>
        <p:spPr>
          <a:xfrm>
            <a:off x="6409944" y="3383280"/>
            <a:ext cx="2450592" cy="822960"/>
          </a:xfrm>
          <a:prstGeom prst="rect">
            <a:avLst/>
          </a:prstGeom>
          <a:noFill/>
          <a:ln/>
        </p:spPr>
        <p:txBody>
          <a:bodyPr wrap="square" rtlCol="0" anchor="t"/>
          <a:lstStyle/>
          <a:p>
            <a:pPr marL="0" indent="0" algn="ctr">
              <a:buNone/>
            </a:pPr>
            <a:r>
              <a:rPr lang="en-US" sz="1300" b="1" dirty="0">
                <a:solidFill>
                  <a:srgbClr val="1B3A5C"/>
                </a:solidFill>
                <a:latin typeface="Calibri" pitchFamily="34" charset="0"/>
                <a:ea typeface="Calibri" pitchFamily="34" charset="-122"/>
                <a:cs typeface="Calibri" pitchFamily="34" charset="-120"/>
              </a:rPr>
              <a:t>Kiến thức nền tảng CS &amp; ICT</a:t>
            </a:r>
            <a:endParaRPr lang="en-US" sz="1300" dirty="0"/>
          </a:p>
        </p:txBody>
      </p:sp>
      <p:sp>
        <p:nvSpPr>
          <p:cNvPr id="20" name="Text 18"/>
          <p:cNvSpPr/>
          <p:nvPr/>
        </p:nvSpPr>
        <p:spPr>
          <a:xfrm>
            <a:off x="6409944" y="4251960"/>
            <a:ext cx="2450592" cy="1280160"/>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bước đầu định hướng nghề nghiệp trong xã hội số</a:t>
            </a:r>
            <a:endParaRPr lang="en-US" sz="1100" dirty="0"/>
          </a:p>
        </p:txBody>
      </p:sp>
      <p:sp>
        <p:nvSpPr>
          <p:cNvPr id="21" name="Shape 19"/>
          <p:cNvSpPr/>
          <p:nvPr/>
        </p:nvSpPr>
        <p:spPr>
          <a:xfrm>
            <a:off x="9134856" y="2286000"/>
            <a:ext cx="2724912" cy="3383280"/>
          </a:xfrm>
          <a:prstGeom prst="roundRect">
            <a:avLst>
              <a:gd name="adj" fmla="val 3356"/>
            </a:avLst>
          </a:prstGeom>
          <a:solidFill>
            <a:srgbClr val="FFFFFF"/>
          </a:solidFill>
          <a:ln w="12700">
            <a:solidFill>
              <a:srgbClr val="DCE4EC"/>
            </a:solidFill>
            <a:prstDash val="solid"/>
          </a:ln>
          <a:effectLst>
            <a:outerShdw blurRad="63500" dist="25400" dir="5400000" algn="bl" rotWithShape="0">
              <a:srgbClr val="9AA9B8">
                <a:alpha val="20000"/>
              </a:srgbClr>
            </a:outerShdw>
          </a:effectLst>
        </p:spPr>
      </p:sp>
      <p:sp>
        <p:nvSpPr>
          <p:cNvPr id="22" name="Shape 20"/>
          <p:cNvSpPr/>
          <p:nvPr/>
        </p:nvSpPr>
        <p:spPr>
          <a:xfrm>
            <a:off x="10131552" y="2514600"/>
            <a:ext cx="731520" cy="731520"/>
          </a:xfrm>
          <a:prstGeom prst="ellipse">
            <a:avLst/>
          </a:prstGeom>
          <a:solidFill>
            <a:srgbClr val="3E92CC"/>
          </a:solidFill>
          <a:ln/>
        </p:spPr>
      </p:sp>
      <p:sp>
        <p:nvSpPr>
          <p:cNvPr id="23" name="Text 21"/>
          <p:cNvSpPr/>
          <p:nvPr/>
        </p:nvSpPr>
        <p:spPr>
          <a:xfrm>
            <a:off x="10131552" y="2514600"/>
            <a:ext cx="731520" cy="731520"/>
          </a:xfrm>
          <a:prstGeom prst="rect">
            <a:avLst/>
          </a:prstGeom>
          <a:noFill/>
          <a:ln/>
        </p:spPr>
        <p:txBody>
          <a:bodyPr wrap="square" rtlCol="0" anchor="ctr"/>
          <a:lstStyle/>
          <a:p>
            <a:pPr marL="0" indent="0" algn="ctr">
              <a:buNone/>
            </a:pPr>
            <a:r>
              <a:rPr lang="en-US" sz="1760" b="1" dirty="0">
                <a:solidFill>
                  <a:srgbClr val="FFFFFF"/>
                </a:solidFill>
                <a:latin typeface="Calibri" pitchFamily="34" charset="0"/>
                <a:ea typeface="Calibri" pitchFamily="34" charset="-122"/>
                <a:cs typeface="Calibri" pitchFamily="34" charset="-120"/>
              </a:rPr>
              <a:t>D</a:t>
            </a:r>
            <a:endParaRPr lang="en-US" sz="1760" dirty="0"/>
          </a:p>
        </p:txBody>
      </p:sp>
      <p:sp>
        <p:nvSpPr>
          <p:cNvPr id="24" name="Text 22"/>
          <p:cNvSpPr/>
          <p:nvPr/>
        </p:nvSpPr>
        <p:spPr>
          <a:xfrm>
            <a:off x="9272016" y="3383280"/>
            <a:ext cx="2450592" cy="822960"/>
          </a:xfrm>
          <a:prstGeom prst="rect">
            <a:avLst/>
          </a:prstGeom>
          <a:noFill/>
          <a:ln/>
        </p:spPr>
        <p:txBody>
          <a:bodyPr wrap="square" rtlCol="0" anchor="t"/>
          <a:lstStyle/>
          <a:p>
            <a:pPr marL="0" indent="0" algn="ctr">
              <a:buNone/>
            </a:pPr>
            <a:r>
              <a:rPr lang="en-US" sz="1300" b="1" dirty="0">
                <a:solidFill>
                  <a:srgbClr val="1B3A5C"/>
                </a:solidFill>
                <a:latin typeface="Calibri" pitchFamily="34" charset="0"/>
                <a:ea typeface="Calibri" pitchFamily="34" charset="-122"/>
                <a:cs typeface="Calibri" pitchFamily="34" charset="-120"/>
              </a:rPr>
              <a:t>Học tập suốt đời</a:t>
            </a:r>
            <a:endParaRPr lang="en-US" sz="1300" dirty="0"/>
          </a:p>
        </p:txBody>
      </p:sp>
      <p:sp>
        <p:nvSpPr>
          <p:cNvPr id="25" name="Text 23"/>
          <p:cNvSpPr/>
          <p:nvPr/>
        </p:nvSpPr>
        <p:spPr>
          <a:xfrm>
            <a:off x="9272016" y="4251960"/>
            <a:ext cx="2450592" cy="1280160"/>
          </a:xfrm>
          <a:prstGeom prst="rect">
            <a:avLst/>
          </a:prstGeom>
          <a:noFill/>
          <a:ln/>
        </p:spPr>
        <p:txBody>
          <a:bodyPr wrap="square" rtlCol="0" anchor="t"/>
          <a:lstStyle/>
          <a:p>
            <a:pPr marL="0" indent="0" algn="ctr">
              <a:buNone/>
            </a:pPr>
            <a:r>
              <a:rPr lang="en-US" sz="1100" dirty="0">
                <a:solidFill>
                  <a:srgbClr val="5B6B79"/>
                </a:solidFill>
                <a:latin typeface="Calibri" pitchFamily="34" charset="0"/>
                <a:ea typeface="Calibri" pitchFamily="34" charset="-122"/>
                <a:cs typeface="Calibri" pitchFamily="34" charset="-120"/>
              </a:rPr>
              <a:t>chủ động cập nhật tri thức, kỹ năng số theo sự phát triển công nghệ</a:t>
            </a:r>
            <a:endParaRPr lang="en-US" sz="1100" dirty="0"/>
          </a:p>
        </p:txBody>
      </p:sp>
      <p:sp>
        <p:nvSpPr>
          <p:cNvPr id="26" name="Text 24"/>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2.2</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Mục tiêu theo từng cấp học</a:t>
            </a:r>
            <a:endParaRPr lang="en-US" sz="3000" dirty="0"/>
          </a:p>
        </p:txBody>
      </p:sp>
      <p:sp>
        <p:nvSpPr>
          <p:cNvPr id="5" name="Shape 3"/>
          <p:cNvSpPr/>
          <p:nvPr/>
        </p:nvSpPr>
        <p:spPr>
          <a:xfrm>
            <a:off x="548640" y="1737360"/>
            <a:ext cx="3639312" cy="4434840"/>
          </a:xfrm>
          <a:prstGeom prst="roundRect">
            <a:avLst>
              <a:gd name="adj" fmla="val 2513"/>
            </a:avLst>
          </a:prstGeom>
          <a:solidFill>
            <a:srgbClr val="FFFFFF"/>
          </a:solidFill>
          <a:ln w="12700">
            <a:solidFill>
              <a:srgbClr val="DCE4EC"/>
            </a:solidFill>
            <a:prstDash val="solid"/>
          </a:ln>
        </p:spPr>
      </p:sp>
      <p:sp>
        <p:nvSpPr>
          <p:cNvPr id="6" name="Shape 4"/>
          <p:cNvSpPr/>
          <p:nvPr/>
        </p:nvSpPr>
        <p:spPr>
          <a:xfrm>
            <a:off x="548640" y="1737360"/>
            <a:ext cx="3639312" cy="868680"/>
          </a:xfrm>
          <a:prstGeom prst="roundRect">
            <a:avLst>
              <a:gd name="adj" fmla="val 10526"/>
            </a:avLst>
          </a:prstGeom>
          <a:solidFill>
            <a:srgbClr val="97BC62"/>
          </a:solidFill>
          <a:ln/>
        </p:spPr>
      </p:sp>
      <p:sp>
        <p:nvSpPr>
          <p:cNvPr id="7" name="Shape 5"/>
          <p:cNvSpPr/>
          <p:nvPr/>
        </p:nvSpPr>
        <p:spPr>
          <a:xfrm>
            <a:off x="548640" y="2331720"/>
            <a:ext cx="3639312" cy="274320"/>
          </a:xfrm>
          <a:prstGeom prst="rect">
            <a:avLst/>
          </a:prstGeom>
          <a:solidFill>
            <a:srgbClr val="97BC62"/>
          </a:solidFill>
          <a:ln/>
        </p:spPr>
      </p:sp>
      <p:sp>
        <p:nvSpPr>
          <p:cNvPr id="8" name="Text 6"/>
          <p:cNvSpPr/>
          <p:nvPr/>
        </p:nvSpPr>
        <p:spPr>
          <a:xfrm>
            <a:off x="548640" y="1783080"/>
            <a:ext cx="3639312" cy="457200"/>
          </a:xfrm>
          <a:prstGeom prst="rect">
            <a:avLst/>
          </a:prstGeom>
          <a:noFill/>
          <a:ln/>
        </p:spPr>
        <p:txBody>
          <a:bodyPr wrap="square" rtlCol="0" anchor="ctr"/>
          <a:lstStyle/>
          <a:p>
            <a:pPr marL="0" indent="0" algn="ctr">
              <a:buNone/>
            </a:pPr>
            <a:r>
              <a:rPr lang="en-US" sz="1900" b="1" dirty="0">
                <a:solidFill>
                  <a:srgbClr val="0F2138"/>
                </a:solidFill>
                <a:latin typeface="Calibri" pitchFamily="34" charset="0"/>
                <a:ea typeface="Calibri" pitchFamily="34" charset="-122"/>
                <a:cs typeface="Calibri" pitchFamily="34" charset="-120"/>
              </a:rPr>
              <a:t>Tiểu học</a:t>
            </a:r>
            <a:endParaRPr lang="en-US" sz="1900" dirty="0"/>
          </a:p>
        </p:txBody>
      </p:sp>
      <p:sp>
        <p:nvSpPr>
          <p:cNvPr id="9" name="Text 7"/>
          <p:cNvSpPr/>
          <p:nvPr/>
        </p:nvSpPr>
        <p:spPr>
          <a:xfrm>
            <a:off x="548640" y="2194560"/>
            <a:ext cx="3639312" cy="365760"/>
          </a:xfrm>
          <a:prstGeom prst="rect">
            <a:avLst/>
          </a:prstGeom>
          <a:noFill/>
          <a:ln/>
        </p:spPr>
        <p:txBody>
          <a:bodyPr wrap="square" rtlCol="0" anchor="ctr"/>
          <a:lstStyle/>
          <a:p>
            <a:pPr marL="0" indent="0" algn="ctr">
              <a:buNone/>
            </a:pPr>
            <a:r>
              <a:rPr lang="en-US" sz="1200" dirty="0">
                <a:solidFill>
                  <a:srgbClr val="0F2138"/>
                </a:solidFill>
                <a:latin typeface="Calibri" pitchFamily="34" charset="0"/>
                <a:ea typeface="Calibri" pitchFamily="34" charset="-122"/>
                <a:cs typeface="Calibri" pitchFamily="34" charset="-120"/>
              </a:rPr>
              <a:t>Lớp 3 – 5</a:t>
            </a:r>
            <a:endParaRPr lang="en-US" sz="1200" dirty="0"/>
          </a:p>
        </p:txBody>
      </p:sp>
      <p:sp>
        <p:nvSpPr>
          <p:cNvPr id="10" name="Text 8"/>
          <p:cNvSpPr/>
          <p:nvPr/>
        </p:nvSpPr>
        <p:spPr>
          <a:xfrm>
            <a:off x="731520" y="2743200"/>
            <a:ext cx="3273552" cy="914400"/>
          </a:xfrm>
          <a:prstGeom prst="rect">
            <a:avLst/>
          </a:prstGeom>
          <a:noFill/>
          <a:ln/>
        </p:spPr>
        <p:txBody>
          <a:bodyPr wrap="square" rtlCol="0" anchor="ctr"/>
          <a:lstStyle/>
          <a:p>
            <a:pPr marL="0" indent="0" algn="l">
              <a:buNone/>
            </a:pPr>
            <a:r>
              <a:rPr lang="en-US" sz="1100" i="1" dirty="0">
                <a:solidFill>
                  <a:srgbClr val="5B6B79"/>
                </a:solidFill>
                <a:latin typeface="Calibri" pitchFamily="34" charset="0"/>
                <a:ea typeface="Calibri" pitchFamily="34" charset="-122"/>
                <a:cs typeface="Calibri" pitchFamily="34" charset="-120"/>
              </a:rPr>
              <a:t>Bước đầu làm quen thế giới số, tạo hứng thú, thói quen dùng máy tính an toàn.</a:t>
            </a:r>
            <a:endParaRPr lang="en-US" sz="1100" dirty="0"/>
          </a:p>
        </p:txBody>
      </p:sp>
      <p:sp>
        <p:nvSpPr>
          <p:cNvPr id="11" name="Text 9"/>
          <p:cNvSpPr/>
          <p:nvPr/>
        </p:nvSpPr>
        <p:spPr>
          <a:xfrm>
            <a:off x="731520" y="3703320"/>
            <a:ext cx="3273552" cy="2377440"/>
          </a:xfrm>
          <a:prstGeom prst="rect">
            <a:avLst/>
          </a:prstGeom>
          <a:noFill/>
          <a:ln/>
        </p:spPr>
        <p:txBody>
          <a:bodyPr wrap="square" rtlCol="0" anchor="t"/>
          <a:lstStyle/>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Nhận biết bộ phận cơ bản của máy tính</a:t>
            </a:r>
            <a:endParaRPr lang="en-US" sz="1100" dirty="0"/>
          </a:p>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Sử dụng máy tính học tập, giải trí có hướng dẫn</a:t>
            </a:r>
            <a:endParaRPr lang="en-US" sz="1100" dirty="0"/>
          </a:p>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Làm quen tư duy giải quyết vấn đề qua công cụ trực quan (Scratch)</a:t>
            </a:r>
            <a:endParaRPr lang="en-US" sz="1100" dirty="0"/>
          </a:p>
        </p:txBody>
      </p:sp>
      <p:sp>
        <p:nvSpPr>
          <p:cNvPr id="12" name="Shape 10"/>
          <p:cNvSpPr/>
          <p:nvPr/>
        </p:nvSpPr>
        <p:spPr>
          <a:xfrm>
            <a:off x="4370832" y="1737360"/>
            <a:ext cx="3639312" cy="4434840"/>
          </a:xfrm>
          <a:prstGeom prst="roundRect">
            <a:avLst>
              <a:gd name="adj" fmla="val 2513"/>
            </a:avLst>
          </a:prstGeom>
          <a:solidFill>
            <a:srgbClr val="FFFFFF"/>
          </a:solidFill>
          <a:ln w="12700">
            <a:solidFill>
              <a:srgbClr val="DCE4EC"/>
            </a:solidFill>
            <a:prstDash val="solid"/>
          </a:ln>
        </p:spPr>
      </p:sp>
      <p:sp>
        <p:nvSpPr>
          <p:cNvPr id="13" name="Shape 11"/>
          <p:cNvSpPr/>
          <p:nvPr/>
        </p:nvSpPr>
        <p:spPr>
          <a:xfrm>
            <a:off x="4370832" y="1737360"/>
            <a:ext cx="3639312" cy="868680"/>
          </a:xfrm>
          <a:prstGeom prst="roundRect">
            <a:avLst>
              <a:gd name="adj" fmla="val 10526"/>
            </a:avLst>
          </a:prstGeom>
          <a:solidFill>
            <a:srgbClr val="3E92CC"/>
          </a:solidFill>
          <a:ln/>
        </p:spPr>
      </p:sp>
      <p:sp>
        <p:nvSpPr>
          <p:cNvPr id="14" name="Shape 12"/>
          <p:cNvSpPr/>
          <p:nvPr/>
        </p:nvSpPr>
        <p:spPr>
          <a:xfrm>
            <a:off x="4370832" y="2331720"/>
            <a:ext cx="3639312" cy="274320"/>
          </a:xfrm>
          <a:prstGeom prst="rect">
            <a:avLst/>
          </a:prstGeom>
          <a:solidFill>
            <a:srgbClr val="3E92CC"/>
          </a:solidFill>
          <a:ln/>
        </p:spPr>
      </p:sp>
      <p:sp>
        <p:nvSpPr>
          <p:cNvPr id="15" name="Text 13"/>
          <p:cNvSpPr/>
          <p:nvPr/>
        </p:nvSpPr>
        <p:spPr>
          <a:xfrm>
            <a:off x="4370832" y="1783080"/>
            <a:ext cx="3639312" cy="457200"/>
          </a:xfrm>
          <a:prstGeom prst="rect">
            <a:avLst/>
          </a:prstGeom>
          <a:noFill/>
          <a:ln/>
        </p:spPr>
        <p:txBody>
          <a:bodyPr wrap="square" rtlCol="0" anchor="ctr"/>
          <a:lstStyle/>
          <a:p>
            <a:pPr marL="0" indent="0" algn="ctr">
              <a:buNone/>
            </a:pPr>
            <a:r>
              <a:rPr lang="en-US" sz="1900" b="1" dirty="0">
                <a:solidFill>
                  <a:srgbClr val="0F2138"/>
                </a:solidFill>
                <a:latin typeface="Calibri" pitchFamily="34" charset="0"/>
                <a:ea typeface="Calibri" pitchFamily="34" charset="-122"/>
                <a:cs typeface="Calibri" pitchFamily="34" charset="-120"/>
              </a:rPr>
              <a:t>THCS</a:t>
            </a:r>
            <a:endParaRPr lang="en-US" sz="1900" dirty="0"/>
          </a:p>
        </p:txBody>
      </p:sp>
      <p:sp>
        <p:nvSpPr>
          <p:cNvPr id="16" name="Text 14"/>
          <p:cNvSpPr/>
          <p:nvPr/>
        </p:nvSpPr>
        <p:spPr>
          <a:xfrm>
            <a:off x="4370832" y="2194560"/>
            <a:ext cx="3639312" cy="365760"/>
          </a:xfrm>
          <a:prstGeom prst="rect">
            <a:avLst/>
          </a:prstGeom>
          <a:noFill/>
          <a:ln/>
        </p:spPr>
        <p:txBody>
          <a:bodyPr wrap="square" rtlCol="0" anchor="ctr"/>
          <a:lstStyle/>
          <a:p>
            <a:pPr marL="0" indent="0" algn="ctr">
              <a:buNone/>
            </a:pPr>
            <a:r>
              <a:rPr lang="en-US" sz="1200" dirty="0">
                <a:solidFill>
                  <a:srgbClr val="0F2138"/>
                </a:solidFill>
                <a:latin typeface="Calibri" pitchFamily="34" charset="0"/>
                <a:ea typeface="Calibri" pitchFamily="34" charset="-122"/>
                <a:cs typeface="Calibri" pitchFamily="34" charset="-120"/>
              </a:rPr>
              <a:t>Lớp 6 – 9</a:t>
            </a:r>
            <a:endParaRPr lang="en-US" sz="1200" dirty="0"/>
          </a:p>
        </p:txBody>
      </p:sp>
      <p:sp>
        <p:nvSpPr>
          <p:cNvPr id="17" name="Text 15"/>
          <p:cNvSpPr/>
          <p:nvPr/>
        </p:nvSpPr>
        <p:spPr>
          <a:xfrm>
            <a:off x="4553712" y="2743200"/>
            <a:ext cx="3273552" cy="914400"/>
          </a:xfrm>
          <a:prstGeom prst="rect">
            <a:avLst/>
          </a:prstGeom>
          <a:noFill/>
          <a:ln/>
        </p:spPr>
        <p:txBody>
          <a:bodyPr wrap="square" rtlCol="0" anchor="ctr"/>
          <a:lstStyle/>
          <a:p>
            <a:pPr marL="0" indent="0" algn="l">
              <a:buNone/>
            </a:pPr>
            <a:r>
              <a:rPr lang="en-US" sz="1100" i="1" dirty="0">
                <a:solidFill>
                  <a:srgbClr val="5B6B79"/>
                </a:solidFill>
                <a:latin typeface="Calibri" pitchFamily="34" charset="0"/>
                <a:ea typeface="Calibri" pitchFamily="34" charset="-122"/>
                <a:cs typeface="Calibri" pitchFamily="34" charset="-120"/>
              </a:rPr>
              <a:t>Phát triển năng lực Tin học mức trung bình, hình thành tư duy thuật toán.</a:t>
            </a:r>
            <a:endParaRPr lang="en-US" sz="1100" dirty="0"/>
          </a:p>
        </p:txBody>
      </p:sp>
      <p:sp>
        <p:nvSpPr>
          <p:cNvPr id="18" name="Text 16"/>
          <p:cNvSpPr/>
          <p:nvPr/>
        </p:nvSpPr>
        <p:spPr>
          <a:xfrm>
            <a:off x="4553712" y="3703320"/>
            <a:ext cx="3273552" cy="2377440"/>
          </a:xfrm>
          <a:prstGeom prst="rect">
            <a:avLst/>
          </a:prstGeom>
          <a:noFill/>
          <a:ln/>
        </p:spPr>
        <p:txBody>
          <a:bodyPr wrap="square" rtlCol="0" anchor="t"/>
          <a:lstStyle/>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Hiểu &amp; biểu diễn thuật toán bằng lưu đồ</a:t>
            </a:r>
            <a:endParaRPr lang="en-US" sz="1100" dirty="0"/>
          </a:p>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Viết chương trình đơn giản (Scratch nâng cao/Python)</a:t>
            </a:r>
            <a:endParaRPr lang="en-US" sz="1100" dirty="0"/>
          </a:p>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Nhận diện nguy cơ mất an toàn thông tin</a:t>
            </a:r>
            <a:endParaRPr lang="en-US" sz="1100" dirty="0"/>
          </a:p>
        </p:txBody>
      </p:sp>
      <p:sp>
        <p:nvSpPr>
          <p:cNvPr id="19" name="Shape 17"/>
          <p:cNvSpPr/>
          <p:nvPr/>
        </p:nvSpPr>
        <p:spPr>
          <a:xfrm>
            <a:off x="8193024" y="1737360"/>
            <a:ext cx="3639312" cy="4434840"/>
          </a:xfrm>
          <a:prstGeom prst="roundRect">
            <a:avLst>
              <a:gd name="adj" fmla="val 2513"/>
            </a:avLst>
          </a:prstGeom>
          <a:solidFill>
            <a:srgbClr val="FFFFFF"/>
          </a:solidFill>
          <a:ln w="12700">
            <a:solidFill>
              <a:srgbClr val="DCE4EC"/>
            </a:solidFill>
            <a:prstDash val="solid"/>
          </a:ln>
        </p:spPr>
      </p:sp>
      <p:sp>
        <p:nvSpPr>
          <p:cNvPr id="20" name="Shape 18"/>
          <p:cNvSpPr/>
          <p:nvPr/>
        </p:nvSpPr>
        <p:spPr>
          <a:xfrm>
            <a:off x="8193024" y="1737360"/>
            <a:ext cx="3639312" cy="868680"/>
          </a:xfrm>
          <a:prstGeom prst="roundRect">
            <a:avLst>
              <a:gd name="adj" fmla="val 10526"/>
            </a:avLst>
          </a:prstGeom>
          <a:solidFill>
            <a:srgbClr val="F2A541"/>
          </a:solidFill>
          <a:ln/>
        </p:spPr>
      </p:sp>
      <p:sp>
        <p:nvSpPr>
          <p:cNvPr id="21" name="Shape 19"/>
          <p:cNvSpPr/>
          <p:nvPr/>
        </p:nvSpPr>
        <p:spPr>
          <a:xfrm>
            <a:off x="8193024" y="2331720"/>
            <a:ext cx="3639312" cy="274320"/>
          </a:xfrm>
          <a:prstGeom prst="rect">
            <a:avLst/>
          </a:prstGeom>
          <a:solidFill>
            <a:srgbClr val="F2A541"/>
          </a:solidFill>
          <a:ln/>
        </p:spPr>
      </p:sp>
      <p:sp>
        <p:nvSpPr>
          <p:cNvPr id="22" name="Text 20"/>
          <p:cNvSpPr/>
          <p:nvPr/>
        </p:nvSpPr>
        <p:spPr>
          <a:xfrm>
            <a:off x="8193024" y="1783080"/>
            <a:ext cx="3639312" cy="457200"/>
          </a:xfrm>
          <a:prstGeom prst="rect">
            <a:avLst/>
          </a:prstGeom>
          <a:noFill/>
          <a:ln/>
        </p:spPr>
        <p:txBody>
          <a:bodyPr wrap="square" rtlCol="0" anchor="ctr"/>
          <a:lstStyle/>
          <a:p>
            <a:pPr marL="0" indent="0" algn="ctr">
              <a:buNone/>
            </a:pPr>
            <a:r>
              <a:rPr lang="en-US" sz="1900" b="1" dirty="0">
                <a:solidFill>
                  <a:srgbClr val="0F2138"/>
                </a:solidFill>
                <a:latin typeface="Calibri" pitchFamily="34" charset="0"/>
                <a:ea typeface="Calibri" pitchFamily="34" charset="-122"/>
                <a:cs typeface="Calibri" pitchFamily="34" charset="-120"/>
              </a:rPr>
              <a:t>THPT</a:t>
            </a:r>
            <a:endParaRPr lang="en-US" sz="1900" dirty="0"/>
          </a:p>
        </p:txBody>
      </p:sp>
      <p:sp>
        <p:nvSpPr>
          <p:cNvPr id="23" name="Text 21"/>
          <p:cNvSpPr/>
          <p:nvPr/>
        </p:nvSpPr>
        <p:spPr>
          <a:xfrm>
            <a:off x="8193024" y="2194560"/>
            <a:ext cx="3639312" cy="365760"/>
          </a:xfrm>
          <a:prstGeom prst="rect">
            <a:avLst/>
          </a:prstGeom>
          <a:noFill/>
          <a:ln/>
        </p:spPr>
        <p:txBody>
          <a:bodyPr wrap="square" rtlCol="0" anchor="ctr"/>
          <a:lstStyle/>
          <a:p>
            <a:pPr marL="0" indent="0" algn="ctr">
              <a:buNone/>
            </a:pPr>
            <a:r>
              <a:rPr lang="en-US" sz="1200" dirty="0">
                <a:solidFill>
                  <a:srgbClr val="0F2138"/>
                </a:solidFill>
                <a:latin typeface="Calibri" pitchFamily="34" charset="0"/>
                <a:ea typeface="Calibri" pitchFamily="34" charset="-122"/>
                <a:cs typeface="Calibri" pitchFamily="34" charset="-120"/>
              </a:rPr>
              <a:t>Lớp 10 – 12</a:t>
            </a:r>
            <a:endParaRPr lang="en-US" sz="1200" dirty="0"/>
          </a:p>
        </p:txBody>
      </p:sp>
      <p:sp>
        <p:nvSpPr>
          <p:cNvPr id="24" name="Text 22"/>
          <p:cNvSpPr/>
          <p:nvPr/>
        </p:nvSpPr>
        <p:spPr>
          <a:xfrm>
            <a:off x="8375904" y="2743200"/>
            <a:ext cx="3273552" cy="914400"/>
          </a:xfrm>
          <a:prstGeom prst="rect">
            <a:avLst/>
          </a:prstGeom>
          <a:noFill/>
          <a:ln/>
        </p:spPr>
        <p:txBody>
          <a:bodyPr wrap="square" rtlCol="0" anchor="ctr"/>
          <a:lstStyle/>
          <a:p>
            <a:pPr marL="0" indent="0" algn="l">
              <a:buNone/>
            </a:pPr>
            <a:r>
              <a:rPr lang="en-US" sz="1100" i="1" dirty="0">
                <a:solidFill>
                  <a:srgbClr val="5B6B79"/>
                </a:solidFill>
                <a:latin typeface="Calibri" pitchFamily="34" charset="0"/>
                <a:ea typeface="Calibri" pitchFamily="34" charset="-122"/>
                <a:cs typeface="Calibri" pitchFamily="34" charset="-120"/>
              </a:rPr>
              <a:t>Phân hóa theo định hướng nghề nghiệp (CS/ICT), năng lực khá – giỏi.</a:t>
            </a:r>
            <a:endParaRPr lang="en-US" sz="1100" dirty="0"/>
          </a:p>
        </p:txBody>
      </p:sp>
      <p:sp>
        <p:nvSpPr>
          <p:cNvPr id="25" name="Text 23"/>
          <p:cNvSpPr/>
          <p:nvPr/>
        </p:nvSpPr>
        <p:spPr>
          <a:xfrm>
            <a:off x="8375904" y="3703320"/>
            <a:ext cx="3273552" cy="2377440"/>
          </a:xfrm>
          <a:prstGeom prst="rect">
            <a:avLst/>
          </a:prstGeom>
          <a:noFill/>
          <a:ln/>
        </p:spPr>
        <p:txBody>
          <a:bodyPr wrap="square" rtlCol="0" anchor="t"/>
          <a:lstStyle/>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Định hướng ICT: công cụ số nâng cao, ứng dụng đa lĩnh vực</a:t>
            </a:r>
            <a:endParaRPr lang="en-US" sz="1100" dirty="0"/>
          </a:p>
          <a:p>
            <a:pPr marL="177800" indent="-177800" algn="l">
              <a:lnSpc>
                <a:spcPct val="120000"/>
              </a:lnSpc>
              <a:buSzPct val="100000"/>
              <a:buChar char="▪"/>
            </a:pPr>
            <a:r>
              <a:rPr lang="en-US" sz="1100" dirty="0">
                <a:solidFill>
                  <a:srgbClr val="1B2430"/>
                </a:solidFill>
                <a:latin typeface="Calibri" pitchFamily="34" charset="0"/>
                <a:ea typeface="Calibri" pitchFamily="34" charset="-122"/>
                <a:cs typeface="Calibri" pitchFamily="34" charset="-120"/>
              </a:rPr>
              <a:t>Định hướng CS: cấu trúc dữ liệu, thuật toán, CSDL, mạng máy tính</a:t>
            </a:r>
            <a:endParaRPr lang="en-US" sz="1100" dirty="0"/>
          </a:p>
        </p:txBody>
      </p:sp>
      <p:sp>
        <p:nvSpPr>
          <p:cNvPr id="26" name="Text 24"/>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2.2</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Từ mục tiêu đến Yêu cầu cần đạt</a:t>
            </a:r>
            <a:endParaRPr lang="en-US" sz="3000" dirty="0"/>
          </a:p>
        </p:txBody>
      </p:sp>
      <p:sp>
        <p:nvSpPr>
          <p:cNvPr id="5" name="Text 3"/>
          <p:cNvSpPr/>
          <p:nvPr/>
        </p:nvSpPr>
        <p:spPr>
          <a:xfrm>
            <a:off x="548640" y="1600200"/>
            <a:ext cx="11064240" cy="548640"/>
          </a:xfrm>
          <a:prstGeom prst="rect">
            <a:avLst/>
          </a:prstGeom>
          <a:noFill/>
          <a:ln/>
        </p:spPr>
        <p:txBody>
          <a:bodyPr wrap="square" rtlCol="0" anchor="ctr"/>
          <a:lstStyle/>
          <a:p>
            <a:pPr marL="0" indent="0">
              <a:buNone/>
            </a:pPr>
            <a:r>
              <a:rPr lang="en-US" sz="1300" i="1" dirty="0">
                <a:solidFill>
                  <a:srgbClr val="5B6B79"/>
                </a:solidFill>
                <a:latin typeface="Calibri" pitchFamily="34" charset="0"/>
                <a:ea typeface="Calibri" pitchFamily="34" charset="-122"/>
                <a:cs typeface="Calibri" pitchFamily="34" charset="-120"/>
              </a:rPr>
              <a:t>Yêu cầu cần đạt (Thông tư 32/2018/TT-BGDĐT) diễn đạt bằng động từ hành động theo thang Bloom, giúp GV thiết kế hoạt động học tập &amp; đánh giá chính xác.</a:t>
            </a:r>
            <a:endParaRPr lang="en-US" sz="1300" dirty="0"/>
          </a:p>
        </p:txBody>
      </p:sp>
      <p:sp>
        <p:nvSpPr>
          <p:cNvPr id="6" name="Shape 4"/>
          <p:cNvSpPr/>
          <p:nvPr/>
        </p:nvSpPr>
        <p:spPr>
          <a:xfrm>
            <a:off x="548640" y="2377440"/>
            <a:ext cx="4114800" cy="1371600"/>
          </a:xfrm>
          <a:prstGeom prst="roundRect">
            <a:avLst>
              <a:gd name="adj" fmla="val 5333"/>
            </a:avLst>
          </a:prstGeom>
          <a:solidFill>
            <a:srgbClr val="1B3A5C"/>
          </a:solidFill>
          <a:ln/>
        </p:spPr>
      </p:sp>
      <p:sp>
        <p:nvSpPr>
          <p:cNvPr id="7" name="Text 5"/>
          <p:cNvSpPr/>
          <p:nvPr/>
        </p:nvSpPr>
        <p:spPr>
          <a:xfrm>
            <a:off x="731520" y="2514600"/>
            <a:ext cx="3749040" cy="274320"/>
          </a:xfrm>
          <a:prstGeom prst="rect">
            <a:avLst/>
          </a:prstGeom>
          <a:noFill/>
          <a:ln/>
        </p:spPr>
        <p:txBody>
          <a:bodyPr wrap="square" rtlCol="0" anchor="ctr"/>
          <a:lstStyle/>
          <a:p>
            <a:pPr marL="0" indent="0">
              <a:buNone/>
            </a:pPr>
            <a:r>
              <a:rPr lang="en-US" sz="1000" b="1" dirty="0">
                <a:solidFill>
                  <a:srgbClr val="F2A541"/>
                </a:solidFill>
                <a:latin typeface="Calibri" pitchFamily="34" charset="0"/>
                <a:ea typeface="Calibri" pitchFamily="34" charset="-122"/>
                <a:cs typeface="Calibri" pitchFamily="34" charset="-120"/>
              </a:rPr>
              <a:t>MỤC TIÊU</a:t>
            </a:r>
            <a:endParaRPr lang="en-US" sz="1000" dirty="0"/>
          </a:p>
        </p:txBody>
      </p:sp>
      <p:sp>
        <p:nvSpPr>
          <p:cNvPr id="8" name="Text 6"/>
          <p:cNvSpPr/>
          <p:nvPr/>
        </p:nvSpPr>
        <p:spPr>
          <a:xfrm>
            <a:off x="731520" y="2788920"/>
            <a:ext cx="3749040" cy="868680"/>
          </a:xfrm>
          <a:prstGeom prst="rect">
            <a:avLst/>
          </a:prstGeom>
          <a:noFill/>
          <a:ln/>
        </p:spPr>
        <p:txBody>
          <a:bodyPr wrap="square"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Phát triển tư duy thuật toán</a:t>
            </a:r>
            <a:endParaRPr lang="en-US" sz="1400" dirty="0"/>
          </a:p>
        </p:txBody>
      </p:sp>
      <p:sp>
        <p:nvSpPr>
          <p:cNvPr id="9" name="Shape 7"/>
          <p:cNvSpPr/>
          <p:nvPr/>
        </p:nvSpPr>
        <p:spPr>
          <a:xfrm rot="5400000">
            <a:off x="4892040" y="2880360"/>
            <a:ext cx="457200" cy="365760"/>
          </a:xfrm>
          <a:prstGeom prst="triangle">
            <a:avLst/>
          </a:prstGeom>
          <a:solidFill>
            <a:srgbClr val="F2A541"/>
          </a:solidFill>
          <a:ln/>
        </p:spPr>
      </p:sp>
      <p:sp>
        <p:nvSpPr>
          <p:cNvPr id="10" name="Shape 8"/>
          <p:cNvSpPr/>
          <p:nvPr/>
        </p:nvSpPr>
        <p:spPr>
          <a:xfrm>
            <a:off x="5577840" y="2377440"/>
            <a:ext cx="6035040" cy="1371600"/>
          </a:xfrm>
          <a:prstGeom prst="roundRect">
            <a:avLst>
              <a:gd name="adj" fmla="val 5333"/>
            </a:avLst>
          </a:prstGeom>
          <a:solidFill>
            <a:srgbClr val="FFFFFF"/>
          </a:solidFill>
          <a:ln w="12700">
            <a:solidFill>
              <a:srgbClr val="DCE4EC"/>
            </a:solidFill>
            <a:prstDash val="solid"/>
          </a:ln>
        </p:spPr>
      </p:sp>
      <p:sp>
        <p:nvSpPr>
          <p:cNvPr id="11" name="Text 9"/>
          <p:cNvSpPr/>
          <p:nvPr/>
        </p:nvSpPr>
        <p:spPr>
          <a:xfrm>
            <a:off x="5760720" y="2514600"/>
            <a:ext cx="5669280" cy="274320"/>
          </a:xfrm>
          <a:prstGeom prst="rect">
            <a:avLst/>
          </a:prstGeom>
          <a:noFill/>
          <a:ln/>
        </p:spPr>
        <p:txBody>
          <a:bodyPr wrap="square" rtlCol="0" anchor="ctr"/>
          <a:lstStyle/>
          <a:p>
            <a:pPr marL="0" indent="0">
              <a:buNone/>
            </a:pPr>
            <a:r>
              <a:rPr lang="en-US" sz="1000" b="1" dirty="0">
                <a:solidFill>
                  <a:srgbClr val="3E92CC"/>
                </a:solidFill>
                <a:latin typeface="Calibri" pitchFamily="34" charset="0"/>
                <a:ea typeface="Calibri" pitchFamily="34" charset="-122"/>
                <a:cs typeface="Calibri" pitchFamily="34" charset="-120"/>
              </a:rPr>
              <a:t>YÊU CẦU CẦN ĐẠT</a:t>
            </a:r>
            <a:endParaRPr lang="en-US" sz="1000" dirty="0"/>
          </a:p>
        </p:txBody>
      </p:sp>
      <p:sp>
        <p:nvSpPr>
          <p:cNvPr id="12" name="Text 10"/>
          <p:cNvSpPr/>
          <p:nvPr/>
        </p:nvSpPr>
        <p:spPr>
          <a:xfrm>
            <a:off x="5760720" y="2788920"/>
            <a:ext cx="5669280" cy="868680"/>
          </a:xfrm>
          <a:prstGeom prst="rect">
            <a:avLst/>
          </a:prstGeom>
          <a:noFill/>
          <a:ln/>
        </p:spPr>
        <p:txBody>
          <a:bodyPr wrap="square" rtlCol="0" anchor="t"/>
          <a:lstStyle/>
          <a:p>
            <a:pPr marL="0" indent="0">
              <a:buNone/>
            </a:pPr>
            <a:r>
              <a:rPr lang="en-US" sz="1250" i="1" dirty="0">
                <a:solidFill>
                  <a:srgbClr val="1B2430"/>
                </a:solidFill>
                <a:latin typeface="Calibri" pitchFamily="34" charset="0"/>
                <a:ea typeface="Calibri" pitchFamily="34" charset="-122"/>
                <a:cs typeface="Calibri" pitchFamily="34" charset="-120"/>
              </a:rPr>
              <a:t>Xây dựng được thuật toán giải một bài toán đơn giản bằng phương pháp liệt kê hoặc sơ đồ khối.</a:t>
            </a:r>
            <a:endParaRPr lang="en-US" sz="1250" dirty="0"/>
          </a:p>
        </p:txBody>
      </p:sp>
      <p:sp>
        <p:nvSpPr>
          <p:cNvPr id="13" name="Shape 11"/>
          <p:cNvSpPr/>
          <p:nvPr/>
        </p:nvSpPr>
        <p:spPr>
          <a:xfrm>
            <a:off x="548640" y="4069080"/>
            <a:ext cx="4114800" cy="1371600"/>
          </a:xfrm>
          <a:prstGeom prst="roundRect">
            <a:avLst>
              <a:gd name="adj" fmla="val 5333"/>
            </a:avLst>
          </a:prstGeom>
          <a:solidFill>
            <a:srgbClr val="1B3A5C"/>
          </a:solidFill>
          <a:ln/>
        </p:spPr>
      </p:sp>
      <p:sp>
        <p:nvSpPr>
          <p:cNvPr id="14" name="Text 12"/>
          <p:cNvSpPr/>
          <p:nvPr/>
        </p:nvSpPr>
        <p:spPr>
          <a:xfrm>
            <a:off x="731520" y="4206240"/>
            <a:ext cx="3749040" cy="274320"/>
          </a:xfrm>
          <a:prstGeom prst="rect">
            <a:avLst/>
          </a:prstGeom>
          <a:noFill/>
          <a:ln/>
        </p:spPr>
        <p:txBody>
          <a:bodyPr wrap="square" rtlCol="0" anchor="ctr"/>
          <a:lstStyle/>
          <a:p>
            <a:pPr marL="0" indent="0">
              <a:buNone/>
            </a:pPr>
            <a:r>
              <a:rPr lang="en-US" sz="1000" b="1" dirty="0">
                <a:solidFill>
                  <a:srgbClr val="F2A541"/>
                </a:solidFill>
                <a:latin typeface="Calibri" pitchFamily="34" charset="0"/>
                <a:ea typeface="Calibri" pitchFamily="34" charset="-122"/>
                <a:cs typeface="Calibri" pitchFamily="34" charset="-120"/>
              </a:rPr>
              <a:t>MỤC TIÊU</a:t>
            </a:r>
            <a:endParaRPr lang="en-US" sz="1000" dirty="0"/>
          </a:p>
        </p:txBody>
      </p:sp>
      <p:sp>
        <p:nvSpPr>
          <p:cNvPr id="15" name="Text 13"/>
          <p:cNvSpPr/>
          <p:nvPr/>
        </p:nvSpPr>
        <p:spPr>
          <a:xfrm>
            <a:off x="731520" y="4480560"/>
            <a:ext cx="3749040" cy="868680"/>
          </a:xfrm>
          <a:prstGeom prst="rect">
            <a:avLst/>
          </a:prstGeom>
          <a:noFill/>
          <a:ln/>
        </p:spPr>
        <p:txBody>
          <a:bodyPr wrap="square"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Sử dụng bảng tính an toàn</a:t>
            </a:r>
            <a:endParaRPr lang="en-US" sz="1400" dirty="0"/>
          </a:p>
        </p:txBody>
      </p:sp>
      <p:sp>
        <p:nvSpPr>
          <p:cNvPr id="16" name="Shape 14"/>
          <p:cNvSpPr/>
          <p:nvPr/>
        </p:nvSpPr>
        <p:spPr>
          <a:xfrm rot="5400000">
            <a:off x="4892040" y="4572000"/>
            <a:ext cx="457200" cy="365760"/>
          </a:xfrm>
          <a:prstGeom prst="triangle">
            <a:avLst/>
          </a:prstGeom>
          <a:solidFill>
            <a:srgbClr val="F2A541"/>
          </a:solidFill>
          <a:ln/>
        </p:spPr>
      </p:sp>
      <p:sp>
        <p:nvSpPr>
          <p:cNvPr id="17" name="Shape 15"/>
          <p:cNvSpPr/>
          <p:nvPr/>
        </p:nvSpPr>
        <p:spPr>
          <a:xfrm>
            <a:off x="5577840" y="4069080"/>
            <a:ext cx="6035040" cy="1371600"/>
          </a:xfrm>
          <a:prstGeom prst="roundRect">
            <a:avLst>
              <a:gd name="adj" fmla="val 5333"/>
            </a:avLst>
          </a:prstGeom>
          <a:solidFill>
            <a:srgbClr val="FFFFFF"/>
          </a:solidFill>
          <a:ln w="12700">
            <a:solidFill>
              <a:srgbClr val="DCE4EC"/>
            </a:solidFill>
            <a:prstDash val="solid"/>
          </a:ln>
        </p:spPr>
      </p:sp>
      <p:sp>
        <p:nvSpPr>
          <p:cNvPr id="18" name="Text 16"/>
          <p:cNvSpPr/>
          <p:nvPr/>
        </p:nvSpPr>
        <p:spPr>
          <a:xfrm>
            <a:off x="5760720" y="4206240"/>
            <a:ext cx="5669280" cy="274320"/>
          </a:xfrm>
          <a:prstGeom prst="rect">
            <a:avLst/>
          </a:prstGeom>
          <a:noFill/>
          <a:ln/>
        </p:spPr>
        <p:txBody>
          <a:bodyPr wrap="square" rtlCol="0" anchor="ctr"/>
          <a:lstStyle/>
          <a:p>
            <a:pPr marL="0" indent="0">
              <a:buNone/>
            </a:pPr>
            <a:r>
              <a:rPr lang="en-US" sz="1000" b="1" dirty="0">
                <a:solidFill>
                  <a:srgbClr val="3E92CC"/>
                </a:solidFill>
                <a:latin typeface="Calibri" pitchFamily="34" charset="0"/>
                <a:ea typeface="Calibri" pitchFamily="34" charset="-122"/>
                <a:cs typeface="Calibri" pitchFamily="34" charset="-120"/>
              </a:rPr>
              <a:t>YÊU CẦU CẦN ĐẠT</a:t>
            </a:r>
            <a:endParaRPr lang="en-US" sz="1000" dirty="0"/>
          </a:p>
        </p:txBody>
      </p:sp>
      <p:sp>
        <p:nvSpPr>
          <p:cNvPr id="19" name="Text 17"/>
          <p:cNvSpPr/>
          <p:nvPr/>
        </p:nvSpPr>
        <p:spPr>
          <a:xfrm>
            <a:off x="5760720" y="4480560"/>
            <a:ext cx="5669280" cy="868680"/>
          </a:xfrm>
          <a:prstGeom prst="rect">
            <a:avLst/>
          </a:prstGeom>
          <a:noFill/>
          <a:ln/>
        </p:spPr>
        <p:txBody>
          <a:bodyPr wrap="square" rtlCol="0" anchor="t"/>
          <a:lstStyle/>
          <a:p>
            <a:pPr marL="0" indent="0">
              <a:buNone/>
            </a:pPr>
            <a:r>
              <a:rPr lang="en-US" sz="1250" i="1" dirty="0">
                <a:solidFill>
                  <a:srgbClr val="1B2430"/>
                </a:solidFill>
                <a:latin typeface="Calibri" pitchFamily="34" charset="0"/>
                <a:ea typeface="Calibri" pitchFamily="34" charset="-122"/>
                <a:cs typeface="Calibri" pitchFamily="34" charset="-120"/>
              </a:rPr>
              <a:t>Thực hiện được thao tác nhập, chỉnh sửa, định dạng, tính toán cơ bản trên bảng tính; sử dụng công thức và hàm.</a:t>
            </a:r>
            <a:endParaRPr lang="en-US" sz="1250" dirty="0"/>
          </a:p>
        </p:txBody>
      </p:sp>
      <p:sp>
        <p:nvSpPr>
          <p:cNvPr id="20" name="Text 18"/>
          <p:cNvSpPr/>
          <p:nvPr/>
        </p:nvSpPr>
        <p:spPr>
          <a:xfrm>
            <a:off x="548640" y="5806440"/>
            <a:ext cx="11064240" cy="457200"/>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Việc nắm vững mục tiêu giúp giáo viên chuyển hóa chương trình thành kế hoạch bài dạy phù hợp với từng đối tượng học sinh.</a:t>
            </a:r>
            <a:endParaRPr lang="en-US" sz="12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2.3</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Quan điểm phát triển chương trình môn Tin học</a:t>
            </a:r>
            <a:endParaRPr lang="en-US" sz="3000" dirty="0"/>
          </a:p>
        </p:txBody>
      </p:sp>
      <p:sp>
        <p:nvSpPr>
          <p:cNvPr id="5" name="Shape 3"/>
          <p:cNvSpPr/>
          <p:nvPr/>
        </p:nvSpPr>
        <p:spPr>
          <a:xfrm>
            <a:off x="548640" y="1783080"/>
            <a:ext cx="5440680" cy="2084832"/>
          </a:xfrm>
          <a:prstGeom prst="roundRect">
            <a:avLst>
              <a:gd name="adj" fmla="val 4386"/>
            </a:avLst>
          </a:prstGeom>
          <a:solidFill>
            <a:srgbClr val="FFFFFF"/>
          </a:solidFill>
          <a:ln w="12700">
            <a:solidFill>
              <a:srgbClr val="DCE4EC"/>
            </a:solidFill>
            <a:prstDash val="solid"/>
          </a:ln>
        </p:spPr>
      </p:sp>
      <p:sp>
        <p:nvSpPr>
          <p:cNvPr id="6" name="Shape 4"/>
          <p:cNvSpPr/>
          <p:nvPr/>
        </p:nvSpPr>
        <p:spPr>
          <a:xfrm>
            <a:off x="777240" y="2011680"/>
            <a:ext cx="502920" cy="502920"/>
          </a:xfrm>
          <a:prstGeom prst="ellipse">
            <a:avLst/>
          </a:prstGeom>
          <a:solidFill>
            <a:srgbClr val="1B3A5C"/>
          </a:solidFill>
          <a:ln/>
        </p:spPr>
      </p:sp>
      <p:sp>
        <p:nvSpPr>
          <p:cNvPr id="7" name="Text 5"/>
          <p:cNvSpPr/>
          <p:nvPr/>
        </p:nvSpPr>
        <p:spPr>
          <a:xfrm>
            <a:off x="777240" y="201168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8" name="Text 6"/>
          <p:cNvSpPr/>
          <p:nvPr/>
        </p:nvSpPr>
        <p:spPr>
          <a:xfrm>
            <a:off x="1417320" y="1965960"/>
            <a:ext cx="4389120" cy="457200"/>
          </a:xfrm>
          <a:prstGeom prst="rect">
            <a:avLst/>
          </a:prstGeom>
          <a:noFill/>
          <a:ln/>
        </p:spPr>
        <p:txBody>
          <a:bodyPr wrap="square" rtlCol="0" anchor="ctr"/>
          <a:lstStyle/>
          <a:p>
            <a:pPr marL="0" indent="0">
              <a:buNone/>
            </a:pPr>
            <a:r>
              <a:rPr lang="en-US" sz="1450" b="1" dirty="0">
                <a:solidFill>
                  <a:srgbClr val="1B3A5C"/>
                </a:solidFill>
                <a:latin typeface="Calibri" pitchFamily="34" charset="0"/>
                <a:ea typeface="Calibri" pitchFamily="34" charset="-122"/>
                <a:cs typeface="Calibri" pitchFamily="34" charset="-120"/>
              </a:rPr>
              <a:t>Quan điểm vĩ mô</a:t>
            </a:r>
            <a:endParaRPr lang="en-US" sz="1450" dirty="0"/>
          </a:p>
        </p:txBody>
      </p:sp>
      <p:sp>
        <p:nvSpPr>
          <p:cNvPr id="9" name="Text 7"/>
          <p:cNvSpPr/>
          <p:nvPr/>
        </p:nvSpPr>
        <p:spPr>
          <a:xfrm>
            <a:off x="822960" y="2560320"/>
            <a:ext cx="4892040" cy="117043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Thống nhất mục tiêu – nội dung – phương pháp – đánh giá; đồng bộ chính sách, đội ngũ GV, cơ sở vật chất, hạ tầng công nghệ.</a:t>
            </a:r>
            <a:endParaRPr lang="en-US" sz="1150" dirty="0"/>
          </a:p>
        </p:txBody>
      </p:sp>
      <p:sp>
        <p:nvSpPr>
          <p:cNvPr id="10" name="Shape 8"/>
          <p:cNvSpPr/>
          <p:nvPr/>
        </p:nvSpPr>
        <p:spPr>
          <a:xfrm>
            <a:off x="6172200" y="1783080"/>
            <a:ext cx="5440680" cy="2084832"/>
          </a:xfrm>
          <a:prstGeom prst="roundRect">
            <a:avLst>
              <a:gd name="adj" fmla="val 4386"/>
            </a:avLst>
          </a:prstGeom>
          <a:solidFill>
            <a:srgbClr val="FFFFFF"/>
          </a:solidFill>
          <a:ln w="12700">
            <a:solidFill>
              <a:srgbClr val="DCE4EC"/>
            </a:solidFill>
            <a:prstDash val="solid"/>
          </a:ln>
        </p:spPr>
      </p:sp>
      <p:sp>
        <p:nvSpPr>
          <p:cNvPr id="11" name="Shape 9"/>
          <p:cNvSpPr/>
          <p:nvPr/>
        </p:nvSpPr>
        <p:spPr>
          <a:xfrm>
            <a:off x="6400800" y="2011680"/>
            <a:ext cx="502920" cy="502920"/>
          </a:xfrm>
          <a:prstGeom prst="ellipse">
            <a:avLst/>
          </a:prstGeom>
          <a:solidFill>
            <a:srgbClr val="3E92CC"/>
          </a:solidFill>
          <a:ln/>
        </p:spPr>
      </p:sp>
      <p:sp>
        <p:nvSpPr>
          <p:cNvPr id="12" name="Text 10"/>
          <p:cNvSpPr/>
          <p:nvPr/>
        </p:nvSpPr>
        <p:spPr>
          <a:xfrm>
            <a:off x="6400800" y="201168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3" name="Text 11"/>
          <p:cNvSpPr/>
          <p:nvPr/>
        </p:nvSpPr>
        <p:spPr>
          <a:xfrm>
            <a:off x="7040880" y="1965960"/>
            <a:ext cx="4389120" cy="457200"/>
          </a:xfrm>
          <a:prstGeom prst="rect">
            <a:avLst/>
          </a:prstGeom>
          <a:noFill/>
          <a:ln/>
        </p:spPr>
        <p:txBody>
          <a:bodyPr wrap="square" rtlCol="0" anchor="ctr"/>
          <a:lstStyle/>
          <a:p>
            <a:pPr marL="0" indent="0">
              <a:buNone/>
            </a:pPr>
            <a:r>
              <a:rPr lang="en-US" sz="1450" b="1" dirty="0">
                <a:solidFill>
                  <a:srgbClr val="1B3A5C"/>
                </a:solidFill>
                <a:latin typeface="Calibri" pitchFamily="34" charset="0"/>
                <a:ea typeface="Calibri" pitchFamily="34" charset="-122"/>
                <a:cs typeface="Calibri" pitchFamily="34" charset="-120"/>
              </a:rPr>
              <a:t>Gắn với đặc thù môn học</a:t>
            </a:r>
            <a:endParaRPr lang="en-US" sz="1450" dirty="0"/>
          </a:p>
        </p:txBody>
      </p:sp>
      <p:sp>
        <p:nvSpPr>
          <p:cNvPr id="14" name="Text 12"/>
          <p:cNvSpPr/>
          <p:nvPr/>
        </p:nvSpPr>
        <p:spPr>
          <a:xfrm>
            <a:off x="6446520" y="2560320"/>
            <a:ext cx="4892040" cy="117043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Không dạy sản phẩm công nghệ cụ thể; tập trung tri thức cốt lõi, bền vững: thông tin – dữ liệu, thuật toán, tư duy máy tính.</a:t>
            </a:r>
            <a:endParaRPr lang="en-US" sz="1150" dirty="0"/>
          </a:p>
        </p:txBody>
      </p:sp>
      <p:sp>
        <p:nvSpPr>
          <p:cNvPr id="15" name="Shape 13"/>
          <p:cNvSpPr/>
          <p:nvPr/>
        </p:nvSpPr>
        <p:spPr>
          <a:xfrm>
            <a:off x="548640" y="4050792"/>
            <a:ext cx="5440680" cy="2084832"/>
          </a:xfrm>
          <a:prstGeom prst="roundRect">
            <a:avLst>
              <a:gd name="adj" fmla="val 4386"/>
            </a:avLst>
          </a:prstGeom>
          <a:solidFill>
            <a:srgbClr val="FFFFFF"/>
          </a:solidFill>
          <a:ln w="12700">
            <a:solidFill>
              <a:srgbClr val="DCE4EC"/>
            </a:solidFill>
            <a:prstDash val="solid"/>
          </a:ln>
        </p:spPr>
      </p:sp>
      <p:sp>
        <p:nvSpPr>
          <p:cNvPr id="16" name="Shape 14"/>
          <p:cNvSpPr/>
          <p:nvPr/>
        </p:nvSpPr>
        <p:spPr>
          <a:xfrm>
            <a:off x="777240" y="4279392"/>
            <a:ext cx="502920" cy="502920"/>
          </a:xfrm>
          <a:prstGeom prst="ellipse">
            <a:avLst/>
          </a:prstGeom>
          <a:solidFill>
            <a:srgbClr val="5FA35C"/>
          </a:solidFill>
          <a:ln/>
        </p:spPr>
      </p:sp>
      <p:sp>
        <p:nvSpPr>
          <p:cNvPr id="17" name="Text 15"/>
          <p:cNvSpPr/>
          <p:nvPr/>
        </p:nvSpPr>
        <p:spPr>
          <a:xfrm>
            <a:off x="777240" y="4279392"/>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8" name="Text 16"/>
          <p:cNvSpPr/>
          <p:nvPr/>
        </p:nvSpPr>
        <p:spPr>
          <a:xfrm>
            <a:off x="1417320" y="4233672"/>
            <a:ext cx="4389120" cy="457200"/>
          </a:xfrm>
          <a:prstGeom prst="rect">
            <a:avLst/>
          </a:prstGeom>
          <a:noFill/>
          <a:ln/>
        </p:spPr>
        <p:txBody>
          <a:bodyPr wrap="square" rtlCol="0" anchor="ctr"/>
          <a:lstStyle/>
          <a:p>
            <a:pPr marL="0" indent="0">
              <a:buNone/>
            </a:pPr>
            <a:r>
              <a:rPr lang="en-US" sz="1450" b="1" dirty="0">
                <a:solidFill>
                  <a:srgbClr val="1B3A5C"/>
                </a:solidFill>
                <a:latin typeface="Calibri" pitchFamily="34" charset="0"/>
                <a:ea typeface="Calibri" pitchFamily="34" charset="-122"/>
                <a:cs typeface="Calibri" pitchFamily="34" charset="-120"/>
              </a:rPr>
              <a:t>Gắn với địa phương, nhà trường</a:t>
            </a:r>
            <a:endParaRPr lang="en-US" sz="1450" dirty="0"/>
          </a:p>
        </p:txBody>
      </p:sp>
      <p:sp>
        <p:nvSpPr>
          <p:cNvPr id="19" name="Text 17"/>
          <p:cNvSpPr/>
          <p:nvPr/>
        </p:nvSpPr>
        <p:spPr>
          <a:xfrm>
            <a:off x="822960" y="4828032"/>
            <a:ext cx="4892040" cy="117043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Bảo đảm nội dung phổ cập thống nhất toàn quốc; trao quyền địa phương mở rộng, nâng cao nội dung phù hợp điều kiện thực tế.</a:t>
            </a:r>
            <a:endParaRPr lang="en-US" sz="1150" dirty="0"/>
          </a:p>
        </p:txBody>
      </p:sp>
      <p:sp>
        <p:nvSpPr>
          <p:cNvPr id="20" name="Shape 18"/>
          <p:cNvSpPr/>
          <p:nvPr/>
        </p:nvSpPr>
        <p:spPr>
          <a:xfrm>
            <a:off x="6172200" y="4050792"/>
            <a:ext cx="5440680" cy="2084832"/>
          </a:xfrm>
          <a:prstGeom prst="roundRect">
            <a:avLst>
              <a:gd name="adj" fmla="val 4386"/>
            </a:avLst>
          </a:prstGeom>
          <a:solidFill>
            <a:srgbClr val="FFFFFF"/>
          </a:solidFill>
          <a:ln w="12700">
            <a:solidFill>
              <a:srgbClr val="DCE4EC"/>
            </a:solidFill>
            <a:prstDash val="solid"/>
          </a:ln>
        </p:spPr>
      </p:sp>
      <p:sp>
        <p:nvSpPr>
          <p:cNvPr id="21" name="Shape 19"/>
          <p:cNvSpPr/>
          <p:nvPr/>
        </p:nvSpPr>
        <p:spPr>
          <a:xfrm>
            <a:off x="6400800" y="4279392"/>
            <a:ext cx="502920" cy="502920"/>
          </a:xfrm>
          <a:prstGeom prst="ellipse">
            <a:avLst/>
          </a:prstGeom>
          <a:solidFill>
            <a:srgbClr val="F2A541"/>
          </a:solidFill>
          <a:ln/>
        </p:spPr>
      </p:sp>
      <p:sp>
        <p:nvSpPr>
          <p:cNvPr id="22" name="Text 20"/>
          <p:cNvSpPr/>
          <p:nvPr/>
        </p:nvSpPr>
        <p:spPr>
          <a:xfrm>
            <a:off x="6400800" y="4279392"/>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4</a:t>
            </a:r>
            <a:endParaRPr lang="en-US" sz="1210" dirty="0"/>
          </a:p>
        </p:txBody>
      </p:sp>
      <p:sp>
        <p:nvSpPr>
          <p:cNvPr id="23" name="Text 21"/>
          <p:cNvSpPr/>
          <p:nvPr/>
        </p:nvSpPr>
        <p:spPr>
          <a:xfrm>
            <a:off x="7040880" y="4233672"/>
            <a:ext cx="4389120" cy="457200"/>
          </a:xfrm>
          <a:prstGeom prst="rect">
            <a:avLst/>
          </a:prstGeom>
          <a:noFill/>
          <a:ln/>
        </p:spPr>
        <p:txBody>
          <a:bodyPr wrap="square" rtlCol="0" anchor="ctr"/>
          <a:lstStyle/>
          <a:p>
            <a:pPr marL="0" indent="0">
              <a:buNone/>
            </a:pPr>
            <a:r>
              <a:rPr lang="en-US" sz="1450" b="1" dirty="0">
                <a:solidFill>
                  <a:srgbClr val="1B3A5C"/>
                </a:solidFill>
                <a:latin typeface="Calibri" pitchFamily="34" charset="0"/>
                <a:ea typeface="Calibri" pitchFamily="34" charset="-122"/>
                <a:cs typeface="Calibri" pitchFamily="34" charset="-120"/>
              </a:rPr>
              <a:t>Tính mở</a:t>
            </a:r>
            <a:endParaRPr lang="en-US" sz="1450" dirty="0"/>
          </a:p>
        </p:txBody>
      </p:sp>
      <p:sp>
        <p:nvSpPr>
          <p:cNvPr id="24" name="Text 22"/>
          <p:cNvSpPr/>
          <p:nvPr/>
        </p:nvSpPr>
        <p:spPr>
          <a:xfrm>
            <a:off x="6446520" y="4828032"/>
            <a:ext cx="4892040" cy="117043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Không phụ thuộc thiết bị/phần mềm cụ thể; cấu trúc gồm chủ đề bắt buộc và chủ đề/chuyên đề lựa chọn, phân hóa linh hoạt.</a:t>
            </a:r>
            <a:endParaRPr lang="en-US" sz="1150" dirty="0"/>
          </a:p>
        </p:txBody>
      </p:sp>
      <p:sp>
        <p:nvSpPr>
          <p:cNvPr id="25" name="Text 23"/>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2.4</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Ba mạch nội dung xuyên suốt (lớp 3 → 12)</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291840"/>
                <a:gridCol w="3840480"/>
                <a:gridCol w="3931920"/>
              </a:tblGrid>
              <a:tr h="50292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Mạch</a:t>
                      </a:r>
                      <a:endParaRPr lang="en-US" sz="12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Bản chất</a:t>
                      </a:r>
                      <a:endParaRPr lang="en-US" sz="12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Ví dụ nội dung điển hình</a:t>
                      </a:r>
                      <a:endParaRPr lang="en-US" sz="12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r>
              <a:tr h="105156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CS — Khoa học máy tính</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Tư duy máy tính, lập trình, thuật toán, cấu trúc dữ liệu, mạng máy tính</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Lập trình Python, thuật toán sắp xếp, cơ sở dữ liệu</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105156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ICT — Công nghệ thông tin &amp; Truyền thông</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Ứng dụng công nghệ trong học tập, làm việc, đời sống</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Soạn thảo văn bản, bảng tính, an toàn thông tin</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1051560">
                <a:tc>
                  <a:txBody>
                    <a:bodyPr/>
                    <a:lstStyle/>
                    <a:p>
                      <a:pPr marL="0" indent="0" algn="l">
                        <a:buNone/>
                      </a:pPr>
                      <a:r>
                        <a:rPr lang="en-US" sz="1150" b="1" dirty="0">
                          <a:solidFill>
                            <a:srgbClr val="1B3A5C"/>
                          </a:solidFill>
                          <a:latin typeface="Calibri" pitchFamily="34" charset="0"/>
                          <a:ea typeface="Calibri" pitchFamily="34" charset="-122"/>
                          <a:cs typeface="Calibri" pitchFamily="34" charset="-120"/>
                        </a:rPr>
                        <a:t>DL — Học vấn số hóa phổ thông</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Trang bị năng lực số cốt lõi để trở thành công dân số có trách nhiệm</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430"/>
                          </a:solidFill>
                          <a:latin typeface="Calibri" pitchFamily="34" charset="0"/>
                          <a:ea typeface="Calibri" pitchFamily="34" charset="-122"/>
                          <a:cs typeface="Calibri" pitchFamily="34" charset="-120"/>
                        </a:rPr>
                        <a:t>Nhận diện tin giả, bảo vệ thông tin cá nhân, ứng xử văn hóa mạng xã hội</a:t>
                      </a:r>
                      <a:endParaRPr lang="en-US" sz="115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623560"/>
            <a:ext cx="11064240" cy="502920"/>
          </a:xfrm>
          <a:prstGeom prst="rect">
            <a:avLst/>
          </a:prstGeom>
          <a:noFill/>
          <a:ln/>
        </p:spPr>
        <p:txBody>
          <a:bodyPr wrap="square" rtlCol="0" anchor="ctr"/>
          <a:lstStyle/>
          <a:p>
            <a:pPr marL="0" indent="0">
              <a:buNone/>
            </a:pPr>
            <a:r>
              <a:rPr lang="en-US" sz="1150" i="1" dirty="0">
                <a:solidFill>
                  <a:srgbClr val="5B6B79"/>
                </a:solidFill>
                <a:latin typeface="Calibri" pitchFamily="34" charset="0"/>
                <a:ea typeface="Calibri" pitchFamily="34" charset="-122"/>
                <a:cs typeface="Calibri" pitchFamily="34" charset="-120"/>
              </a:rPr>
              <a:t>Ở Tiểu học/THCS: ba mạch tích hợp trong một môn học. Ở THPT: HS chọn định hướng Tin học ứng dụng (thiên ICT) hoặc Khoa học máy tính (thiên CS).</a:t>
            </a:r>
            <a:endParaRPr lang="en-US" sz="1150" dirty="0"/>
          </a:p>
        </p:txBody>
      </p:sp>
      <p:sp>
        <p:nvSpPr>
          <p:cNvPr id="7" name="Text 4"/>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2.4</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2700" b="1" dirty="0">
                <a:solidFill>
                  <a:srgbClr val="1B3A5C"/>
                </a:solidFill>
                <a:latin typeface="Calibri" pitchFamily="34" charset="0"/>
                <a:ea typeface="Calibri" pitchFamily="34" charset="-122"/>
                <a:cs typeface="Calibri" pitchFamily="34" charset="-120"/>
              </a:rPr>
              <a:t>Cấu trúc nội dung theo cấp học</a:t>
            </a:r>
            <a:endParaRPr lang="en-US" sz="2700" dirty="0"/>
          </a:p>
        </p:txBody>
      </p:sp>
      <p:sp>
        <p:nvSpPr>
          <p:cNvPr id="5" name="Shape 3"/>
          <p:cNvSpPr/>
          <p:nvPr/>
        </p:nvSpPr>
        <p:spPr>
          <a:xfrm>
            <a:off x="548640" y="1691640"/>
            <a:ext cx="3639312" cy="4480560"/>
          </a:xfrm>
          <a:prstGeom prst="roundRect">
            <a:avLst>
              <a:gd name="adj" fmla="val 2513"/>
            </a:avLst>
          </a:prstGeom>
          <a:solidFill>
            <a:srgbClr val="FFFFFF"/>
          </a:solidFill>
          <a:ln w="12700">
            <a:solidFill>
              <a:srgbClr val="DCE4EC"/>
            </a:solidFill>
            <a:prstDash val="solid"/>
          </a:ln>
        </p:spPr>
      </p:sp>
      <p:sp>
        <p:nvSpPr>
          <p:cNvPr id="6" name="Shape 4"/>
          <p:cNvSpPr/>
          <p:nvPr/>
        </p:nvSpPr>
        <p:spPr>
          <a:xfrm>
            <a:off x="548640" y="1691640"/>
            <a:ext cx="3639312" cy="594360"/>
          </a:xfrm>
          <a:prstGeom prst="roundRect">
            <a:avLst>
              <a:gd name="adj" fmla="val 15385"/>
            </a:avLst>
          </a:prstGeom>
          <a:solidFill>
            <a:srgbClr val="97BC62"/>
          </a:solidFill>
          <a:ln/>
        </p:spPr>
      </p:sp>
      <p:sp>
        <p:nvSpPr>
          <p:cNvPr id="7" name="Shape 5"/>
          <p:cNvSpPr/>
          <p:nvPr/>
        </p:nvSpPr>
        <p:spPr>
          <a:xfrm>
            <a:off x="548640" y="2103120"/>
            <a:ext cx="3639312" cy="182880"/>
          </a:xfrm>
          <a:prstGeom prst="rect">
            <a:avLst/>
          </a:prstGeom>
          <a:solidFill>
            <a:srgbClr val="97BC62"/>
          </a:solidFill>
          <a:ln/>
        </p:spPr>
      </p:sp>
      <p:sp>
        <p:nvSpPr>
          <p:cNvPr id="8" name="Text 6"/>
          <p:cNvSpPr/>
          <p:nvPr/>
        </p:nvSpPr>
        <p:spPr>
          <a:xfrm>
            <a:off x="548640" y="1691640"/>
            <a:ext cx="3639312" cy="594360"/>
          </a:xfrm>
          <a:prstGeom prst="rect">
            <a:avLst/>
          </a:prstGeom>
          <a:noFill/>
          <a:ln/>
        </p:spPr>
        <p:txBody>
          <a:bodyPr wrap="square" rtlCol="0" anchor="ctr"/>
          <a:lstStyle/>
          <a:p>
            <a:pPr marL="0" indent="0" algn="ctr">
              <a:buNone/>
            </a:pPr>
            <a:r>
              <a:rPr lang="en-US" sz="1500" b="1" dirty="0">
                <a:solidFill>
                  <a:srgbClr val="0F2138"/>
                </a:solidFill>
                <a:latin typeface="Calibri" pitchFamily="34" charset="0"/>
                <a:ea typeface="Calibri" pitchFamily="34" charset="-122"/>
                <a:cs typeface="Calibri" pitchFamily="34" charset="-120"/>
              </a:rPr>
              <a:t>Tiểu học (3–5)</a:t>
            </a:r>
            <a:endParaRPr lang="en-US" sz="1500" dirty="0"/>
          </a:p>
        </p:txBody>
      </p:sp>
      <p:sp>
        <p:nvSpPr>
          <p:cNvPr id="9" name="Text 7"/>
          <p:cNvSpPr/>
          <p:nvPr/>
        </p:nvSpPr>
        <p:spPr>
          <a:xfrm>
            <a:off x="749808" y="2468880"/>
            <a:ext cx="3236976" cy="3566160"/>
          </a:xfrm>
          <a:prstGeom prst="rect">
            <a:avLst/>
          </a:prstGeom>
          <a:noFill/>
          <a:ln/>
        </p:spPr>
        <p:txBody>
          <a:bodyPr wrap="square" rtlCol="0" anchor="t"/>
          <a:lstStyle/>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L3: Máy tính và em; đạo đức, pháp luật số</a:t>
            </a:r>
            <a:endParaRPr lang="en-US" sz="1150" dirty="0"/>
          </a:p>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L4: Ứng dụng tin học; giải quyết vấn đề</a:t>
            </a:r>
            <a:endParaRPr lang="en-US" sz="1150" dirty="0"/>
          </a:p>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L5: Máy tính &amp; cộng đồng; tư duy máy tính</a:t>
            </a:r>
            <a:endParaRPr lang="en-US" sz="1150" dirty="0"/>
          </a:p>
        </p:txBody>
      </p:sp>
      <p:sp>
        <p:nvSpPr>
          <p:cNvPr id="10" name="Shape 8"/>
          <p:cNvSpPr/>
          <p:nvPr/>
        </p:nvSpPr>
        <p:spPr>
          <a:xfrm>
            <a:off x="4370832" y="1691640"/>
            <a:ext cx="3639312" cy="4480560"/>
          </a:xfrm>
          <a:prstGeom prst="roundRect">
            <a:avLst>
              <a:gd name="adj" fmla="val 2513"/>
            </a:avLst>
          </a:prstGeom>
          <a:solidFill>
            <a:srgbClr val="FFFFFF"/>
          </a:solidFill>
          <a:ln w="12700">
            <a:solidFill>
              <a:srgbClr val="DCE4EC"/>
            </a:solidFill>
            <a:prstDash val="solid"/>
          </a:ln>
        </p:spPr>
      </p:sp>
      <p:sp>
        <p:nvSpPr>
          <p:cNvPr id="11" name="Shape 9"/>
          <p:cNvSpPr/>
          <p:nvPr/>
        </p:nvSpPr>
        <p:spPr>
          <a:xfrm>
            <a:off x="4370832" y="1691640"/>
            <a:ext cx="3639312" cy="594360"/>
          </a:xfrm>
          <a:prstGeom prst="roundRect">
            <a:avLst>
              <a:gd name="adj" fmla="val 15385"/>
            </a:avLst>
          </a:prstGeom>
          <a:solidFill>
            <a:srgbClr val="3E92CC"/>
          </a:solidFill>
          <a:ln/>
        </p:spPr>
      </p:sp>
      <p:sp>
        <p:nvSpPr>
          <p:cNvPr id="12" name="Shape 10"/>
          <p:cNvSpPr/>
          <p:nvPr/>
        </p:nvSpPr>
        <p:spPr>
          <a:xfrm>
            <a:off x="4370832" y="2103120"/>
            <a:ext cx="3639312" cy="182880"/>
          </a:xfrm>
          <a:prstGeom prst="rect">
            <a:avLst/>
          </a:prstGeom>
          <a:solidFill>
            <a:srgbClr val="3E92CC"/>
          </a:solidFill>
          <a:ln/>
        </p:spPr>
      </p:sp>
      <p:sp>
        <p:nvSpPr>
          <p:cNvPr id="13" name="Text 11"/>
          <p:cNvSpPr/>
          <p:nvPr/>
        </p:nvSpPr>
        <p:spPr>
          <a:xfrm>
            <a:off x="4370832" y="1691640"/>
            <a:ext cx="3639312" cy="594360"/>
          </a:xfrm>
          <a:prstGeom prst="rect">
            <a:avLst/>
          </a:prstGeom>
          <a:noFill/>
          <a:ln/>
        </p:spPr>
        <p:txBody>
          <a:bodyPr wrap="square" rtlCol="0" anchor="ctr"/>
          <a:lstStyle/>
          <a:p>
            <a:pPr marL="0" indent="0" algn="ctr">
              <a:buNone/>
            </a:pPr>
            <a:r>
              <a:rPr lang="en-US" sz="1500" b="1" dirty="0">
                <a:solidFill>
                  <a:srgbClr val="0F2138"/>
                </a:solidFill>
                <a:latin typeface="Calibri" pitchFamily="34" charset="0"/>
                <a:ea typeface="Calibri" pitchFamily="34" charset="-122"/>
                <a:cs typeface="Calibri" pitchFamily="34" charset="-120"/>
              </a:rPr>
              <a:t>THCS (6–9)</a:t>
            </a:r>
            <a:endParaRPr lang="en-US" sz="1500" dirty="0"/>
          </a:p>
        </p:txBody>
      </p:sp>
      <p:sp>
        <p:nvSpPr>
          <p:cNvPr id="14" name="Text 12"/>
          <p:cNvSpPr/>
          <p:nvPr/>
        </p:nvSpPr>
        <p:spPr>
          <a:xfrm>
            <a:off x="4572000" y="2468880"/>
            <a:ext cx="3236976" cy="3566160"/>
          </a:xfrm>
          <a:prstGeom prst="rect">
            <a:avLst/>
          </a:prstGeom>
          <a:noFill/>
          <a:ln/>
        </p:spPr>
        <p:txBody>
          <a:bodyPr wrap="square" rtlCol="0" anchor="t"/>
          <a:lstStyle/>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L6: Tư duy máy tính, giới thiệu thuật toán</a:t>
            </a:r>
            <a:endParaRPr lang="en-US" sz="1150" dirty="0"/>
          </a:p>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L7: Thuật toán &amp; lập trình căn bản</a:t>
            </a:r>
            <a:endParaRPr lang="en-US" sz="1150" dirty="0"/>
          </a:p>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L8: Lập trình có cấu trúc; bảng tính điện tử</a:t>
            </a:r>
            <a:endParaRPr lang="en-US" sz="1150" dirty="0"/>
          </a:p>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L9: Dự án tin học, hướng nghiệp</a:t>
            </a:r>
            <a:endParaRPr lang="en-US" sz="1150" dirty="0"/>
          </a:p>
        </p:txBody>
      </p:sp>
      <p:sp>
        <p:nvSpPr>
          <p:cNvPr id="15" name="Shape 13"/>
          <p:cNvSpPr/>
          <p:nvPr/>
        </p:nvSpPr>
        <p:spPr>
          <a:xfrm>
            <a:off x="8193024" y="1691640"/>
            <a:ext cx="3639312" cy="4480560"/>
          </a:xfrm>
          <a:prstGeom prst="roundRect">
            <a:avLst>
              <a:gd name="adj" fmla="val 2513"/>
            </a:avLst>
          </a:prstGeom>
          <a:solidFill>
            <a:srgbClr val="FFFFFF"/>
          </a:solidFill>
          <a:ln w="12700">
            <a:solidFill>
              <a:srgbClr val="DCE4EC"/>
            </a:solidFill>
            <a:prstDash val="solid"/>
          </a:ln>
        </p:spPr>
      </p:sp>
      <p:sp>
        <p:nvSpPr>
          <p:cNvPr id="16" name="Shape 14"/>
          <p:cNvSpPr/>
          <p:nvPr/>
        </p:nvSpPr>
        <p:spPr>
          <a:xfrm>
            <a:off x="8193024" y="1691640"/>
            <a:ext cx="3639312" cy="594360"/>
          </a:xfrm>
          <a:prstGeom prst="roundRect">
            <a:avLst>
              <a:gd name="adj" fmla="val 15385"/>
            </a:avLst>
          </a:prstGeom>
          <a:solidFill>
            <a:srgbClr val="F2A541"/>
          </a:solidFill>
          <a:ln/>
        </p:spPr>
      </p:sp>
      <p:sp>
        <p:nvSpPr>
          <p:cNvPr id="17" name="Shape 15"/>
          <p:cNvSpPr/>
          <p:nvPr/>
        </p:nvSpPr>
        <p:spPr>
          <a:xfrm>
            <a:off x="8193024" y="2103120"/>
            <a:ext cx="3639312" cy="182880"/>
          </a:xfrm>
          <a:prstGeom prst="rect">
            <a:avLst/>
          </a:prstGeom>
          <a:solidFill>
            <a:srgbClr val="F2A541"/>
          </a:solidFill>
          <a:ln/>
        </p:spPr>
      </p:sp>
      <p:sp>
        <p:nvSpPr>
          <p:cNvPr id="18" name="Text 16"/>
          <p:cNvSpPr/>
          <p:nvPr/>
        </p:nvSpPr>
        <p:spPr>
          <a:xfrm>
            <a:off x="8193024" y="1691640"/>
            <a:ext cx="3639312" cy="594360"/>
          </a:xfrm>
          <a:prstGeom prst="rect">
            <a:avLst/>
          </a:prstGeom>
          <a:noFill/>
          <a:ln/>
        </p:spPr>
        <p:txBody>
          <a:bodyPr wrap="square" rtlCol="0" anchor="ctr"/>
          <a:lstStyle/>
          <a:p>
            <a:pPr marL="0" indent="0" algn="ctr">
              <a:buNone/>
            </a:pPr>
            <a:r>
              <a:rPr lang="en-US" sz="1500" b="1" dirty="0">
                <a:solidFill>
                  <a:srgbClr val="0F2138"/>
                </a:solidFill>
                <a:latin typeface="Calibri" pitchFamily="34" charset="0"/>
                <a:ea typeface="Calibri" pitchFamily="34" charset="-122"/>
                <a:cs typeface="Calibri" pitchFamily="34" charset="-120"/>
              </a:rPr>
              <a:t>THPT (10–12)</a:t>
            </a:r>
            <a:endParaRPr lang="en-US" sz="1500" dirty="0"/>
          </a:p>
        </p:txBody>
      </p:sp>
      <p:sp>
        <p:nvSpPr>
          <p:cNvPr id="19" name="Text 17"/>
          <p:cNvSpPr/>
          <p:nvPr/>
        </p:nvSpPr>
        <p:spPr>
          <a:xfrm>
            <a:off x="8394192" y="2468880"/>
            <a:ext cx="3236976" cy="3566160"/>
          </a:xfrm>
          <a:prstGeom prst="rect">
            <a:avLst/>
          </a:prstGeom>
          <a:noFill/>
          <a:ln/>
        </p:spPr>
        <p:txBody>
          <a:bodyPr wrap="square" rtlCol="0" anchor="t"/>
          <a:lstStyle/>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Định hướng A (ICT): ứng dụng văn phòng nâng cao, an toàn TT, dự án số</a:t>
            </a:r>
            <a:endParaRPr lang="en-US" sz="1150" dirty="0"/>
          </a:p>
          <a:p>
            <a:pPr marL="177800" indent="-177800" algn="l">
              <a:lnSpc>
                <a:spcPct val="125000"/>
              </a:lnSpc>
              <a:buSzPct val="100000"/>
              <a:buChar char="▪"/>
            </a:pPr>
            <a:r>
              <a:rPr lang="en-US" sz="1150" dirty="0">
                <a:solidFill>
                  <a:srgbClr val="1B2430"/>
                </a:solidFill>
                <a:latin typeface="Calibri" pitchFamily="34" charset="0"/>
                <a:ea typeface="Calibri" pitchFamily="34" charset="-122"/>
                <a:cs typeface="Calibri" pitchFamily="34" charset="-120"/>
              </a:rPr>
              <a:t>Định hướng B (CS): Python nâng cao, cấu trúc dữ liệu, CSDL, mạng máy tính</a:t>
            </a:r>
            <a:endParaRPr lang="en-US" sz="1150" dirty="0"/>
          </a:p>
        </p:txBody>
      </p:sp>
      <p:sp>
        <p:nvSpPr>
          <p:cNvPr id="20" name="Text 18"/>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2.4</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Nguyên tắc đồng tâm – xoắn ốc (Bruner)</a:t>
            </a:r>
            <a:endParaRPr lang="en-US" sz="3000" dirty="0"/>
          </a:p>
        </p:txBody>
      </p:sp>
      <p:sp>
        <p:nvSpPr>
          <p:cNvPr id="5" name="Text 3"/>
          <p:cNvSpPr/>
          <p:nvPr/>
        </p:nvSpPr>
        <p:spPr>
          <a:xfrm>
            <a:off x="548640" y="1572768"/>
            <a:ext cx="11064240" cy="457200"/>
          </a:xfrm>
          <a:prstGeom prst="rect">
            <a:avLst/>
          </a:prstGeom>
          <a:noFill/>
          <a:ln/>
        </p:spPr>
        <p:txBody>
          <a:bodyPr wrap="square" rtlCol="0" anchor="ctr"/>
          <a:lstStyle/>
          <a:p>
            <a:pPr marL="0" indent="0">
              <a:buNone/>
            </a:pPr>
            <a:r>
              <a:rPr lang="en-US" sz="1300" i="1" dirty="0">
                <a:solidFill>
                  <a:srgbClr val="5B6B79"/>
                </a:solidFill>
                <a:latin typeface="Calibri" pitchFamily="34" charset="0"/>
                <a:ea typeface="Calibri" pitchFamily="34" charset="-122"/>
                <a:cs typeface="Calibri" pitchFamily="34" charset="-120"/>
              </a:rPr>
              <a:t>Chủ đề lớn được giới thiệu đơn giản rồi mở rộng ở lớp cao hơn với độ trừu tượng và yêu cầu tư duy tăng dần.</a:t>
            </a:r>
            <a:endParaRPr lang="en-US" sz="1300" dirty="0"/>
          </a:p>
        </p:txBody>
      </p:sp>
      <p:sp>
        <p:nvSpPr>
          <p:cNvPr id="6" name="Shape 4"/>
          <p:cNvSpPr/>
          <p:nvPr/>
        </p:nvSpPr>
        <p:spPr>
          <a:xfrm>
            <a:off x="548640" y="2331720"/>
            <a:ext cx="2651760" cy="3200400"/>
          </a:xfrm>
          <a:prstGeom prst="roundRect">
            <a:avLst>
              <a:gd name="adj" fmla="val 3448"/>
            </a:avLst>
          </a:prstGeom>
          <a:solidFill>
            <a:srgbClr val="FFFFFF"/>
          </a:solidFill>
          <a:ln w="12700">
            <a:solidFill>
              <a:srgbClr val="DCE4EC"/>
            </a:solidFill>
            <a:prstDash val="solid"/>
          </a:ln>
        </p:spPr>
      </p:sp>
      <p:sp>
        <p:nvSpPr>
          <p:cNvPr id="7" name="Shape 5"/>
          <p:cNvSpPr/>
          <p:nvPr/>
        </p:nvSpPr>
        <p:spPr>
          <a:xfrm>
            <a:off x="548640" y="2331720"/>
            <a:ext cx="2651760" cy="502920"/>
          </a:xfrm>
          <a:prstGeom prst="roundRect">
            <a:avLst>
              <a:gd name="adj" fmla="val 18182"/>
            </a:avLst>
          </a:prstGeom>
          <a:solidFill>
            <a:srgbClr val="97BC62"/>
          </a:solidFill>
          <a:ln/>
        </p:spPr>
      </p:sp>
      <p:sp>
        <p:nvSpPr>
          <p:cNvPr id="8" name="Shape 6"/>
          <p:cNvSpPr/>
          <p:nvPr/>
        </p:nvSpPr>
        <p:spPr>
          <a:xfrm>
            <a:off x="548640" y="2651760"/>
            <a:ext cx="2651760" cy="182880"/>
          </a:xfrm>
          <a:prstGeom prst="rect">
            <a:avLst/>
          </a:prstGeom>
          <a:solidFill>
            <a:srgbClr val="97BC62"/>
          </a:solidFill>
          <a:ln/>
        </p:spPr>
      </p:sp>
      <p:sp>
        <p:nvSpPr>
          <p:cNvPr id="9" name="Text 7"/>
          <p:cNvSpPr/>
          <p:nvPr/>
        </p:nvSpPr>
        <p:spPr>
          <a:xfrm>
            <a:off x="548640" y="2331720"/>
            <a:ext cx="2651760" cy="502920"/>
          </a:xfrm>
          <a:prstGeom prst="rect">
            <a:avLst/>
          </a:prstGeom>
          <a:noFill/>
          <a:ln/>
        </p:spPr>
        <p:txBody>
          <a:bodyPr wrap="square" rtlCol="0" anchor="ctr"/>
          <a:lstStyle/>
          <a:p>
            <a:pPr marL="0" indent="0" algn="ctr">
              <a:buNone/>
            </a:pPr>
            <a:r>
              <a:rPr lang="en-US" sz="1350" b="1" dirty="0">
                <a:solidFill>
                  <a:srgbClr val="0F2138"/>
                </a:solidFill>
                <a:latin typeface="Calibri" pitchFamily="34" charset="0"/>
                <a:ea typeface="Calibri" pitchFamily="34" charset="-122"/>
                <a:cs typeface="Calibri" pitchFamily="34" charset="-120"/>
              </a:rPr>
              <a:t>Lớp 3–4</a:t>
            </a:r>
            <a:endParaRPr lang="en-US" sz="1350" dirty="0"/>
          </a:p>
        </p:txBody>
      </p:sp>
      <p:sp>
        <p:nvSpPr>
          <p:cNvPr id="10" name="Text 8"/>
          <p:cNvSpPr/>
          <p:nvPr/>
        </p:nvSpPr>
        <p:spPr>
          <a:xfrm>
            <a:off x="685800" y="2971800"/>
            <a:ext cx="2377440" cy="320040"/>
          </a:xfrm>
          <a:prstGeom prst="rect">
            <a:avLst/>
          </a:prstGeom>
          <a:noFill/>
          <a:ln/>
        </p:spPr>
        <p:txBody>
          <a:bodyPr wrap="square" rtlCol="0" anchor="ctr"/>
          <a:lstStyle/>
          <a:p>
            <a:pPr marL="0" indent="0">
              <a:buNone/>
            </a:pPr>
            <a:r>
              <a:rPr lang="en-US" sz="950" b="1" dirty="0">
                <a:solidFill>
                  <a:srgbClr val="5B6B79"/>
                </a:solidFill>
                <a:latin typeface="Calibri" pitchFamily="34" charset="0"/>
                <a:ea typeface="Calibri" pitchFamily="34" charset="-122"/>
                <a:cs typeface="Calibri" pitchFamily="34" charset="-120"/>
              </a:rPr>
              <a:t>Chủ đề: Thuật toán</a:t>
            </a:r>
            <a:endParaRPr lang="en-US" sz="950" dirty="0"/>
          </a:p>
        </p:txBody>
      </p:sp>
      <p:sp>
        <p:nvSpPr>
          <p:cNvPr id="11" name="Text 9"/>
          <p:cNvSpPr/>
          <p:nvPr/>
        </p:nvSpPr>
        <p:spPr>
          <a:xfrm>
            <a:off x="685800" y="3291840"/>
            <a:ext cx="2377440" cy="1005840"/>
          </a:xfrm>
          <a:prstGeom prst="rect">
            <a:avLst/>
          </a:prstGeom>
          <a:noFill/>
          <a:ln/>
        </p:spPr>
        <p:txBody>
          <a:bodyPr wrap="square" rtlCol="0" anchor="t"/>
          <a:lstStyle/>
          <a:p>
            <a:pPr marL="0" indent="0">
              <a:buNone/>
            </a:pPr>
            <a:r>
              <a:rPr lang="en-US" sz="1150" b="1" dirty="0">
                <a:solidFill>
                  <a:srgbClr val="1B3A5C"/>
                </a:solidFill>
                <a:latin typeface="Calibri" pitchFamily="34" charset="0"/>
                <a:ea typeface="Calibri" pitchFamily="34" charset="-122"/>
                <a:cs typeface="Calibri" pitchFamily="34" charset="-120"/>
              </a:rPr>
              <a:t>Nhận biết “dãy các bước làm một việc”</a:t>
            </a:r>
            <a:endParaRPr lang="en-US" sz="1150" dirty="0"/>
          </a:p>
        </p:txBody>
      </p:sp>
      <p:sp>
        <p:nvSpPr>
          <p:cNvPr id="12" name="Text 10"/>
          <p:cNvSpPr/>
          <p:nvPr/>
        </p:nvSpPr>
        <p:spPr>
          <a:xfrm>
            <a:off x="685800" y="4297680"/>
            <a:ext cx="2377440" cy="1097280"/>
          </a:xfrm>
          <a:prstGeom prst="rect">
            <a:avLst/>
          </a:prstGeom>
          <a:noFill/>
          <a:ln/>
        </p:spPr>
        <p:txBody>
          <a:bodyPr wrap="square" rtlCol="0" anchor="t"/>
          <a:lstStyle/>
          <a:p>
            <a:pPr marL="0" indent="0">
              <a:buNone/>
            </a:pPr>
            <a:r>
              <a:rPr lang="en-US" sz="1050" i="1" dirty="0">
                <a:solidFill>
                  <a:srgbClr val="5B6B79"/>
                </a:solidFill>
                <a:latin typeface="Calibri" pitchFamily="34" charset="0"/>
                <a:ea typeface="Calibri" pitchFamily="34" charset="-122"/>
                <a:cs typeface="Calibri" pitchFamily="34" charset="-120"/>
              </a:rPr>
              <a:t>VD: các bước pha một cốc nước cam</a:t>
            </a:r>
            <a:endParaRPr lang="en-US" sz="1050" dirty="0"/>
          </a:p>
        </p:txBody>
      </p:sp>
      <p:sp>
        <p:nvSpPr>
          <p:cNvPr id="13" name="Shape 11"/>
          <p:cNvSpPr/>
          <p:nvPr/>
        </p:nvSpPr>
        <p:spPr>
          <a:xfrm rot="5400000">
            <a:off x="3218688" y="3611880"/>
            <a:ext cx="146304" cy="256032"/>
          </a:xfrm>
          <a:prstGeom prst="triangle">
            <a:avLst/>
          </a:prstGeom>
          <a:solidFill>
            <a:srgbClr val="F2A541"/>
          </a:solidFill>
          <a:ln/>
        </p:spPr>
      </p:sp>
      <p:sp>
        <p:nvSpPr>
          <p:cNvPr id="14" name="Shape 12"/>
          <p:cNvSpPr/>
          <p:nvPr/>
        </p:nvSpPr>
        <p:spPr>
          <a:xfrm>
            <a:off x="3364992" y="2331720"/>
            <a:ext cx="2651760" cy="3200400"/>
          </a:xfrm>
          <a:prstGeom prst="roundRect">
            <a:avLst>
              <a:gd name="adj" fmla="val 3448"/>
            </a:avLst>
          </a:prstGeom>
          <a:solidFill>
            <a:srgbClr val="FFFFFF"/>
          </a:solidFill>
          <a:ln w="12700">
            <a:solidFill>
              <a:srgbClr val="DCE4EC"/>
            </a:solidFill>
            <a:prstDash val="solid"/>
          </a:ln>
        </p:spPr>
      </p:sp>
      <p:sp>
        <p:nvSpPr>
          <p:cNvPr id="15" name="Shape 13"/>
          <p:cNvSpPr/>
          <p:nvPr/>
        </p:nvSpPr>
        <p:spPr>
          <a:xfrm>
            <a:off x="3364992" y="2331720"/>
            <a:ext cx="2651760" cy="502920"/>
          </a:xfrm>
          <a:prstGeom prst="roundRect">
            <a:avLst>
              <a:gd name="adj" fmla="val 18182"/>
            </a:avLst>
          </a:prstGeom>
          <a:solidFill>
            <a:srgbClr val="3E92CC"/>
          </a:solidFill>
          <a:ln/>
        </p:spPr>
      </p:sp>
      <p:sp>
        <p:nvSpPr>
          <p:cNvPr id="16" name="Shape 14"/>
          <p:cNvSpPr/>
          <p:nvPr/>
        </p:nvSpPr>
        <p:spPr>
          <a:xfrm>
            <a:off x="3364992" y="2651760"/>
            <a:ext cx="2651760" cy="182880"/>
          </a:xfrm>
          <a:prstGeom prst="rect">
            <a:avLst/>
          </a:prstGeom>
          <a:solidFill>
            <a:srgbClr val="3E92CC"/>
          </a:solidFill>
          <a:ln/>
        </p:spPr>
      </p:sp>
      <p:sp>
        <p:nvSpPr>
          <p:cNvPr id="17" name="Text 15"/>
          <p:cNvSpPr/>
          <p:nvPr/>
        </p:nvSpPr>
        <p:spPr>
          <a:xfrm>
            <a:off x="3364992" y="2331720"/>
            <a:ext cx="2651760" cy="502920"/>
          </a:xfrm>
          <a:prstGeom prst="rect">
            <a:avLst/>
          </a:prstGeom>
          <a:noFill/>
          <a:ln/>
        </p:spPr>
        <p:txBody>
          <a:bodyPr wrap="square" rtlCol="0" anchor="ctr"/>
          <a:lstStyle/>
          <a:p>
            <a:pPr marL="0" indent="0" algn="ctr">
              <a:buNone/>
            </a:pPr>
            <a:r>
              <a:rPr lang="en-US" sz="1350" b="1" dirty="0">
                <a:solidFill>
                  <a:srgbClr val="0F2138"/>
                </a:solidFill>
                <a:latin typeface="Calibri" pitchFamily="34" charset="0"/>
                <a:ea typeface="Calibri" pitchFamily="34" charset="-122"/>
                <a:cs typeface="Calibri" pitchFamily="34" charset="-120"/>
              </a:rPr>
              <a:t>Lớp 6–7</a:t>
            </a:r>
            <a:endParaRPr lang="en-US" sz="1350" dirty="0"/>
          </a:p>
        </p:txBody>
      </p:sp>
      <p:sp>
        <p:nvSpPr>
          <p:cNvPr id="18" name="Text 16"/>
          <p:cNvSpPr/>
          <p:nvPr/>
        </p:nvSpPr>
        <p:spPr>
          <a:xfrm>
            <a:off x="3502152" y="2971800"/>
            <a:ext cx="2377440" cy="320040"/>
          </a:xfrm>
          <a:prstGeom prst="rect">
            <a:avLst/>
          </a:prstGeom>
          <a:noFill/>
          <a:ln/>
        </p:spPr>
        <p:txBody>
          <a:bodyPr wrap="square" rtlCol="0" anchor="ctr"/>
          <a:lstStyle/>
          <a:p>
            <a:pPr marL="0" indent="0">
              <a:buNone/>
            </a:pPr>
            <a:r>
              <a:rPr lang="en-US" sz="950" b="1" dirty="0">
                <a:solidFill>
                  <a:srgbClr val="5B6B79"/>
                </a:solidFill>
                <a:latin typeface="Calibri" pitchFamily="34" charset="0"/>
                <a:ea typeface="Calibri" pitchFamily="34" charset="-122"/>
                <a:cs typeface="Calibri" pitchFamily="34" charset="-120"/>
              </a:rPr>
              <a:t>Chủ đề: Thuật toán</a:t>
            </a:r>
            <a:endParaRPr lang="en-US" sz="950" dirty="0"/>
          </a:p>
        </p:txBody>
      </p:sp>
      <p:sp>
        <p:nvSpPr>
          <p:cNvPr id="19" name="Text 17"/>
          <p:cNvSpPr/>
          <p:nvPr/>
        </p:nvSpPr>
        <p:spPr>
          <a:xfrm>
            <a:off x="3502152" y="3291840"/>
            <a:ext cx="2377440" cy="1005840"/>
          </a:xfrm>
          <a:prstGeom prst="rect">
            <a:avLst/>
          </a:prstGeom>
          <a:noFill/>
          <a:ln/>
        </p:spPr>
        <p:txBody>
          <a:bodyPr wrap="square" rtlCol="0" anchor="t"/>
          <a:lstStyle/>
          <a:p>
            <a:pPr marL="0" indent="0">
              <a:buNone/>
            </a:pPr>
            <a:r>
              <a:rPr lang="en-US" sz="1150" b="1" dirty="0">
                <a:solidFill>
                  <a:srgbClr val="1B3A5C"/>
                </a:solidFill>
                <a:latin typeface="Calibri" pitchFamily="34" charset="0"/>
                <a:ea typeface="Calibri" pitchFamily="34" charset="-122"/>
                <a:cs typeface="Calibri" pitchFamily="34" charset="-120"/>
              </a:rPr>
              <a:t>Khái niệm thuật toán; biểu diễn bằng lưu đồ</a:t>
            </a:r>
            <a:endParaRPr lang="en-US" sz="1150" dirty="0"/>
          </a:p>
        </p:txBody>
      </p:sp>
      <p:sp>
        <p:nvSpPr>
          <p:cNvPr id="20" name="Text 18"/>
          <p:cNvSpPr/>
          <p:nvPr/>
        </p:nvSpPr>
        <p:spPr>
          <a:xfrm>
            <a:off x="3502152" y="4297680"/>
            <a:ext cx="2377440" cy="1097280"/>
          </a:xfrm>
          <a:prstGeom prst="rect">
            <a:avLst/>
          </a:prstGeom>
          <a:noFill/>
          <a:ln/>
        </p:spPr>
        <p:txBody>
          <a:bodyPr wrap="square" rtlCol="0" anchor="t"/>
          <a:lstStyle/>
          <a:p>
            <a:pPr marL="0" indent="0">
              <a:buNone/>
            </a:pPr>
            <a:r>
              <a:rPr lang="en-US" sz="1050" i="1" dirty="0">
                <a:solidFill>
                  <a:srgbClr val="5B6B79"/>
                </a:solidFill>
                <a:latin typeface="Calibri" pitchFamily="34" charset="0"/>
                <a:ea typeface="Calibri" pitchFamily="34" charset="-122"/>
                <a:cs typeface="Calibri" pitchFamily="34" charset="-120"/>
              </a:rPr>
              <a:t>VD: thuật toán tìm số lớn nhất trong danh sách</a:t>
            </a:r>
            <a:endParaRPr lang="en-US" sz="1050" dirty="0"/>
          </a:p>
        </p:txBody>
      </p:sp>
      <p:sp>
        <p:nvSpPr>
          <p:cNvPr id="21" name="Shape 19"/>
          <p:cNvSpPr/>
          <p:nvPr/>
        </p:nvSpPr>
        <p:spPr>
          <a:xfrm rot="5400000">
            <a:off x="6035040" y="3611880"/>
            <a:ext cx="146304" cy="256032"/>
          </a:xfrm>
          <a:prstGeom prst="triangle">
            <a:avLst/>
          </a:prstGeom>
          <a:solidFill>
            <a:srgbClr val="F2A541"/>
          </a:solidFill>
          <a:ln/>
        </p:spPr>
      </p:sp>
      <p:sp>
        <p:nvSpPr>
          <p:cNvPr id="22" name="Shape 20"/>
          <p:cNvSpPr/>
          <p:nvPr/>
        </p:nvSpPr>
        <p:spPr>
          <a:xfrm>
            <a:off x="6181344" y="2331720"/>
            <a:ext cx="2651760" cy="3200400"/>
          </a:xfrm>
          <a:prstGeom prst="roundRect">
            <a:avLst>
              <a:gd name="adj" fmla="val 3448"/>
            </a:avLst>
          </a:prstGeom>
          <a:solidFill>
            <a:srgbClr val="FFFFFF"/>
          </a:solidFill>
          <a:ln w="12700">
            <a:solidFill>
              <a:srgbClr val="DCE4EC"/>
            </a:solidFill>
            <a:prstDash val="solid"/>
          </a:ln>
        </p:spPr>
      </p:sp>
      <p:sp>
        <p:nvSpPr>
          <p:cNvPr id="23" name="Shape 21"/>
          <p:cNvSpPr/>
          <p:nvPr/>
        </p:nvSpPr>
        <p:spPr>
          <a:xfrm>
            <a:off x="6181344" y="2331720"/>
            <a:ext cx="2651760" cy="502920"/>
          </a:xfrm>
          <a:prstGeom prst="roundRect">
            <a:avLst>
              <a:gd name="adj" fmla="val 18182"/>
            </a:avLst>
          </a:prstGeom>
          <a:solidFill>
            <a:srgbClr val="1B3A5C"/>
          </a:solidFill>
          <a:ln/>
        </p:spPr>
      </p:sp>
      <p:sp>
        <p:nvSpPr>
          <p:cNvPr id="24" name="Shape 22"/>
          <p:cNvSpPr/>
          <p:nvPr/>
        </p:nvSpPr>
        <p:spPr>
          <a:xfrm>
            <a:off x="6181344" y="2651760"/>
            <a:ext cx="2651760" cy="182880"/>
          </a:xfrm>
          <a:prstGeom prst="rect">
            <a:avLst/>
          </a:prstGeom>
          <a:solidFill>
            <a:srgbClr val="1B3A5C"/>
          </a:solidFill>
          <a:ln/>
        </p:spPr>
      </p:sp>
      <p:sp>
        <p:nvSpPr>
          <p:cNvPr id="25" name="Text 23"/>
          <p:cNvSpPr/>
          <p:nvPr/>
        </p:nvSpPr>
        <p:spPr>
          <a:xfrm>
            <a:off x="6181344" y="2331720"/>
            <a:ext cx="2651760" cy="5029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Lớp 8–9</a:t>
            </a:r>
            <a:endParaRPr lang="en-US" sz="1350" dirty="0"/>
          </a:p>
        </p:txBody>
      </p:sp>
      <p:sp>
        <p:nvSpPr>
          <p:cNvPr id="26" name="Text 24"/>
          <p:cNvSpPr/>
          <p:nvPr/>
        </p:nvSpPr>
        <p:spPr>
          <a:xfrm>
            <a:off x="6318504" y="2971800"/>
            <a:ext cx="2377440" cy="320040"/>
          </a:xfrm>
          <a:prstGeom prst="rect">
            <a:avLst/>
          </a:prstGeom>
          <a:noFill/>
          <a:ln/>
        </p:spPr>
        <p:txBody>
          <a:bodyPr wrap="square" rtlCol="0" anchor="ctr"/>
          <a:lstStyle/>
          <a:p>
            <a:pPr marL="0" indent="0">
              <a:buNone/>
            </a:pPr>
            <a:r>
              <a:rPr lang="en-US" sz="950" b="1" dirty="0">
                <a:solidFill>
                  <a:srgbClr val="5B6B79"/>
                </a:solidFill>
                <a:latin typeface="Calibri" pitchFamily="34" charset="0"/>
                <a:ea typeface="Calibri" pitchFamily="34" charset="-122"/>
                <a:cs typeface="Calibri" pitchFamily="34" charset="-120"/>
              </a:rPr>
              <a:t>Chủ đề: Thuật toán</a:t>
            </a:r>
            <a:endParaRPr lang="en-US" sz="950" dirty="0"/>
          </a:p>
        </p:txBody>
      </p:sp>
      <p:sp>
        <p:nvSpPr>
          <p:cNvPr id="27" name="Text 25"/>
          <p:cNvSpPr/>
          <p:nvPr/>
        </p:nvSpPr>
        <p:spPr>
          <a:xfrm>
            <a:off x="6318504" y="3291840"/>
            <a:ext cx="2377440" cy="1005840"/>
          </a:xfrm>
          <a:prstGeom prst="rect">
            <a:avLst/>
          </a:prstGeom>
          <a:noFill/>
          <a:ln/>
        </p:spPr>
        <p:txBody>
          <a:bodyPr wrap="square" rtlCol="0" anchor="t"/>
          <a:lstStyle/>
          <a:p>
            <a:pPr marL="0" indent="0">
              <a:buNone/>
            </a:pPr>
            <a:r>
              <a:rPr lang="en-US" sz="1150" b="1" dirty="0">
                <a:solidFill>
                  <a:srgbClr val="1B3A5C"/>
                </a:solidFill>
                <a:latin typeface="Calibri" pitchFamily="34" charset="0"/>
                <a:ea typeface="Calibri" pitchFamily="34" charset="-122"/>
                <a:cs typeface="Calibri" pitchFamily="34" charset="-120"/>
              </a:rPr>
              <a:t>Cài đặt thuật toán bằng Python</a:t>
            </a:r>
            <a:endParaRPr lang="en-US" sz="1150" dirty="0"/>
          </a:p>
        </p:txBody>
      </p:sp>
      <p:sp>
        <p:nvSpPr>
          <p:cNvPr id="28" name="Text 26"/>
          <p:cNvSpPr/>
          <p:nvPr/>
        </p:nvSpPr>
        <p:spPr>
          <a:xfrm>
            <a:off x="6318504" y="4297680"/>
            <a:ext cx="2377440" cy="1097280"/>
          </a:xfrm>
          <a:prstGeom prst="rect">
            <a:avLst/>
          </a:prstGeom>
          <a:noFill/>
          <a:ln/>
        </p:spPr>
        <p:txBody>
          <a:bodyPr wrap="square" rtlCol="0" anchor="t"/>
          <a:lstStyle/>
          <a:p>
            <a:pPr marL="0" indent="0">
              <a:buNone/>
            </a:pPr>
            <a:r>
              <a:rPr lang="en-US" sz="1050" i="1" dirty="0">
                <a:solidFill>
                  <a:srgbClr val="5B6B79"/>
                </a:solidFill>
                <a:latin typeface="Calibri" pitchFamily="34" charset="0"/>
                <a:ea typeface="Calibri" pitchFamily="34" charset="-122"/>
                <a:cs typeface="Calibri" pitchFamily="34" charset="-120"/>
              </a:rPr>
              <a:t>VD: hàm tìm kiếm tuyến tính, sắp xếp nổi bọt</a:t>
            </a:r>
            <a:endParaRPr lang="en-US" sz="1050" dirty="0"/>
          </a:p>
        </p:txBody>
      </p:sp>
      <p:sp>
        <p:nvSpPr>
          <p:cNvPr id="29" name="Shape 27"/>
          <p:cNvSpPr/>
          <p:nvPr/>
        </p:nvSpPr>
        <p:spPr>
          <a:xfrm rot="5400000">
            <a:off x="8851392" y="3611880"/>
            <a:ext cx="146304" cy="256032"/>
          </a:xfrm>
          <a:prstGeom prst="triangle">
            <a:avLst/>
          </a:prstGeom>
          <a:solidFill>
            <a:srgbClr val="F2A541"/>
          </a:solidFill>
          <a:ln/>
        </p:spPr>
      </p:sp>
      <p:sp>
        <p:nvSpPr>
          <p:cNvPr id="30" name="Shape 28"/>
          <p:cNvSpPr/>
          <p:nvPr/>
        </p:nvSpPr>
        <p:spPr>
          <a:xfrm>
            <a:off x="8997696" y="2331720"/>
            <a:ext cx="2651760" cy="3200400"/>
          </a:xfrm>
          <a:prstGeom prst="roundRect">
            <a:avLst>
              <a:gd name="adj" fmla="val 3448"/>
            </a:avLst>
          </a:prstGeom>
          <a:solidFill>
            <a:srgbClr val="FFFFFF"/>
          </a:solidFill>
          <a:ln w="12700">
            <a:solidFill>
              <a:srgbClr val="DCE4EC"/>
            </a:solidFill>
            <a:prstDash val="solid"/>
          </a:ln>
        </p:spPr>
      </p:sp>
      <p:sp>
        <p:nvSpPr>
          <p:cNvPr id="31" name="Shape 29"/>
          <p:cNvSpPr/>
          <p:nvPr/>
        </p:nvSpPr>
        <p:spPr>
          <a:xfrm>
            <a:off x="8997696" y="2331720"/>
            <a:ext cx="2651760" cy="502920"/>
          </a:xfrm>
          <a:prstGeom prst="roundRect">
            <a:avLst>
              <a:gd name="adj" fmla="val 18182"/>
            </a:avLst>
          </a:prstGeom>
          <a:solidFill>
            <a:srgbClr val="F2A541"/>
          </a:solidFill>
          <a:ln/>
        </p:spPr>
      </p:sp>
      <p:sp>
        <p:nvSpPr>
          <p:cNvPr id="32" name="Shape 30"/>
          <p:cNvSpPr/>
          <p:nvPr/>
        </p:nvSpPr>
        <p:spPr>
          <a:xfrm>
            <a:off x="8997696" y="2651760"/>
            <a:ext cx="2651760" cy="182880"/>
          </a:xfrm>
          <a:prstGeom prst="rect">
            <a:avLst/>
          </a:prstGeom>
          <a:solidFill>
            <a:srgbClr val="F2A541"/>
          </a:solidFill>
          <a:ln/>
        </p:spPr>
      </p:sp>
      <p:sp>
        <p:nvSpPr>
          <p:cNvPr id="33" name="Text 31"/>
          <p:cNvSpPr/>
          <p:nvPr/>
        </p:nvSpPr>
        <p:spPr>
          <a:xfrm>
            <a:off x="8997696" y="2331720"/>
            <a:ext cx="2651760" cy="502920"/>
          </a:xfrm>
          <a:prstGeom prst="rect">
            <a:avLst/>
          </a:prstGeom>
          <a:noFill/>
          <a:ln/>
        </p:spPr>
        <p:txBody>
          <a:bodyPr wrap="square" rtlCol="0" anchor="ctr"/>
          <a:lstStyle/>
          <a:p>
            <a:pPr marL="0" indent="0" algn="ctr">
              <a:buNone/>
            </a:pPr>
            <a:r>
              <a:rPr lang="en-US" sz="1350" b="1" dirty="0">
                <a:solidFill>
                  <a:srgbClr val="0F2138"/>
                </a:solidFill>
                <a:latin typeface="Calibri" pitchFamily="34" charset="0"/>
                <a:ea typeface="Calibri" pitchFamily="34" charset="-122"/>
                <a:cs typeface="Calibri" pitchFamily="34" charset="-120"/>
              </a:rPr>
              <a:t>Lớp 10–11</a:t>
            </a:r>
            <a:endParaRPr lang="en-US" sz="1350" dirty="0"/>
          </a:p>
        </p:txBody>
      </p:sp>
      <p:sp>
        <p:nvSpPr>
          <p:cNvPr id="34" name="Text 32"/>
          <p:cNvSpPr/>
          <p:nvPr/>
        </p:nvSpPr>
        <p:spPr>
          <a:xfrm>
            <a:off x="9134856" y="2971800"/>
            <a:ext cx="2377440" cy="320040"/>
          </a:xfrm>
          <a:prstGeom prst="rect">
            <a:avLst/>
          </a:prstGeom>
          <a:noFill/>
          <a:ln/>
        </p:spPr>
        <p:txBody>
          <a:bodyPr wrap="square" rtlCol="0" anchor="ctr"/>
          <a:lstStyle/>
          <a:p>
            <a:pPr marL="0" indent="0">
              <a:buNone/>
            </a:pPr>
            <a:r>
              <a:rPr lang="en-US" sz="950" b="1" dirty="0">
                <a:solidFill>
                  <a:srgbClr val="5B6B79"/>
                </a:solidFill>
                <a:latin typeface="Calibri" pitchFamily="34" charset="0"/>
                <a:ea typeface="Calibri" pitchFamily="34" charset="-122"/>
                <a:cs typeface="Calibri" pitchFamily="34" charset="-120"/>
              </a:rPr>
              <a:t>Chủ đề: Thuật toán</a:t>
            </a:r>
            <a:endParaRPr lang="en-US" sz="950" dirty="0"/>
          </a:p>
        </p:txBody>
      </p:sp>
      <p:sp>
        <p:nvSpPr>
          <p:cNvPr id="35" name="Text 33"/>
          <p:cNvSpPr/>
          <p:nvPr/>
        </p:nvSpPr>
        <p:spPr>
          <a:xfrm>
            <a:off x="9134856" y="3291840"/>
            <a:ext cx="2377440" cy="1005840"/>
          </a:xfrm>
          <a:prstGeom prst="rect">
            <a:avLst/>
          </a:prstGeom>
          <a:noFill/>
          <a:ln/>
        </p:spPr>
        <p:txBody>
          <a:bodyPr wrap="square" rtlCol="0" anchor="t"/>
          <a:lstStyle/>
          <a:p>
            <a:pPr marL="0" indent="0">
              <a:buNone/>
            </a:pPr>
            <a:r>
              <a:rPr lang="en-US" sz="1150" b="1" dirty="0">
                <a:solidFill>
                  <a:srgbClr val="1B3A5C"/>
                </a:solidFill>
                <a:latin typeface="Calibri" pitchFamily="34" charset="0"/>
                <a:ea typeface="Calibri" pitchFamily="34" charset="-122"/>
                <a:cs typeface="Calibri" pitchFamily="34" charset="-120"/>
              </a:rPr>
              <a:t>Thuật toán nâng cao, tìm kiếm nhị phân</a:t>
            </a:r>
            <a:endParaRPr lang="en-US" sz="1150" dirty="0"/>
          </a:p>
        </p:txBody>
      </p:sp>
      <p:sp>
        <p:nvSpPr>
          <p:cNvPr id="36" name="Text 34"/>
          <p:cNvSpPr/>
          <p:nvPr/>
        </p:nvSpPr>
        <p:spPr>
          <a:xfrm>
            <a:off x="9134856" y="4297680"/>
            <a:ext cx="2377440" cy="1097280"/>
          </a:xfrm>
          <a:prstGeom prst="rect">
            <a:avLst/>
          </a:prstGeom>
          <a:noFill/>
          <a:ln/>
        </p:spPr>
        <p:txBody>
          <a:bodyPr wrap="square" rtlCol="0" anchor="t"/>
          <a:lstStyle/>
          <a:p>
            <a:pPr marL="0" indent="0">
              <a:buNone/>
            </a:pPr>
            <a:r>
              <a:rPr lang="en-US" sz="1050" i="1" dirty="0">
                <a:solidFill>
                  <a:srgbClr val="5B6B79"/>
                </a:solidFill>
                <a:latin typeface="Calibri" pitchFamily="34" charset="0"/>
                <a:ea typeface="Calibri" pitchFamily="34" charset="-122"/>
                <a:cs typeface="Calibri" pitchFamily="34" charset="-120"/>
              </a:rPr>
              <a:t>VD: đánh giá độ phức tạp thuật toán</a:t>
            </a:r>
            <a:endParaRPr lang="en-US" sz="1050" dirty="0"/>
          </a:p>
        </p:txBody>
      </p:sp>
      <p:sp>
        <p:nvSpPr>
          <p:cNvPr id="37" name="Text 35"/>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38" name="Text 3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2.5</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Nguyên tắc dạy học vận dụng vào Tin học</a:t>
            </a:r>
            <a:endParaRPr lang="en-US" sz="3000" dirty="0"/>
          </a:p>
        </p:txBody>
      </p:sp>
      <p:sp>
        <p:nvSpPr>
          <p:cNvPr id="5" name="Shape 3"/>
          <p:cNvSpPr/>
          <p:nvPr/>
        </p:nvSpPr>
        <p:spPr>
          <a:xfrm>
            <a:off x="548640" y="1737360"/>
            <a:ext cx="5440680" cy="2084832"/>
          </a:xfrm>
          <a:prstGeom prst="roundRect">
            <a:avLst>
              <a:gd name="adj" fmla="val 4386"/>
            </a:avLst>
          </a:prstGeom>
          <a:solidFill>
            <a:srgbClr val="FFFFFF"/>
          </a:solidFill>
          <a:ln w="12700">
            <a:solidFill>
              <a:srgbClr val="DCE4EC"/>
            </a:solidFill>
            <a:prstDash val="solid"/>
          </a:ln>
        </p:spPr>
      </p:sp>
      <p:sp>
        <p:nvSpPr>
          <p:cNvPr id="6" name="Shape 4"/>
          <p:cNvSpPr/>
          <p:nvPr/>
        </p:nvSpPr>
        <p:spPr>
          <a:xfrm>
            <a:off x="777240" y="1938528"/>
            <a:ext cx="457200" cy="457200"/>
          </a:xfrm>
          <a:prstGeom prst="ellipse">
            <a:avLst/>
          </a:prstGeom>
          <a:solidFill>
            <a:srgbClr val="1B3A5C"/>
          </a:solidFill>
          <a:ln/>
        </p:spPr>
      </p:sp>
      <p:sp>
        <p:nvSpPr>
          <p:cNvPr id="7" name="Text 5"/>
          <p:cNvSpPr/>
          <p:nvPr/>
        </p:nvSpPr>
        <p:spPr>
          <a:xfrm>
            <a:off x="777240" y="1938528"/>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371600" y="1901952"/>
            <a:ext cx="4434840" cy="502920"/>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Khoa học &amp; hệ thống</a:t>
            </a:r>
            <a:endParaRPr lang="en-US" sz="1350" dirty="0"/>
          </a:p>
        </p:txBody>
      </p:sp>
      <p:sp>
        <p:nvSpPr>
          <p:cNvPr id="9" name="Text 7"/>
          <p:cNvSpPr/>
          <p:nvPr/>
        </p:nvSpPr>
        <p:spPr>
          <a:xfrm>
            <a:off x="822960" y="2487168"/>
            <a:ext cx="4892040" cy="594360"/>
          </a:xfrm>
          <a:prstGeom prst="rect">
            <a:avLst/>
          </a:prstGeom>
          <a:noFill/>
          <a:ln/>
        </p:spPr>
        <p:txBody>
          <a:bodyPr wrap="square" rtlCol="0" anchor="t"/>
          <a:lstStyle/>
          <a:p>
            <a:pPr marL="0" indent="0">
              <a:buNone/>
            </a:pPr>
            <a:r>
              <a:rPr lang="en-US" sz="1080" dirty="0">
                <a:solidFill>
                  <a:srgbClr val="1B2430"/>
                </a:solidFill>
                <a:latin typeface="Calibri" pitchFamily="34" charset="0"/>
                <a:ea typeface="Calibri" pitchFamily="34" charset="-122"/>
                <a:cs typeface="Calibri" pitchFamily="34" charset="-120"/>
              </a:rPr>
              <a:t>Đảm bảo tính chính xác, logic; sắp xếp nội dung từ đơn giản đến phức tạp.</a:t>
            </a:r>
            <a:endParaRPr lang="en-US" sz="1080" dirty="0"/>
          </a:p>
        </p:txBody>
      </p:sp>
      <p:sp>
        <p:nvSpPr>
          <p:cNvPr id="10" name="Text 8"/>
          <p:cNvSpPr/>
          <p:nvPr/>
        </p:nvSpPr>
        <p:spPr>
          <a:xfrm>
            <a:off x="822960" y="3108960"/>
            <a:ext cx="4892040" cy="640080"/>
          </a:xfrm>
          <a:prstGeom prst="rect">
            <a:avLst/>
          </a:prstGeom>
          <a:noFill/>
          <a:ln/>
        </p:spPr>
        <p:txBody>
          <a:bodyPr wrap="square" rtlCol="0" anchor="t"/>
          <a:lstStyle/>
          <a:p>
            <a:pPr marL="0" indent="0">
              <a:buNone/>
            </a:pPr>
            <a:r>
              <a:rPr lang="en-US" sz="1000" b="1" i="1" dirty="0">
                <a:solidFill>
                  <a:srgbClr val="B9791B"/>
                </a:solidFill>
                <a:latin typeface="Calibri" pitchFamily="34" charset="0"/>
                <a:ea typeface="Calibri" pitchFamily="34" charset="-122"/>
                <a:cs typeface="Calibri" pitchFamily="34" charset="-120"/>
              </a:rPr>
              <a:t>VD: </a:t>
            </a:r>
            <a:r>
              <a:rPr lang="en-US" sz="1000" i="1" dirty="0">
                <a:solidFill>
                  <a:srgbClr val="5B6B79"/>
                </a:solidFill>
                <a:latin typeface="Calibri" pitchFamily="34" charset="0"/>
                <a:ea typeface="Calibri" pitchFamily="34" charset="-122"/>
                <a:cs typeface="Calibri" pitchFamily="34" charset="-120"/>
              </a:rPr>
              <a:t>Không dạy vòng lặp lồng nhau ngay — bắt đầu từ khái niệm thuật toán trong đời sống.</a:t>
            </a:r>
            <a:endParaRPr lang="en-US" sz="1000" dirty="0"/>
          </a:p>
        </p:txBody>
      </p:sp>
      <p:sp>
        <p:nvSpPr>
          <p:cNvPr id="11" name="Shape 9"/>
          <p:cNvSpPr/>
          <p:nvPr/>
        </p:nvSpPr>
        <p:spPr>
          <a:xfrm>
            <a:off x="6172200" y="1737360"/>
            <a:ext cx="5440680" cy="2084832"/>
          </a:xfrm>
          <a:prstGeom prst="roundRect">
            <a:avLst>
              <a:gd name="adj" fmla="val 4386"/>
            </a:avLst>
          </a:prstGeom>
          <a:solidFill>
            <a:srgbClr val="FFFFFF"/>
          </a:solidFill>
          <a:ln w="12700">
            <a:solidFill>
              <a:srgbClr val="DCE4EC"/>
            </a:solidFill>
            <a:prstDash val="solid"/>
          </a:ln>
        </p:spPr>
      </p:sp>
      <p:sp>
        <p:nvSpPr>
          <p:cNvPr id="12" name="Shape 10"/>
          <p:cNvSpPr/>
          <p:nvPr/>
        </p:nvSpPr>
        <p:spPr>
          <a:xfrm>
            <a:off x="6400800" y="1938528"/>
            <a:ext cx="457200" cy="457200"/>
          </a:xfrm>
          <a:prstGeom prst="ellipse">
            <a:avLst/>
          </a:prstGeom>
          <a:solidFill>
            <a:srgbClr val="1B3A5C"/>
          </a:solidFill>
          <a:ln/>
        </p:spPr>
      </p:sp>
      <p:sp>
        <p:nvSpPr>
          <p:cNvPr id="13" name="Text 11"/>
          <p:cNvSpPr/>
          <p:nvPr/>
        </p:nvSpPr>
        <p:spPr>
          <a:xfrm>
            <a:off x="6400800" y="1938528"/>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6995160" y="1901952"/>
            <a:ext cx="4434840" cy="502920"/>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Gắn lý thuyết với thực hành</a:t>
            </a:r>
            <a:endParaRPr lang="en-US" sz="1350" dirty="0"/>
          </a:p>
        </p:txBody>
      </p:sp>
      <p:sp>
        <p:nvSpPr>
          <p:cNvPr id="15" name="Text 13"/>
          <p:cNvSpPr/>
          <p:nvPr/>
        </p:nvSpPr>
        <p:spPr>
          <a:xfrm>
            <a:off x="6446520" y="2487168"/>
            <a:ext cx="4892040" cy="594360"/>
          </a:xfrm>
          <a:prstGeom prst="rect">
            <a:avLst/>
          </a:prstGeom>
          <a:noFill/>
          <a:ln/>
        </p:spPr>
        <p:txBody>
          <a:bodyPr wrap="square" rtlCol="0" anchor="t"/>
          <a:lstStyle/>
          <a:p>
            <a:pPr marL="0" indent="0">
              <a:buNone/>
            </a:pPr>
            <a:r>
              <a:rPr lang="en-US" sz="1080" dirty="0">
                <a:solidFill>
                  <a:srgbClr val="1B2430"/>
                </a:solidFill>
                <a:latin typeface="Calibri" pitchFamily="34" charset="0"/>
                <a:ea typeface="Calibri" pitchFamily="34" charset="-122"/>
                <a:cs typeface="Calibri" pitchFamily="34" charset="-120"/>
              </a:rPr>
              <a:t>Thực hành là cầu nối giữa mô hình lý thuyết và kết quả cụ thể trên máy tính.</a:t>
            </a:r>
            <a:endParaRPr lang="en-US" sz="1080" dirty="0"/>
          </a:p>
        </p:txBody>
      </p:sp>
      <p:sp>
        <p:nvSpPr>
          <p:cNvPr id="16" name="Text 14"/>
          <p:cNvSpPr/>
          <p:nvPr/>
        </p:nvSpPr>
        <p:spPr>
          <a:xfrm>
            <a:off x="6446520" y="3108960"/>
            <a:ext cx="4892040" cy="640080"/>
          </a:xfrm>
          <a:prstGeom prst="rect">
            <a:avLst/>
          </a:prstGeom>
          <a:noFill/>
          <a:ln/>
        </p:spPr>
        <p:txBody>
          <a:bodyPr wrap="square" rtlCol="0" anchor="t"/>
          <a:lstStyle/>
          <a:p>
            <a:pPr marL="0" indent="0">
              <a:buNone/>
            </a:pPr>
            <a:r>
              <a:rPr lang="en-US" sz="1000" b="1" i="1" dirty="0">
                <a:solidFill>
                  <a:srgbClr val="B9791B"/>
                </a:solidFill>
                <a:latin typeface="Calibri" pitchFamily="34" charset="0"/>
                <a:ea typeface="Calibri" pitchFamily="34" charset="-122"/>
                <a:cs typeface="Calibri" pitchFamily="34" charset="-120"/>
              </a:rPr>
              <a:t>VD: </a:t>
            </a:r>
            <a:r>
              <a:rPr lang="en-US" sz="1000" i="1" dirty="0">
                <a:solidFill>
                  <a:srgbClr val="5B6B79"/>
                </a:solidFill>
                <a:latin typeface="Calibri" pitchFamily="34" charset="0"/>
                <a:ea typeface="Calibri" pitchFamily="34" charset="-122"/>
                <a:cs typeface="Calibri" pitchFamily="34" charset="-120"/>
              </a:rPr>
              <a:t>Xây dựng thuật toán sắp xếp sách vở rồi chuyển thành chương trình, kiểm tra kết quả.</a:t>
            </a:r>
            <a:endParaRPr lang="en-US" sz="1000" dirty="0"/>
          </a:p>
        </p:txBody>
      </p:sp>
      <p:sp>
        <p:nvSpPr>
          <p:cNvPr id="17" name="Shape 15"/>
          <p:cNvSpPr/>
          <p:nvPr/>
        </p:nvSpPr>
        <p:spPr>
          <a:xfrm>
            <a:off x="548640" y="4005072"/>
            <a:ext cx="5440680" cy="2084832"/>
          </a:xfrm>
          <a:prstGeom prst="roundRect">
            <a:avLst>
              <a:gd name="adj" fmla="val 4386"/>
            </a:avLst>
          </a:prstGeom>
          <a:solidFill>
            <a:srgbClr val="FFFFFF"/>
          </a:solidFill>
          <a:ln w="12700">
            <a:solidFill>
              <a:srgbClr val="DCE4EC"/>
            </a:solidFill>
            <a:prstDash val="solid"/>
          </a:ln>
        </p:spPr>
      </p:sp>
      <p:sp>
        <p:nvSpPr>
          <p:cNvPr id="18" name="Shape 16"/>
          <p:cNvSpPr/>
          <p:nvPr/>
        </p:nvSpPr>
        <p:spPr>
          <a:xfrm>
            <a:off x="777240" y="4206240"/>
            <a:ext cx="457200" cy="457200"/>
          </a:xfrm>
          <a:prstGeom prst="ellipse">
            <a:avLst/>
          </a:prstGeom>
          <a:solidFill>
            <a:srgbClr val="1B3A5C"/>
          </a:solidFill>
          <a:ln/>
        </p:spPr>
      </p:sp>
      <p:sp>
        <p:nvSpPr>
          <p:cNvPr id="19" name="Text 17"/>
          <p:cNvSpPr/>
          <p:nvPr/>
        </p:nvSpPr>
        <p:spPr>
          <a:xfrm>
            <a:off x="777240" y="4206240"/>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1371600" y="4169664"/>
            <a:ext cx="4434840" cy="502920"/>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Phù hợp đặc điểm nhận thức HS</a:t>
            </a:r>
            <a:endParaRPr lang="en-US" sz="1350" dirty="0"/>
          </a:p>
        </p:txBody>
      </p:sp>
      <p:sp>
        <p:nvSpPr>
          <p:cNvPr id="21" name="Text 19"/>
          <p:cNvSpPr/>
          <p:nvPr/>
        </p:nvSpPr>
        <p:spPr>
          <a:xfrm>
            <a:off x="822960" y="4754880"/>
            <a:ext cx="4892040" cy="594360"/>
          </a:xfrm>
          <a:prstGeom prst="rect">
            <a:avLst/>
          </a:prstGeom>
          <a:noFill/>
          <a:ln/>
        </p:spPr>
        <p:txBody>
          <a:bodyPr wrap="square" rtlCol="0" anchor="t"/>
          <a:lstStyle/>
          <a:p>
            <a:pPr marL="0" indent="0">
              <a:buNone/>
            </a:pPr>
            <a:r>
              <a:rPr lang="en-US" sz="1080" dirty="0">
                <a:solidFill>
                  <a:srgbClr val="1B2430"/>
                </a:solidFill>
                <a:latin typeface="Calibri" pitchFamily="34" charset="0"/>
                <a:ea typeface="Calibri" pitchFamily="34" charset="-122"/>
                <a:cs typeface="Calibri" pitchFamily="34" charset="-120"/>
              </a:rPr>
              <a:t>Cá thể hóa, phân hóa theo trình độ, tốc độ tiếp thu của học sinh.</a:t>
            </a:r>
            <a:endParaRPr lang="en-US" sz="1080" dirty="0"/>
          </a:p>
        </p:txBody>
      </p:sp>
      <p:sp>
        <p:nvSpPr>
          <p:cNvPr id="22" name="Text 20"/>
          <p:cNvSpPr/>
          <p:nvPr/>
        </p:nvSpPr>
        <p:spPr>
          <a:xfrm>
            <a:off x="822960" y="5376672"/>
            <a:ext cx="4892040" cy="640080"/>
          </a:xfrm>
          <a:prstGeom prst="rect">
            <a:avLst/>
          </a:prstGeom>
          <a:noFill/>
          <a:ln/>
        </p:spPr>
        <p:txBody>
          <a:bodyPr wrap="square" rtlCol="0" anchor="t"/>
          <a:lstStyle/>
          <a:p>
            <a:pPr marL="0" indent="0">
              <a:buNone/>
            </a:pPr>
            <a:r>
              <a:rPr lang="en-US" sz="1000" b="1" i="1" dirty="0">
                <a:solidFill>
                  <a:srgbClr val="B9791B"/>
                </a:solidFill>
                <a:latin typeface="Calibri" pitchFamily="34" charset="0"/>
                <a:ea typeface="Calibri" pitchFamily="34" charset="-122"/>
                <a:cs typeface="Calibri" pitchFamily="34" charset="-120"/>
              </a:rPr>
              <a:t>VD: </a:t>
            </a:r>
            <a:r>
              <a:rPr lang="en-US" sz="1000" i="1" dirty="0">
                <a:solidFill>
                  <a:srgbClr val="5B6B79"/>
                </a:solidFill>
                <a:latin typeface="Calibri" pitchFamily="34" charset="0"/>
                <a:ea typeface="Calibri" pitchFamily="34" charset="-122"/>
                <a:cs typeface="Calibri" pitchFamily="34" charset="-120"/>
              </a:rPr>
              <a:t>Giao nhiệm vụ cơ bản cho cả lớp + bài tập mở rộng cho HS khá, giỏi.</a:t>
            </a:r>
            <a:endParaRPr lang="en-US" sz="1000" dirty="0"/>
          </a:p>
        </p:txBody>
      </p:sp>
      <p:sp>
        <p:nvSpPr>
          <p:cNvPr id="23" name="Shape 21"/>
          <p:cNvSpPr/>
          <p:nvPr/>
        </p:nvSpPr>
        <p:spPr>
          <a:xfrm>
            <a:off x="6172200" y="4005072"/>
            <a:ext cx="5440680" cy="2084832"/>
          </a:xfrm>
          <a:prstGeom prst="roundRect">
            <a:avLst>
              <a:gd name="adj" fmla="val 4386"/>
            </a:avLst>
          </a:prstGeom>
          <a:solidFill>
            <a:srgbClr val="FFFFFF"/>
          </a:solidFill>
          <a:ln w="12700">
            <a:solidFill>
              <a:srgbClr val="DCE4EC"/>
            </a:solidFill>
            <a:prstDash val="solid"/>
          </a:ln>
        </p:spPr>
      </p:sp>
      <p:sp>
        <p:nvSpPr>
          <p:cNvPr id="24" name="Shape 22"/>
          <p:cNvSpPr/>
          <p:nvPr/>
        </p:nvSpPr>
        <p:spPr>
          <a:xfrm>
            <a:off x="6400800" y="4206240"/>
            <a:ext cx="457200" cy="457200"/>
          </a:xfrm>
          <a:prstGeom prst="ellipse">
            <a:avLst/>
          </a:prstGeom>
          <a:solidFill>
            <a:srgbClr val="1B3A5C"/>
          </a:solidFill>
          <a:ln/>
        </p:spPr>
      </p:sp>
      <p:sp>
        <p:nvSpPr>
          <p:cNvPr id="25" name="Text 23"/>
          <p:cNvSpPr/>
          <p:nvPr/>
        </p:nvSpPr>
        <p:spPr>
          <a:xfrm>
            <a:off x="6400800" y="4206240"/>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6995160" y="4169664"/>
            <a:ext cx="4434840" cy="502920"/>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Phát triển tư duy &amp; năng lực</a:t>
            </a:r>
            <a:endParaRPr lang="en-US" sz="1350" dirty="0"/>
          </a:p>
        </p:txBody>
      </p:sp>
      <p:sp>
        <p:nvSpPr>
          <p:cNvPr id="27" name="Text 25"/>
          <p:cNvSpPr/>
          <p:nvPr/>
        </p:nvSpPr>
        <p:spPr>
          <a:xfrm>
            <a:off x="6446520" y="4754880"/>
            <a:ext cx="4892040" cy="594360"/>
          </a:xfrm>
          <a:prstGeom prst="rect">
            <a:avLst/>
          </a:prstGeom>
          <a:noFill/>
          <a:ln/>
        </p:spPr>
        <p:txBody>
          <a:bodyPr wrap="square" rtlCol="0" anchor="t"/>
          <a:lstStyle/>
          <a:p>
            <a:pPr marL="0" indent="0">
              <a:buNone/>
            </a:pPr>
            <a:r>
              <a:rPr lang="en-US" sz="1080" dirty="0">
                <a:solidFill>
                  <a:srgbClr val="1B2430"/>
                </a:solidFill>
                <a:latin typeface="Calibri" pitchFamily="34" charset="0"/>
                <a:ea typeface="Calibri" pitchFamily="34" charset="-122"/>
                <a:cs typeface="Calibri" pitchFamily="34" charset="-120"/>
              </a:rPr>
              <a:t>Không chỉ dạy kỹ năng công nghệ mà phát triển tư duy thuật toán, giải quyết vấn đề.</a:t>
            </a:r>
            <a:endParaRPr lang="en-US" sz="1080" dirty="0"/>
          </a:p>
        </p:txBody>
      </p:sp>
      <p:sp>
        <p:nvSpPr>
          <p:cNvPr id="28" name="Text 26"/>
          <p:cNvSpPr/>
          <p:nvPr/>
        </p:nvSpPr>
        <p:spPr>
          <a:xfrm>
            <a:off x="6446520" y="5376672"/>
            <a:ext cx="4892040" cy="640080"/>
          </a:xfrm>
          <a:prstGeom prst="rect">
            <a:avLst/>
          </a:prstGeom>
          <a:noFill/>
          <a:ln/>
        </p:spPr>
        <p:txBody>
          <a:bodyPr wrap="square" rtlCol="0" anchor="t"/>
          <a:lstStyle/>
          <a:p>
            <a:pPr marL="0" indent="0">
              <a:buNone/>
            </a:pPr>
            <a:r>
              <a:rPr lang="en-US" sz="1000" b="1" i="1" dirty="0">
                <a:solidFill>
                  <a:srgbClr val="B9791B"/>
                </a:solidFill>
                <a:latin typeface="Calibri" pitchFamily="34" charset="0"/>
                <a:ea typeface="Calibri" pitchFamily="34" charset="-122"/>
                <a:cs typeface="Calibri" pitchFamily="34" charset="-120"/>
              </a:rPr>
              <a:t>VD: </a:t>
            </a:r>
            <a:r>
              <a:rPr lang="en-US" sz="1000" i="1" dirty="0">
                <a:solidFill>
                  <a:srgbClr val="5B6B79"/>
                </a:solidFill>
                <a:latin typeface="Calibri" pitchFamily="34" charset="0"/>
                <a:ea typeface="Calibri" pitchFamily="34" charset="-122"/>
                <a:cs typeface="Calibri" pitchFamily="34" charset="-120"/>
              </a:rPr>
              <a:t>HS đề xuất nhiều cách tính tổng dãy số, so sánh ưu nhược điểm, tự đánh giá.</a:t>
            </a:r>
            <a:endParaRPr lang="en-US" sz="1000" dirty="0"/>
          </a:p>
        </p:txBody>
      </p:sp>
      <p:sp>
        <p:nvSpPr>
          <p:cNvPr id="29" name="Text 27"/>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30"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2.6</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Bốn phương diện của nội dung giáo dục Tin học</a:t>
            </a:r>
            <a:endParaRPr lang="en-US" sz="3000" dirty="0"/>
          </a:p>
        </p:txBody>
      </p:sp>
      <p:sp>
        <p:nvSpPr>
          <p:cNvPr id="5" name="Text 3"/>
          <p:cNvSpPr/>
          <p:nvPr/>
        </p:nvSpPr>
        <p:spPr>
          <a:xfrm>
            <a:off x="548640" y="1572768"/>
            <a:ext cx="11064240" cy="457200"/>
          </a:xfrm>
          <a:prstGeom prst="rect">
            <a:avLst/>
          </a:prstGeom>
          <a:noFill/>
          <a:ln/>
        </p:spPr>
        <p:txBody>
          <a:bodyPr wrap="square" rtlCol="0" anchor="ctr"/>
          <a:lstStyle/>
          <a:p>
            <a:pPr marL="0" indent="0">
              <a:buNone/>
            </a:pPr>
            <a:r>
              <a:rPr lang="en-US" sz="1300" i="1" dirty="0">
                <a:solidFill>
                  <a:srgbClr val="5B6B79"/>
                </a:solidFill>
                <a:latin typeface="Calibri" pitchFamily="34" charset="0"/>
                <a:ea typeface="Calibri" pitchFamily="34" charset="-122"/>
                <a:cs typeface="Calibri" pitchFamily="34" charset="-120"/>
              </a:rPr>
              <a:t>Phù hợp bốn trụ cột giáo dục UNESCO: học để biết, học để làm, học để chung sống, học để tự khẳng định.</a:t>
            </a:r>
            <a:endParaRPr lang="en-US" sz="1300" dirty="0"/>
          </a:p>
        </p:txBody>
      </p:sp>
      <p:sp>
        <p:nvSpPr>
          <p:cNvPr id="6" name="Shape 4"/>
          <p:cNvSpPr/>
          <p:nvPr/>
        </p:nvSpPr>
        <p:spPr>
          <a:xfrm>
            <a:off x="548640" y="2194560"/>
            <a:ext cx="5440680" cy="2084832"/>
          </a:xfrm>
          <a:prstGeom prst="roundRect">
            <a:avLst>
              <a:gd name="adj" fmla="val 4386"/>
            </a:avLst>
          </a:prstGeom>
          <a:solidFill>
            <a:srgbClr val="FFFFFF"/>
          </a:solidFill>
          <a:ln w="12700">
            <a:solidFill>
              <a:srgbClr val="DCE4EC"/>
            </a:solidFill>
            <a:prstDash val="solid"/>
          </a:ln>
        </p:spPr>
      </p:sp>
      <p:sp>
        <p:nvSpPr>
          <p:cNvPr id="7" name="Shape 5"/>
          <p:cNvSpPr/>
          <p:nvPr/>
        </p:nvSpPr>
        <p:spPr>
          <a:xfrm>
            <a:off x="548640" y="2194560"/>
            <a:ext cx="109728" cy="2084832"/>
          </a:xfrm>
          <a:prstGeom prst="roundRect">
            <a:avLst/>
          </a:prstGeom>
          <a:solidFill>
            <a:srgbClr val="1B3A5C"/>
          </a:solidFill>
          <a:ln/>
        </p:spPr>
      </p:sp>
      <p:sp>
        <p:nvSpPr>
          <p:cNvPr id="8" name="Text 6"/>
          <p:cNvSpPr/>
          <p:nvPr/>
        </p:nvSpPr>
        <p:spPr>
          <a:xfrm>
            <a:off x="868680" y="2359152"/>
            <a:ext cx="4892040" cy="457200"/>
          </a:xfrm>
          <a:prstGeom prst="rect">
            <a:avLst/>
          </a:prstGeom>
          <a:noFill/>
          <a:ln/>
        </p:spPr>
        <p:txBody>
          <a:bodyPr wrap="square" rtlCol="0" anchor="ctr"/>
          <a:lstStyle/>
          <a:p>
            <a:pPr marL="0" indent="0">
              <a:buNone/>
            </a:pPr>
            <a:r>
              <a:rPr lang="en-US" sz="1700" b="1" dirty="0">
                <a:solidFill>
                  <a:srgbClr val="1B3A5C"/>
                </a:solidFill>
                <a:latin typeface="Calibri" pitchFamily="34" charset="0"/>
                <a:ea typeface="Calibri" pitchFamily="34" charset="-122"/>
                <a:cs typeface="Calibri" pitchFamily="34" charset="-120"/>
              </a:rPr>
              <a:t>Tri Lý</a:t>
            </a:r>
            <a:endParaRPr lang="en-US" sz="1700" dirty="0"/>
          </a:p>
        </p:txBody>
      </p:sp>
      <p:sp>
        <p:nvSpPr>
          <p:cNvPr id="9" name="Text 7"/>
          <p:cNvSpPr/>
          <p:nvPr/>
        </p:nvSpPr>
        <p:spPr>
          <a:xfrm>
            <a:off x="868680" y="2880360"/>
            <a:ext cx="4892040" cy="121615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Hiểu bản chất, nguyên lý, quy luật hoạt động của hệ thống tin học và công nghệ số. VD: hiểu mối quan hệ dữ liệu – thuật toán – chương trình – máy tính.</a:t>
            </a:r>
            <a:endParaRPr lang="en-US" sz="1150" dirty="0"/>
          </a:p>
        </p:txBody>
      </p:sp>
      <p:sp>
        <p:nvSpPr>
          <p:cNvPr id="10" name="Shape 8"/>
          <p:cNvSpPr/>
          <p:nvPr/>
        </p:nvSpPr>
        <p:spPr>
          <a:xfrm>
            <a:off x="6172200" y="2194560"/>
            <a:ext cx="5440680" cy="2084832"/>
          </a:xfrm>
          <a:prstGeom prst="roundRect">
            <a:avLst>
              <a:gd name="adj" fmla="val 4386"/>
            </a:avLst>
          </a:prstGeom>
          <a:solidFill>
            <a:srgbClr val="FFFFFF"/>
          </a:solidFill>
          <a:ln w="12700">
            <a:solidFill>
              <a:srgbClr val="DCE4EC"/>
            </a:solidFill>
            <a:prstDash val="solid"/>
          </a:ln>
        </p:spPr>
      </p:sp>
      <p:sp>
        <p:nvSpPr>
          <p:cNvPr id="11" name="Shape 9"/>
          <p:cNvSpPr/>
          <p:nvPr/>
        </p:nvSpPr>
        <p:spPr>
          <a:xfrm>
            <a:off x="6172200" y="2194560"/>
            <a:ext cx="109728" cy="2084832"/>
          </a:xfrm>
          <a:prstGeom prst="roundRect">
            <a:avLst/>
          </a:prstGeom>
          <a:solidFill>
            <a:srgbClr val="3E92CC"/>
          </a:solidFill>
          <a:ln/>
        </p:spPr>
      </p:sp>
      <p:sp>
        <p:nvSpPr>
          <p:cNvPr id="12" name="Text 10"/>
          <p:cNvSpPr/>
          <p:nvPr/>
        </p:nvSpPr>
        <p:spPr>
          <a:xfrm>
            <a:off x="6492240" y="2359152"/>
            <a:ext cx="4892040" cy="457200"/>
          </a:xfrm>
          <a:prstGeom prst="rect">
            <a:avLst/>
          </a:prstGeom>
          <a:noFill/>
          <a:ln/>
        </p:spPr>
        <p:txBody>
          <a:bodyPr wrap="square" rtlCol="0" anchor="ctr"/>
          <a:lstStyle/>
          <a:p>
            <a:pPr marL="0" indent="0">
              <a:buNone/>
            </a:pPr>
            <a:r>
              <a:rPr lang="en-US" sz="1700" b="1" dirty="0">
                <a:solidFill>
                  <a:srgbClr val="1B3A5C"/>
                </a:solidFill>
                <a:latin typeface="Calibri" pitchFamily="34" charset="0"/>
                <a:ea typeface="Calibri" pitchFamily="34" charset="-122"/>
                <a:cs typeface="Calibri" pitchFamily="34" charset="-120"/>
              </a:rPr>
              <a:t>Tri Nhân</a:t>
            </a:r>
            <a:endParaRPr lang="en-US" sz="1700" dirty="0"/>
          </a:p>
        </p:txBody>
      </p:sp>
      <p:sp>
        <p:nvSpPr>
          <p:cNvPr id="13" name="Text 11"/>
          <p:cNvSpPr/>
          <p:nvPr/>
        </p:nvSpPr>
        <p:spPr>
          <a:xfrm>
            <a:off x="6492240" y="2880360"/>
            <a:ext cx="4892040" cy="121615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Nhận thức mối quan hệ giữa con người và công nghệ, tác động đến hành vi, giá trị nhân văn.</a:t>
            </a:r>
            <a:endParaRPr lang="en-US" sz="1150" dirty="0"/>
          </a:p>
        </p:txBody>
      </p:sp>
      <p:sp>
        <p:nvSpPr>
          <p:cNvPr id="14" name="Shape 12"/>
          <p:cNvSpPr/>
          <p:nvPr/>
        </p:nvSpPr>
        <p:spPr>
          <a:xfrm>
            <a:off x="548640" y="4462272"/>
            <a:ext cx="5440680" cy="2084832"/>
          </a:xfrm>
          <a:prstGeom prst="roundRect">
            <a:avLst>
              <a:gd name="adj" fmla="val 4386"/>
            </a:avLst>
          </a:prstGeom>
          <a:solidFill>
            <a:srgbClr val="FFFFFF"/>
          </a:solidFill>
          <a:ln w="12700">
            <a:solidFill>
              <a:srgbClr val="DCE4EC"/>
            </a:solidFill>
            <a:prstDash val="solid"/>
          </a:ln>
        </p:spPr>
      </p:sp>
      <p:sp>
        <p:nvSpPr>
          <p:cNvPr id="15" name="Shape 13"/>
          <p:cNvSpPr/>
          <p:nvPr/>
        </p:nvSpPr>
        <p:spPr>
          <a:xfrm>
            <a:off x="548640" y="4462272"/>
            <a:ext cx="109728" cy="2084832"/>
          </a:xfrm>
          <a:prstGeom prst="roundRect">
            <a:avLst/>
          </a:prstGeom>
          <a:solidFill>
            <a:srgbClr val="5FA35C"/>
          </a:solidFill>
          <a:ln/>
        </p:spPr>
      </p:sp>
      <p:sp>
        <p:nvSpPr>
          <p:cNvPr id="16" name="Text 14"/>
          <p:cNvSpPr/>
          <p:nvPr/>
        </p:nvSpPr>
        <p:spPr>
          <a:xfrm>
            <a:off x="868680" y="4626864"/>
            <a:ext cx="4892040" cy="457200"/>
          </a:xfrm>
          <a:prstGeom prst="rect">
            <a:avLst/>
          </a:prstGeom>
          <a:noFill/>
          <a:ln/>
        </p:spPr>
        <p:txBody>
          <a:bodyPr wrap="square" rtlCol="0" anchor="ctr"/>
          <a:lstStyle/>
          <a:p>
            <a:pPr marL="0" indent="0">
              <a:buNone/>
            </a:pPr>
            <a:r>
              <a:rPr lang="en-US" sz="1700" b="1" dirty="0">
                <a:solidFill>
                  <a:srgbClr val="1B3A5C"/>
                </a:solidFill>
                <a:latin typeface="Calibri" pitchFamily="34" charset="0"/>
                <a:ea typeface="Calibri" pitchFamily="34" charset="-122"/>
                <a:cs typeface="Calibri" pitchFamily="34" charset="-120"/>
              </a:rPr>
              <a:t>Tri Sự</a:t>
            </a:r>
            <a:endParaRPr lang="en-US" sz="1700" dirty="0"/>
          </a:p>
        </p:txBody>
      </p:sp>
      <p:sp>
        <p:nvSpPr>
          <p:cNvPr id="17" name="Text 15"/>
          <p:cNvSpPr/>
          <p:nvPr/>
        </p:nvSpPr>
        <p:spPr>
          <a:xfrm>
            <a:off x="868680" y="5148072"/>
            <a:ext cx="4892040" cy="121615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Nhận diện công việc, nhiệm vụ, vấn đề thực tiễn có thể giải quyết bằng Tin học.</a:t>
            </a:r>
            <a:endParaRPr lang="en-US" sz="1150" dirty="0"/>
          </a:p>
        </p:txBody>
      </p:sp>
      <p:sp>
        <p:nvSpPr>
          <p:cNvPr id="18" name="Shape 16"/>
          <p:cNvSpPr/>
          <p:nvPr/>
        </p:nvSpPr>
        <p:spPr>
          <a:xfrm>
            <a:off x="6172200" y="4462272"/>
            <a:ext cx="5440680" cy="2084832"/>
          </a:xfrm>
          <a:prstGeom prst="roundRect">
            <a:avLst>
              <a:gd name="adj" fmla="val 4386"/>
            </a:avLst>
          </a:prstGeom>
          <a:solidFill>
            <a:srgbClr val="FFFFFF"/>
          </a:solidFill>
          <a:ln w="12700">
            <a:solidFill>
              <a:srgbClr val="DCE4EC"/>
            </a:solidFill>
            <a:prstDash val="solid"/>
          </a:ln>
        </p:spPr>
      </p:sp>
      <p:sp>
        <p:nvSpPr>
          <p:cNvPr id="19" name="Shape 17"/>
          <p:cNvSpPr/>
          <p:nvPr/>
        </p:nvSpPr>
        <p:spPr>
          <a:xfrm>
            <a:off x="6172200" y="4462272"/>
            <a:ext cx="109728" cy="2084832"/>
          </a:xfrm>
          <a:prstGeom prst="roundRect">
            <a:avLst/>
          </a:prstGeom>
          <a:solidFill>
            <a:srgbClr val="F2A541"/>
          </a:solidFill>
          <a:ln/>
        </p:spPr>
      </p:sp>
      <p:sp>
        <p:nvSpPr>
          <p:cNvPr id="20" name="Text 18"/>
          <p:cNvSpPr/>
          <p:nvPr/>
        </p:nvSpPr>
        <p:spPr>
          <a:xfrm>
            <a:off x="6492240" y="4626864"/>
            <a:ext cx="4892040" cy="457200"/>
          </a:xfrm>
          <a:prstGeom prst="rect">
            <a:avLst/>
          </a:prstGeom>
          <a:noFill/>
          <a:ln/>
        </p:spPr>
        <p:txBody>
          <a:bodyPr wrap="square" rtlCol="0" anchor="ctr"/>
          <a:lstStyle/>
          <a:p>
            <a:pPr marL="0" indent="0">
              <a:buNone/>
            </a:pPr>
            <a:r>
              <a:rPr lang="en-US" sz="1700" b="1" dirty="0">
                <a:solidFill>
                  <a:srgbClr val="1B3A5C"/>
                </a:solidFill>
                <a:latin typeface="Calibri" pitchFamily="34" charset="0"/>
                <a:ea typeface="Calibri" pitchFamily="34" charset="-122"/>
                <a:cs typeface="Calibri" pitchFamily="34" charset="-120"/>
              </a:rPr>
              <a:t>Tri Hành</a:t>
            </a:r>
            <a:endParaRPr lang="en-US" sz="1700" dirty="0"/>
          </a:p>
        </p:txBody>
      </p:sp>
      <p:sp>
        <p:nvSpPr>
          <p:cNvPr id="21" name="Text 19"/>
          <p:cNvSpPr/>
          <p:nvPr/>
        </p:nvSpPr>
        <p:spPr>
          <a:xfrm>
            <a:off x="6492240" y="5148072"/>
            <a:ext cx="4892040" cy="1216152"/>
          </a:xfrm>
          <a:prstGeom prst="rect">
            <a:avLst/>
          </a:prstGeom>
          <a:noFill/>
          <a:ln/>
        </p:spPr>
        <p:txBody>
          <a:bodyPr wrap="square" rtlCol="0" anchor="t"/>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Vận dụng kiến thức, kỹ năng vào hành động cụ thể: dùng phần mềm, lập trình, khai thác Internet an toàn.</a:t>
            </a:r>
            <a:endParaRPr lang="en-US" sz="1150" dirty="0"/>
          </a:p>
        </p:txBody>
      </p:sp>
      <p:sp>
        <p:nvSpPr>
          <p:cNvPr id="22" name="Text 20"/>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2.6</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Bốn thành phần của nội dung giáo dục Tin học</a:t>
            </a:r>
            <a:endParaRPr lang="en-US" sz="3000" dirty="0"/>
          </a:p>
        </p:txBody>
      </p:sp>
      <p:sp>
        <p:nvSpPr>
          <p:cNvPr id="5" name="Shape 3"/>
          <p:cNvSpPr/>
          <p:nvPr/>
        </p:nvSpPr>
        <p:spPr>
          <a:xfrm>
            <a:off x="548640" y="1691640"/>
            <a:ext cx="11064240" cy="868680"/>
          </a:xfrm>
          <a:prstGeom prst="roundRect">
            <a:avLst>
              <a:gd name="adj" fmla="val 8421"/>
            </a:avLst>
          </a:prstGeom>
          <a:solidFill>
            <a:srgbClr val="FFFFFF"/>
          </a:solidFill>
          <a:ln w="12700">
            <a:solidFill>
              <a:srgbClr val="DCE4EC"/>
            </a:solidFill>
            <a:prstDash val="solid"/>
          </a:ln>
        </p:spPr>
      </p:sp>
      <p:sp>
        <p:nvSpPr>
          <p:cNvPr id="6" name="Shape 4"/>
          <p:cNvSpPr/>
          <p:nvPr/>
        </p:nvSpPr>
        <p:spPr>
          <a:xfrm>
            <a:off x="777240" y="1856232"/>
            <a:ext cx="530352" cy="530352"/>
          </a:xfrm>
          <a:prstGeom prst="ellipse">
            <a:avLst/>
          </a:prstGeom>
          <a:solidFill>
            <a:srgbClr val="1B3A5C"/>
          </a:solidFill>
          <a:ln/>
        </p:spPr>
      </p:sp>
      <p:sp>
        <p:nvSpPr>
          <p:cNvPr id="7" name="Text 5"/>
          <p:cNvSpPr/>
          <p:nvPr/>
        </p:nvSpPr>
        <p:spPr>
          <a:xfrm>
            <a:off x="777240" y="1856232"/>
            <a:ext cx="530352" cy="530352"/>
          </a:xfrm>
          <a:prstGeom prst="rect">
            <a:avLst/>
          </a:prstGeom>
          <a:noFill/>
          <a:ln/>
        </p:spPr>
        <p:txBody>
          <a:bodyPr wrap="square" rtlCol="0" anchor="ctr"/>
          <a:lstStyle/>
          <a:p>
            <a:pPr marL="0" indent="0" algn="ctr">
              <a:buNone/>
            </a:pPr>
            <a:r>
              <a:rPr lang="en-US" sz="1276" b="1" dirty="0">
                <a:solidFill>
                  <a:srgbClr val="FFFFFF"/>
                </a:solidFill>
                <a:latin typeface="Calibri" pitchFamily="34" charset="0"/>
                <a:ea typeface="Calibri" pitchFamily="34" charset="-122"/>
                <a:cs typeface="Calibri" pitchFamily="34" charset="-120"/>
              </a:rPr>
              <a:t>1</a:t>
            </a:r>
            <a:endParaRPr lang="en-US" sz="1276" dirty="0"/>
          </a:p>
        </p:txBody>
      </p:sp>
      <p:sp>
        <p:nvSpPr>
          <p:cNvPr id="8" name="Text 6"/>
          <p:cNvSpPr/>
          <p:nvPr/>
        </p:nvSpPr>
        <p:spPr>
          <a:xfrm>
            <a:off x="1600200" y="1746504"/>
            <a:ext cx="3291840" cy="758952"/>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Yếu tố lý thuyết</a:t>
            </a:r>
            <a:endParaRPr lang="en-US" sz="1300" dirty="0"/>
          </a:p>
        </p:txBody>
      </p:sp>
      <p:sp>
        <p:nvSpPr>
          <p:cNvPr id="9" name="Text 7"/>
          <p:cNvSpPr/>
          <p:nvPr/>
        </p:nvSpPr>
        <p:spPr>
          <a:xfrm>
            <a:off x="5029200" y="1746504"/>
            <a:ext cx="6400800" cy="758952"/>
          </a:xfrm>
          <a:prstGeom prst="rect">
            <a:avLst/>
          </a:prstGeom>
          <a:noFill/>
          <a:ln/>
        </p:spPr>
        <p:txBody>
          <a:bodyPr wrap="square" rtlCol="0" anchor="ctr"/>
          <a:lstStyle/>
          <a:p>
            <a:pPr marL="0" indent="0">
              <a:buNone/>
            </a:pPr>
            <a:r>
              <a:rPr lang="en-US" sz="1130" dirty="0">
                <a:solidFill>
                  <a:srgbClr val="1B2430"/>
                </a:solidFill>
                <a:latin typeface="Calibri" pitchFamily="34" charset="0"/>
                <a:ea typeface="Calibri" pitchFamily="34" charset="-122"/>
                <a:cs typeface="Calibri" pitchFamily="34" charset="-120"/>
              </a:rPr>
              <a:t>Khái niệm, định nghĩa, mô hình cơ bản: hệ điều hành, phần mềm, mạng máy tính, biến, cấu trúc điều khiển...</a:t>
            </a:r>
            <a:endParaRPr lang="en-US" sz="1130" dirty="0"/>
          </a:p>
        </p:txBody>
      </p:sp>
      <p:sp>
        <p:nvSpPr>
          <p:cNvPr id="10" name="Shape 8"/>
          <p:cNvSpPr/>
          <p:nvPr/>
        </p:nvSpPr>
        <p:spPr>
          <a:xfrm>
            <a:off x="548640" y="2679192"/>
            <a:ext cx="11064240" cy="868680"/>
          </a:xfrm>
          <a:prstGeom prst="roundRect">
            <a:avLst>
              <a:gd name="adj" fmla="val 8421"/>
            </a:avLst>
          </a:prstGeom>
          <a:solidFill>
            <a:srgbClr val="FFFFFF"/>
          </a:solidFill>
          <a:ln w="12700">
            <a:solidFill>
              <a:srgbClr val="DCE4EC"/>
            </a:solidFill>
            <a:prstDash val="solid"/>
          </a:ln>
        </p:spPr>
      </p:sp>
      <p:sp>
        <p:nvSpPr>
          <p:cNvPr id="11" name="Shape 9"/>
          <p:cNvSpPr/>
          <p:nvPr/>
        </p:nvSpPr>
        <p:spPr>
          <a:xfrm>
            <a:off x="777240" y="2843784"/>
            <a:ext cx="530352" cy="530352"/>
          </a:xfrm>
          <a:prstGeom prst="ellipse">
            <a:avLst/>
          </a:prstGeom>
          <a:solidFill>
            <a:srgbClr val="3E92CC"/>
          </a:solidFill>
          <a:ln/>
        </p:spPr>
      </p:sp>
      <p:sp>
        <p:nvSpPr>
          <p:cNvPr id="12" name="Text 10"/>
          <p:cNvSpPr/>
          <p:nvPr/>
        </p:nvSpPr>
        <p:spPr>
          <a:xfrm>
            <a:off x="777240" y="2843784"/>
            <a:ext cx="530352" cy="530352"/>
          </a:xfrm>
          <a:prstGeom prst="rect">
            <a:avLst/>
          </a:prstGeom>
          <a:noFill/>
          <a:ln/>
        </p:spPr>
        <p:txBody>
          <a:bodyPr wrap="square" rtlCol="0" anchor="ctr"/>
          <a:lstStyle/>
          <a:p>
            <a:pPr marL="0" indent="0" algn="ctr">
              <a:buNone/>
            </a:pPr>
            <a:r>
              <a:rPr lang="en-US" sz="1276" b="1" dirty="0">
                <a:solidFill>
                  <a:srgbClr val="FFFFFF"/>
                </a:solidFill>
                <a:latin typeface="Calibri" pitchFamily="34" charset="0"/>
                <a:ea typeface="Calibri" pitchFamily="34" charset="-122"/>
                <a:cs typeface="Calibri" pitchFamily="34" charset="-120"/>
              </a:rPr>
              <a:t>2</a:t>
            </a:r>
            <a:endParaRPr lang="en-US" sz="1276" dirty="0"/>
          </a:p>
        </p:txBody>
      </p:sp>
      <p:sp>
        <p:nvSpPr>
          <p:cNvPr id="13" name="Text 11"/>
          <p:cNvSpPr/>
          <p:nvPr/>
        </p:nvSpPr>
        <p:spPr>
          <a:xfrm>
            <a:off x="1600200" y="2734056"/>
            <a:ext cx="3291840" cy="758952"/>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Phương pháp tư duy &amp; hoạt động trí tuệ</a:t>
            </a:r>
            <a:endParaRPr lang="en-US" sz="1300" dirty="0"/>
          </a:p>
        </p:txBody>
      </p:sp>
      <p:sp>
        <p:nvSpPr>
          <p:cNvPr id="14" name="Text 12"/>
          <p:cNvSpPr/>
          <p:nvPr/>
        </p:nvSpPr>
        <p:spPr>
          <a:xfrm>
            <a:off x="5029200" y="2734056"/>
            <a:ext cx="6400800" cy="758952"/>
          </a:xfrm>
          <a:prstGeom prst="rect">
            <a:avLst/>
          </a:prstGeom>
          <a:noFill/>
          <a:ln/>
        </p:spPr>
        <p:txBody>
          <a:bodyPr wrap="square" rtlCol="0" anchor="ctr"/>
          <a:lstStyle/>
          <a:p>
            <a:pPr marL="0" indent="0">
              <a:buNone/>
            </a:pPr>
            <a:r>
              <a:rPr lang="en-US" sz="1130" dirty="0">
                <a:solidFill>
                  <a:srgbClr val="1B2430"/>
                </a:solidFill>
                <a:latin typeface="Calibri" pitchFamily="34" charset="0"/>
                <a:ea typeface="Calibri" pitchFamily="34" charset="-122"/>
                <a:cs typeface="Calibri" pitchFamily="34" charset="-120"/>
              </a:rPr>
              <a:t>Phân rã vấn đề, chia để trị, quy lạ về quen; phân tích bài toán, kiểm thử, tối ưu chương trình.</a:t>
            </a:r>
            <a:endParaRPr lang="en-US" sz="1130" dirty="0"/>
          </a:p>
        </p:txBody>
      </p:sp>
      <p:sp>
        <p:nvSpPr>
          <p:cNvPr id="15" name="Shape 13"/>
          <p:cNvSpPr/>
          <p:nvPr/>
        </p:nvSpPr>
        <p:spPr>
          <a:xfrm>
            <a:off x="548640" y="3666744"/>
            <a:ext cx="11064240" cy="868680"/>
          </a:xfrm>
          <a:prstGeom prst="roundRect">
            <a:avLst>
              <a:gd name="adj" fmla="val 8421"/>
            </a:avLst>
          </a:prstGeom>
          <a:solidFill>
            <a:srgbClr val="FFFFFF"/>
          </a:solidFill>
          <a:ln w="12700">
            <a:solidFill>
              <a:srgbClr val="DCE4EC"/>
            </a:solidFill>
            <a:prstDash val="solid"/>
          </a:ln>
        </p:spPr>
      </p:sp>
      <p:sp>
        <p:nvSpPr>
          <p:cNvPr id="16" name="Shape 14"/>
          <p:cNvSpPr/>
          <p:nvPr/>
        </p:nvSpPr>
        <p:spPr>
          <a:xfrm>
            <a:off x="777240" y="3831336"/>
            <a:ext cx="530352" cy="530352"/>
          </a:xfrm>
          <a:prstGeom prst="ellipse">
            <a:avLst/>
          </a:prstGeom>
          <a:solidFill>
            <a:srgbClr val="1B3A5C"/>
          </a:solidFill>
          <a:ln/>
        </p:spPr>
      </p:sp>
      <p:sp>
        <p:nvSpPr>
          <p:cNvPr id="17" name="Text 15"/>
          <p:cNvSpPr/>
          <p:nvPr/>
        </p:nvSpPr>
        <p:spPr>
          <a:xfrm>
            <a:off x="777240" y="3831336"/>
            <a:ext cx="530352" cy="530352"/>
          </a:xfrm>
          <a:prstGeom prst="rect">
            <a:avLst/>
          </a:prstGeom>
          <a:noFill/>
          <a:ln/>
        </p:spPr>
        <p:txBody>
          <a:bodyPr wrap="square" rtlCol="0" anchor="ctr"/>
          <a:lstStyle/>
          <a:p>
            <a:pPr marL="0" indent="0" algn="ctr">
              <a:buNone/>
            </a:pPr>
            <a:r>
              <a:rPr lang="en-US" sz="1276" b="1" dirty="0">
                <a:solidFill>
                  <a:srgbClr val="FFFFFF"/>
                </a:solidFill>
                <a:latin typeface="Calibri" pitchFamily="34" charset="0"/>
                <a:ea typeface="Calibri" pitchFamily="34" charset="-122"/>
                <a:cs typeface="Calibri" pitchFamily="34" charset="-120"/>
              </a:rPr>
              <a:t>3</a:t>
            </a:r>
            <a:endParaRPr lang="en-US" sz="1276" dirty="0"/>
          </a:p>
        </p:txBody>
      </p:sp>
      <p:sp>
        <p:nvSpPr>
          <p:cNvPr id="18" name="Text 16"/>
          <p:cNvSpPr/>
          <p:nvPr/>
        </p:nvSpPr>
        <p:spPr>
          <a:xfrm>
            <a:off x="1600200" y="3721608"/>
            <a:ext cx="3291840" cy="758952"/>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Thế giới quan &amp; vấn đề xã hội</a:t>
            </a:r>
            <a:endParaRPr lang="en-US" sz="1300" dirty="0"/>
          </a:p>
        </p:txBody>
      </p:sp>
      <p:sp>
        <p:nvSpPr>
          <p:cNvPr id="19" name="Text 17"/>
          <p:cNvSpPr/>
          <p:nvPr/>
        </p:nvSpPr>
        <p:spPr>
          <a:xfrm>
            <a:off x="5029200" y="3721608"/>
            <a:ext cx="6400800" cy="758952"/>
          </a:xfrm>
          <a:prstGeom prst="rect">
            <a:avLst/>
          </a:prstGeom>
          <a:noFill/>
          <a:ln/>
        </p:spPr>
        <p:txBody>
          <a:bodyPr wrap="square" rtlCol="0" anchor="ctr"/>
          <a:lstStyle/>
          <a:p>
            <a:pPr marL="0" indent="0">
              <a:buNone/>
            </a:pPr>
            <a:r>
              <a:rPr lang="en-US" sz="1130" dirty="0">
                <a:solidFill>
                  <a:srgbClr val="1B2430"/>
                </a:solidFill>
                <a:latin typeface="Calibri" pitchFamily="34" charset="0"/>
                <a:ea typeface="Calibri" pitchFamily="34" charset="-122"/>
                <a:cs typeface="Calibri" pitchFamily="34" charset="-120"/>
              </a:rPr>
              <a:t>Vai trò công nghệ trong đời sống KT–XH; đạo đức nghề nghiệp, an toàn thông tin, trách nhiệm công dân số.</a:t>
            </a:r>
            <a:endParaRPr lang="en-US" sz="1130" dirty="0"/>
          </a:p>
        </p:txBody>
      </p:sp>
      <p:sp>
        <p:nvSpPr>
          <p:cNvPr id="20" name="Shape 18"/>
          <p:cNvSpPr/>
          <p:nvPr/>
        </p:nvSpPr>
        <p:spPr>
          <a:xfrm>
            <a:off x="548640" y="4654296"/>
            <a:ext cx="11064240" cy="868680"/>
          </a:xfrm>
          <a:prstGeom prst="roundRect">
            <a:avLst>
              <a:gd name="adj" fmla="val 8421"/>
            </a:avLst>
          </a:prstGeom>
          <a:solidFill>
            <a:srgbClr val="FFFFFF"/>
          </a:solidFill>
          <a:ln w="12700">
            <a:solidFill>
              <a:srgbClr val="DCE4EC"/>
            </a:solidFill>
            <a:prstDash val="solid"/>
          </a:ln>
        </p:spPr>
      </p:sp>
      <p:sp>
        <p:nvSpPr>
          <p:cNvPr id="21" name="Shape 19"/>
          <p:cNvSpPr/>
          <p:nvPr/>
        </p:nvSpPr>
        <p:spPr>
          <a:xfrm>
            <a:off x="777240" y="4818888"/>
            <a:ext cx="530352" cy="530352"/>
          </a:xfrm>
          <a:prstGeom prst="ellipse">
            <a:avLst/>
          </a:prstGeom>
          <a:solidFill>
            <a:srgbClr val="3E92CC"/>
          </a:solidFill>
          <a:ln/>
        </p:spPr>
      </p:sp>
      <p:sp>
        <p:nvSpPr>
          <p:cNvPr id="22" name="Text 20"/>
          <p:cNvSpPr/>
          <p:nvPr/>
        </p:nvSpPr>
        <p:spPr>
          <a:xfrm>
            <a:off x="777240" y="4818888"/>
            <a:ext cx="530352" cy="530352"/>
          </a:xfrm>
          <a:prstGeom prst="rect">
            <a:avLst/>
          </a:prstGeom>
          <a:noFill/>
          <a:ln/>
        </p:spPr>
        <p:txBody>
          <a:bodyPr wrap="square" rtlCol="0" anchor="ctr"/>
          <a:lstStyle/>
          <a:p>
            <a:pPr marL="0" indent="0" algn="ctr">
              <a:buNone/>
            </a:pPr>
            <a:r>
              <a:rPr lang="en-US" sz="1276" b="1" dirty="0">
                <a:solidFill>
                  <a:srgbClr val="FFFFFF"/>
                </a:solidFill>
                <a:latin typeface="Calibri" pitchFamily="34" charset="0"/>
                <a:ea typeface="Calibri" pitchFamily="34" charset="-122"/>
                <a:cs typeface="Calibri" pitchFamily="34" charset="-120"/>
              </a:rPr>
              <a:t>4</a:t>
            </a:r>
            <a:endParaRPr lang="en-US" sz="1276" dirty="0"/>
          </a:p>
        </p:txBody>
      </p:sp>
      <p:sp>
        <p:nvSpPr>
          <p:cNvPr id="23" name="Text 21"/>
          <p:cNvSpPr/>
          <p:nvPr/>
        </p:nvSpPr>
        <p:spPr>
          <a:xfrm>
            <a:off x="1600200" y="4709160"/>
            <a:ext cx="3291840" cy="758952"/>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Tri thức hành động</a:t>
            </a:r>
            <a:endParaRPr lang="en-US" sz="1300" dirty="0"/>
          </a:p>
        </p:txBody>
      </p:sp>
      <p:sp>
        <p:nvSpPr>
          <p:cNvPr id="24" name="Text 22"/>
          <p:cNvSpPr/>
          <p:nvPr/>
        </p:nvSpPr>
        <p:spPr>
          <a:xfrm>
            <a:off x="5029200" y="4709160"/>
            <a:ext cx="6400800" cy="758952"/>
          </a:xfrm>
          <a:prstGeom prst="rect">
            <a:avLst/>
          </a:prstGeom>
          <a:noFill/>
          <a:ln/>
        </p:spPr>
        <p:txBody>
          <a:bodyPr wrap="square" rtlCol="0" anchor="ctr"/>
          <a:lstStyle/>
          <a:p>
            <a:pPr marL="0" indent="0">
              <a:buNone/>
            </a:pPr>
            <a:r>
              <a:rPr lang="en-US" sz="1130" dirty="0">
                <a:solidFill>
                  <a:srgbClr val="1B2430"/>
                </a:solidFill>
                <a:latin typeface="Calibri" pitchFamily="34" charset="0"/>
                <a:ea typeface="Calibri" pitchFamily="34" charset="-122"/>
                <a:cs typeface="Calibri" pitchFamily="34" charset="-120"/>
              </a:rPr>
              <a:t>Vận dụng tổng hợp kiến thức, kỹ năng, thái độ để thực hiện nhiệm vụ cụ thể (VD: dự án phần mềm quản lý lớp học).</a:t>
            </a:r>
            <a:endParaRPr lang="en-US" sz="1130" dirty="0"/>
          </a:p>
        </p:txBody>
      </p:sp>
      <p:sp>
        <p:nvSpPr>
          <p:cNvPr id="25" name="Text 23"/>
          <p:cNvSpPr/>
          <p:nvPr/>
        </p:nvSpPr>
        <p:spPr>
          <a:xfrm>
            <a:off x="548640" y="5751576"/>
            <a:ext cx="11064240" cy="457200"/>
          </a:xfrm>
          <a:prstGeom prst="rect">
            <a:avLst/>
          </a:prstGeom>
          <a:noFill/>
          <a:ln/>
        </p:spPr>
        <p:txBody>
          <a:bodyPr wrap="square" rtlCol="0" anchor="ctr"/>
          <a:lstStyle/>
          <a:p>
            <a:pPr marL="0" indent="0">
              <a:buNone/>
            </a:pPr>
            <a:r>
              <a:rPr lang="en-US" sz="1200" b="1" i="1" dirty="0">
                <a:solidFill>
                  <a:srgbClr val="1B3A5C"/>
                </a:solidFill>
                <a:latin typeface="Calibri" pitchFamily="34" charset="0"/>
                <a:ea typeface="Calibri" pitchFamily="34" charset="-122"/>
                <a:cs typeface="Calibri" pitchFamily="34" charset="-120"/>
              </a:rPr>
              <a:t>Dạy Tin học không chỉ để “biết sử dụng máy tính” mà để tư duy có hệ thống, hành động có trách nhiệm và sáng tạo trong thế giới số hóa.</a:t>
            </a:r>
            <a:endParaRPr lang="en-US" sz="1200" dirty="0"/>
          </a:p>
        </p:txBody>
      </p:sp>
      <p:sp>
        <p:nvSpPr>
          <p:cNvPr id="26" name="Text 24"/>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2.7</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Bảy chủ đề cốt lõi trên ba mạch nội dung</a:t>
            </a:r>
            <a:endParaRPr lang="en-US" sz="3000" dirty="0"/>
          </a:p>
        </p:txBody>
      </p:sp>
      <p:sp>
        <p:nvSpPr>
          <p:cNvPr id="5" name="Shape 3"/>
          <p:cNvSpPr/>
          <p:nvPr/>
        </p:nvSpPr>
        <p:spPr>
          <a:xfrm>
            <a:off x="548640" y="1783080"/>
            <a:ext cx="3639312" cy="4206240"/>
          </a:xfrm>
          <a:prstGeom prst="roundRect">
            <a:avLst>
              <a:gd name="adj" fmla="val 2513"/>
            </a:avLst>
          </a:prstGeom>
          <a:solidFill>
            <a:srgbClr val="FFFFFF"/>
          </a:solidFill>
          <a:ln w="12700">
            <a:solidFill>
              <a:srgbClr val="DCE4EC"/>
            </a:solidFill>
            <a:prstDash val="solid"/>
          </a:ln>
        </p:spPr>
      </p:sp>
      <p:sp>
        <p:nvSpPr>
          <p:cNvPr id="6" name="Shape 4"/>
          <p:cNvSpPr/>
          <p:nvPr/>
        </p:nvSpPr>
        <p:spPr>
          <a:xfrm>
            <a:off x="1865376" y="1965960"/>
            <a:ext cx="1005840" cy="548640"/>
          </a:xfrm>
          <a:prstGeom prst="roundRect">
            <a:avLst>
              <a:gd name="adj" fmla="val 13333"/>
            </a:avLst>
          </a:prstGeom>
          <a:solidFill>
            <a:srgbClr val="5FA35C"/>
          </a:solidFill>
          <a:ln/>
        </p:spPr>
      </p:sp>
      <p:sp>
        <p:nvSpPr>
          <p:cNvPr id="7" name="Text 5"/>
          <p:cNvSpPr/>
          <p:nvPr/>
        </p:nvSpPr>
        <p:spPr>
          <a:xfrm>
            <a:off x="1865376" y="1965960"/>
            <a:ext cx="10058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DL</a:t>
            </a:r>
            <a:endParaRPr lang="en-US" sz="1800" dirty="0"/>
          </a:p>
        </p:txBody>
      </p:sp>
      <p:sp>
        <p:nvSpPr>
          <p:cNvPr id="8" name="Text 6"/>
          <p:cNvSpPr/>
          <p:nvPr/>
        </p:nvSpPr>
        <p:spPr>
          <a:xfrm>
            <a:off x="822960" y="2788920"/>
            <a:ext cx="3090672" cy="3017520"/>
          </a:xfrm>
          <a:prstGeom prst="rect">
            <a:avLst/>
          </a:prstGeom>
          <a:noFill/>
          <a:ln/>
        </p:spPr>
        <p:txBody>
          <a:bodyPr wrap="square" rtlCol="0" anchor="t"/>
          <a:lstStyle/>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Máy tính &amp; xã hội tri thức</a:t>
            </a:r>
            <a:endParaRPr lang="en-US" sz="1200" dirty="0"/>
          </a:p>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Đạo đức, pháp luật, văn hóa số</a:t>
            </a:r>
            <a:endParaRPr lang="en-US" sz="1200" dirty="0"/>
          </a:p>
        </p:txBody>
      </p:sp>
      <p:sp>
        <p:nvSpPr>
          <p:cNvPr id="9" name="Shape 7"/>
          <p:cNvSpPr/>
          <p:nvPr/>
        </p:nvSpPr>
        <p:spPr>
          <a:xfrm>
            <a:off x="4370832" y="1783080"/>
            <a:ext cx="3639312" cy="4206240"/>
          </a:xfrm>
          <a:prstGeom prst="roundRect">
            <a:avLst>
              <a:gd name="adj" fmla="val 2513"/>
            </a:avLst>
          </a:prstGeom>
          <a:solidFill>
            <a:srgbClr val="FFFFFF"/>
          </a:solidFill>
          <a:ln w="12700">
            <a:solidFill>
              <a:srgbClr val="DCE4EC"/>
            </a:solidFill>
            <a:prstDash val="solid"/>
          </a:ln>
        </p:spPr>
      </p:sp>
      <p:sp>
        <p:nvSpPr>
          <p:cNvPr id="10" name="Shape 8"/>
          <p:cNvSpPr/>
          <p:nvPr/>
        </p:nvSpPr>
        <p:spPr>
          <a:xfrm>
            <a:off x="5687568" y="1965960"/>
            <a:ext cx="1005840" cy="548640"/>
          </a:xfrm>
          <a:prstGeom prst="roundRect">
            <a:avLst>
              <a:gd name="adj" fmla="val 13333"/>
            </a:avLst>
          </a:prstGeom>
          <a:solidFill>
            <a:srgbClr val="3E92CC"/>
          </a:solidFill>
          <a:ln/>
        </p:spPr>
      </p:sp>
      <p:sp>
        <p:nvSpPr>
          <p:cNvPr id="11" name="Text 9"/>
          <p:cNvSpPr/>
          <p:nvPr/>
        </p:nvSpPr>
        <p:spPr>
          <a:xfrm>
            <a:off x="5687568" y="1965960"/>
            <a:ext cx="10058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ICT</a:t>
            </a:r>
            <a:endParaRPr lang="en-US" sz="1800" dirty="0"/>
          </a:p>
        </p:txBody>
      </p:sp>
      <p:sp>
        <p:nvSpPr>
          <p:cNvPr id="12" name="Text 10"/>
          <p:cNvSpPr/>
          <p:nvPr/>
        </p:nvSpPr>
        <p:spPr>
          <a:xfrm>
            <a:off x="4645152" y="2788920"/>
            <a:ext cx="3090672" cy="3017520"/>
          </a:xfrm>
          <a:prstGeom prst="rect">
            <a:avLst/>
          </a:prstGeom>
          <a:noFill/>
          <a:ln/>
        </p:spPr>
        <p:txBody>
          <a:bodyPr wrap="square" rtlCol="0" anchor="t"/>
          <a:lstStyle/>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Ứng dụng Tin học</a:t>
            </a:r>
            <a:endParaRPr lang="en-US" sz="1200" dirty="0"/>
          </a:p>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Tổ chức lưu trữ, tìm kiếm, trao đổi TT</a:t>
            </a:r>
            <a:endParaRPr lang="en-US" sz="1200" dirty="0"/>
          </a:p>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Mạng máy tính và Internet</a:t>
            </a:r>
            <a:endParaRPr lang="en-US" sz="1200" dirty="0"/>
          </a:p>
        </p:txBody>
      </p:sp>
      <p:sp>
        <p:nvSpPr>
          <p:cNvPr id="13" name="Shape 11"/>
          <p:cNvSpPr/>
          <p:nvPr/>
        </p:nvSpPr>
        <p:spPr>
          <a:xfrm>
            <a:off x="8193024" y="1783080"/>
            <a:ext cx="3639312" cy="4206240"/>
          </a:xfrm>
          <a:prstGeom prst="roundRect">
            <a:avLst>
              <a:gd name="adj" fmla="val 2513"/>
            </a:avLst>
          </a:prstGeom>
          <a:solidFill>
            <a:srgbClr val="FFFFFF"/>
          </a:solidFill>
          <a:ln w="12700">
            <a:solidFill>
              <a:srgbClr val="DCE4EC"/>
            </a:solidFill>
            <a:prstDash val="solid"/>
          </a:ln>
        </p:spPr>
      </p:sp>
      <p:sp>
        <p:nvSpPr>
          <p:cNvPr id="14" name="Shape 12"/>
          <p:cNvSpPr/>
          <p:nvPr/>
        </p:nvSpPr>
        <p:spPr>
          <a:xfrm>
            <a:off x="9509760" y="1965960"/>
            <a:ext cx="1005840" cy="548640"/>
          </a:xfrm>
          <a:prstGeom prst="roundRect">
            <a:avLst>
              <a:gd name="adj" fmla="val 13333"/>
            </a:avLst>
          </a:prstGeom>
          <a:solidFill>
            <a:srgbClr val="1B3A5C"/>
          </a:solidFill>
          <a:ln/>
        </p:spPr>
      </p:sp>
      <p:sp>
        <p:nvSpPr>
          <p:cNvPr id="15" name="Text 13"/>
          <p:cNvSpPr/>
          <p:nvPr/>
        </p:nvSpPr>
        <p:spPr>
          <a:xfrm>
            <a:off x="9509760" y="1965960"/>
            <a:ext cx="10058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CS</a:t>
            </a:r>
            <a:endParaRPr lang="en-US" sz="1800" dirty="0"/>
          </a:p>
        </p:txBody>
      </p:sp>
      <p:sp>
        <p:nvSpPr>
          <p:cNvPr id="16" name="Text 14"/>
          <p:cNvSpPr/>
          <p:nvPr/>
        </p:nvSpPr>
        <p:spPr>
          <a:xfrm>
            <a:off x="8467344" y="2788920"/>
            <a:ext cx="3090672" cy="3017520"/>
          </a:xfrm>
          <a:prstGeom prst="rect">
            <a:avLst/>
          </a:prstGeom>
          <a:noFill/>
          <a:ln/>
        </p:spPr>
        <p:txBody>
          <a:bodyPr wrap="square" rtlCol="0" anchor="t"/>
          <a:lstStyle/>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Giải quyết vấn đề với sự trợ giúp của máy tính</a:t>
            </a:r>
            <a:endParaRPr lang="en-US" sz="1200" dirty="0"/>
          </a:p>
          <a:p>
            <a:pPr marL="177800" indent="-177800" algn="l">
              <a:lnSpc>
                <a:spcPct val="135000"/>
              </a:lnSpc>
              <a:buSzPct val="100000"/>
              <a:buChar char="▪"/>
            </a:pPr>
            <a:r>
              <a:rPr lang="en-US" sz="1200" dirty="0">
                <a:solidFill>
                  <a:srgbClr val="1B2430"/>
                </a:solidFill>
                <a:latin typeface="Calibri" pitchFamily="34" charset="0"/>
                <a:ea typeface="Calibri" pitchFamily="34" charset="-122"/>
                <a:cs typeface="Calibri" pitchFamily="34" charset="-120"/>
              </a:rPr>
              <a:t>Hướng nghiệp với Tin học</a:t>
            </a:r>
            <a:endParaRPr lang="en-US" sz="1200" dirty="0"/>
          </a:p>
        </p:txBody>
      </p:sp>
      <p:sp>
        <p:nvSpPr>
          <p:cNvPr id="17" name="Text 15"/>
          <p:cNvSpPr/>
          <p:nvPr/>
        </p:nvSpPr>
        <p:spPr>
          <a:xfrm>
            <a:off x="548640" y="6126480"/>
            <a:ext cx="11064240" cy="457200"/>
          </a:xfrm>
          <a:prstGeom prst="rect">
            <a:avLst/>
          </a:prstGeom>
          <a:noFill/>
          <a:ln/>
        </p:spPr>
        <p:txBody>
          <a:bodyPr wrap="square" rtlCol="0" anchor="ctr"/>
          <a:lstStyle/>
          <a:p>
            <a:pPr marL="0" indent="0">
              <a:buNone/>
            </a:pPr>
            <a:r>
              <a:rPr lang="en-US" sz="1150" i="1" dirty="0">
                <a:solidFill>
                  <a:srgbClr val="5B6B79"/>
                </a:solidFill>
                <a:latin typeface="Calibri" pitchFamily="34" charset="0"/>
                <a:ea typeface="Calibri" pitchFamily="34" charset="-122"/>
                <a:cs typeface="Calibri" pitchFamily="34" charset="-120"/>
              </a:rPr>
              <a:t>Chủ đề “Giải quyết vấn đề với sự trợ giúp của máy tính” giữ vai trò trung tâm — thể hiện rõ nhất đặc trưng khoa học của môn Tin học.</a:t>
            </a:r>
            <a:endParaRPr lang="en-US" sz="1150" dirty="0"/>
          </a:p>
        </p:txBody>
      </p:sp>
      <p:sp>
        <p:nvSpPr>
          <p:cNvPr id="18" name="Text 16"/>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2.7</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Yêu cầu cần đạt theo thang Bloom</a:t>
            </a:r>
            <a:endParaRPr lang="en-US" sz="3000" dirty="0"/>
          </a:p>
        </p:txBody>
      </p:sp>
      <p:sp>
        <p:nvSpPr>
          <p:cNvPr id="5" name="Text 3"/>
          <p:cNvSpPr/>
          <p:nvPr/>
        </p:nvSpPr>
        <p:spPr>
          <a:xfrm>
            <a:off x="548640" y="1554480"/>
            <a:ext cx="11064240" cy="502920"/>
          </a:xfrm>
          <a:prstGeom prst="rect">
            <a:avLst/>
          </a:prstGeom>
          <a:noFill/>
          <a:ln/>
        </p:spPr>
        <p:txBody>
          <a:bodyPr wrap="square" rtlCol="0" anchor="ctr"/>
          <a:lstStyle/>
          <a:p>
            <a:pPr marL="0" indent="0">
              <a:buNone/>
            </a:pPr>
            <a:r>
              <a:rPr lang="en-US" sz="1250" i="1" dirty="0">
                <a:solidFill>
                  <a:srgbClr val="5B6B79"/>
                </a:solidFill>
                <a:latin typeface="Calibri" pitchFamily="34" charset="0"/>
                <a:ea typeface="Calibri" pitchFamily="34" charset="-122"/>
                <a:cs typeface="Calibri" pitchFamily="34" charset="-120"/>
              </a:rPr>
              <a:t>Chương trình (Thông tư 32): Chủ đề → Nội dung → Yêu cầu cần đạt. Nguyên tắc: bắt đầu từ Yêu cầu cần đạt, rồi mới chọn nội dung từ SGK.</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914400"/>
        </p:xfrm>
        <a:graphic>
          <a:graphicData uri="http://schemas.openxmlformats.org/drawingml/2006/table">
            <a:tbl>
              <a:tblPr/>
              <a:tblGrid>
                <a:gridCol w="1920240"/>
                <a:gridCol w="3108960"/>
                <a:gridCol w="6035040"/>
              </a:tblGrid>
              <a:tr h="41148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Mức độ</a:t>
                      </a:r>
                      <a:endParaRPr lang="en-US" sz="120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Động từ thường dùng</a:t>
                      </a:r>
                      <a:endParaRPr lang="en-US" sz="120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Ví dụ trong chương trình Tin học</a:t>
                      </a:r>
                      <a:endParaRPr lang="en-US" sz="120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B3A5C"/>
                    </a:solidFill>
                  </a:tcPr>
                </a:tc>
              </a:tr>
              <a:tr h="566928">
                <a:tc>
                  <a:txBody>
                    <a:bodyPr/>
                    <a:lstStyle/>
                    <a:p>
                      <a:pPr marL="0" indent="0" algn="l">
                        <a:buNone/>
                      </a:pPr>
                      <a:r>
                        <a:rPr lang="en-US" sz="1080" b="1" dirty="0">
                          <a:solidFill>
                            <a:srgbClr val="1B3A5C"/>
                          </a:solidFill>
                          <a:latin typeface="Calibri" pitchFamily="34" charset="0"/>
                          <a:ea typeface="Calibri" pitchFamily="34" charset="-122"/>
                          <a:cs typeface="Calibri" pitchFamily="34" charset="-120"/>
                        </a:rPr>
                        <a:t>Nhận biết</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Nêu, kể tên, liệt kê</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Nêu được chức năng của CPU</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66928">
                <a:tc>
                  <a:txBody>
                    <a:bodyPr/>
                    <a:lstStyle/>
                    <a:p>
                      <a:pPr marL="0" indent="0" algn="l">
                        <a:buNone/>
                      </a:pPr>
                      <a:r>
                        <a:rPr lang="en-US" sz="1080" b="1" dirty="0">
                          <a:solidFill>
                            <a:srgbClr val="1B3A5C"/>
                          </a:solidFill>
                          <a:latin typeface="Calibri" pitchFamily="34" charset="0"/>
                          <a:ea typeface="Calibri" pitchFamily="34" charset="-122"/>
                          <a:cs typeface="Calibri" pitchFamily="34" charset="-120"/>
                        </a:rPr>
                        <a:t>Thông hiểu</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Giải thích, mô tả, phân biệt</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Giải thích vai trò của thuật toán trong giải quyết bài toán</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566928">
                <a:tc>
                  <a:txBody>
                    <a:bodyPr/>
                    <a:lstStyle/>
                    <a:p>
                      <a:pPr marL="0" indent="0" algn="l">
                        <a:buNone/>
                      </a:pPr>
                      <a:r>
                        <a:rPr lang="en-US" sz="1080" b="1" dirty="0">
                          <a:solidFill>
                            <a:srgbClr val="1B3A5C"/>
                          </a:solidFill>
                          <a:latin typeface="Calibri" pitchFamily="34" charset="0"/>
                          <a:ea typeface="Calibri" pitchFamily="34" charset="-122"/>
                          <a:cs typeface="Calibri" pitchFamily="34" charset="-120"/>
                        </a:rPr>
                        <a:t>Vận dụng</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Thực hiện, sử dụng, viết được</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Viết được chương trình giải phương trình bậc 2 bằng Python</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66928">
                <a:tc>
                  <a:txBody>
                    <a:bodyPr/>
                    <a:lstStyle/>
                    <a:p>
                      <a:pPr marL="0" indent="0" algn="l">
                        <a:buNone/>
                      </a:pPr>
                      <a:r>
                        <a:rPr lang="en-US" sz="1080" b="1" dirty="0">
                          <a:solidFill>
                            <a:srgbClr val="1B3A5C"/>
                          </a:solidFill>
                          <a:latin typeface="Calibri" pitchFamily="34" charset="0"/>
                          <a:ea typeface="Calibri" pitchFamily="34" charset="-122"/>
                          <a:cs typeface="Calibri" pitchFamily="34" charset="-120"/>
                        </a:rPr>
                        <a:t>Phân tích</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Phân tích, so sánh, phân loại</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Phân tích ưu/nhược điểm của các thuật toán sắp xếp</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r h="566928">
                <a:tc>
                  <a:txBody>
                    <a:bodyPr/>
                    <a:lstStyle/>
                    <a:p>
                      <a:pPr marL="0" indent="0" algn="l">
                        <a:buNone/>
                      </a:pPr>
                      <a:r>
                        <a:rPr lang="en-US" sz="1080" b="1" dirty="0">
                          <a:solidFill>
                            <a:srgbClr val="1B3A5C"/>
                          </a:solidFill>
                          <a:latin typeface="Calibri" pitchFamily="34" charset="0"/>
                          <a:ea typeface="Calibri" pitchFamily="34" charset="-122"/>
                          <a:cs typeface="Calibri" pitchFamily="34" charset="-120"/>
                        </a:rPr>
                        <a:t>Đánh giá</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Đánh giá, lựa chọn, biện luận</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Đánh giá hiệu quả của thuật toán trong bài toán cụ thể</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66928">
                <a:tc>
                  <a:txBody>
                    <a:bodyPr/>
                    <a:lstStyle/>
                    <a:p>
                      <a:pPr marL="0" indent="0" algn="l">
                        <a:buNone/>
                      </a:pPr>
                      <a:r>
                        <a:rPr lang="en-US" sz="1080" b="1" dirty="0">
                          <a:solidFill>
                            <a:srgbClr val="1B3A5C"/>
                          </a:solidFill>
                          <a:latin typeface="Calibri" pitchFamily="34" charset="0"/>
                          <a:ea typeface="Calibri" pitchFamily="34" charset="-122"/>
                          <a:cs typeface="Calibri" pitchFamily="34" charset="-120"/>
                        </a:rPr>
                        <a:t>Sáng tạo</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Thiết kế, xây dựng, đề xuất</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c>
                  <a:txBody>
                    <a:bodyPr/>
                    <a:lstStyle/>
                    <a:p>
                      <a:pPr marL="0" indent="0" algn="l">
                        <a:buNone/>
                      </a:pPr>
                      <a:r>
                        <a:rPr lang="en-US" sz="1080" dirty="0">
                          <a:solidFill>
                            <a:srgbClr val="1B2430"/>
                          </a:solidFill>
                          <a:latin typeface="Calibri" pitchFamily="34" charset="0"/>
                          <a:ea typeface="Calibri" pitchFamily="34" charset="-122"/>
                          <a:cs typeface="Calibri" pitchFamily="34" charset="-120"/>
                        </a:rPr>
                        <a:t>Thiết kế cơ sở dữ liệu cho bài toán quản lý thư viện trường</a:t>
                      </a:r>
                      <a:endParaRPr lang="en-US" sz="1080" dirty="0">
                        <a:latin typeface="Calibri" charset="0"/>
                        <a:ea typeface="Calibri" charset="0"/>
                        <a:cs typeface="Calibri" charset="0"/>
                      </a:endParaRPr>
                    </a:p>
                  </a:txBody>
                  <a:tcPr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AF3FB"/>
                    </a:solidFill>
                  </a:tcPr>
                </a:tc>
              </a:tr>
            </a:tbl>
          </a:graphicData>
        </a:graphic>
      </p:graphicFrame>
      <p:sp>
        <p:nvSpPr>
          <p:cNvPr id="7" name="Text 4"/>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2.8</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Tư duy máy tính (Computational Thinking)</a:t>
            </a:r>
            <a:endParaRPr lang="en-US" sz="3000" dirty="0"/>
          </a:p>
        </p:txBody>
      </p:sp>
      <p:sp>
        <p:nvSpPr>
          <p:cNvPr id="5" name="Text 3"/>
          <p:cNvSpPr/>
          <p:nvPr/>
        </p:nvSpPr>
        <p:spPr>
          <a:xfrm>
            <a:off x="548640" y="1572768"/>
            <a:ext cx="11064240" cy="457200"/>
          </a:xfrm>
          <a:prstGeom prst="rect">
            <a:avLst/>
          </a:prstGeom>
          <a:noFill/>
          <a:ln/>
        </p:spPr>
        <p:txBody>
          <a:bodyPr wrap="square" rtlCol="0" anchor="ctr"/>
          <a:lstStyle/>
          <a:p>
            <a:pPr marL="0" indent="0">
              <a:buNone/>
            </a:pPr>
            <a:r>
              <a:rPr lang="en-US" sz="1300" i="1" dirty="0">
                <a:solidFill>
                  <a:srgbClr val="5B6B79"/>
                </a:solidFill>
                <a:latin typeface="Calibri" pitchFamily="34" charset="0"/>
                <a:ea typeface="Calibri" pitchFamily="34" charset="-122"/>
                <a:cs typeface="Calibri" pitchFamily="34" charset="-120"/>
              </a:rPr>
              <a:t>Chữ “C” thứ 5 bổ sung vào bộ “4C thế kỷ XXI”: Critical Thinking, Creativity, Collaboration, Communication.</a:t>
            </a:r>
            <a:endParaRPr lang="en-US" sz="1300" dirty="0"/>
          </a:p>
        </p:txBody>
      </p:sp>
      <p:sp>
        <p:nvSpPr>
          <p:cNvPr id="6" name="Shape 4"/>
          <p:cNvSpPr/>
          <p:nvPr/>
        </p:nvSpPr>
        <p:spPr>
          <a:xfrm>
            <a:off x="548640" y="2331720"/>
            <a:ext cx="2697480" cy="2651760"/>
          </a:xfrm>
          <a:prstGeom prst="roundRect">
            <a:avLst>
              <a:gd name="adj" fmla="val 3448"/>
            </a:avLst>
          </a:prstGeom>
          <a:solidFill>
            <a:srgbClr val="FFFFFF"/>
          </a:solidFill>
          <a:ln w="12700">
            <a:solidFill>
              <a:srgbClr val="DCE4EC"/>
            </a:solidFill>
            <a:prstDash val="solid"/>
          </a:ln>
        </p:spPr>
      </p:sp>
      <p:sp>
        <p:nvSpPr>
          <p:cNvPr id="7" name="Shape 5"/>
          <p:cNvSpPr/>
          <p:nvPr/>
        </p:nvSpPr>
        <p:spPr>
          <a:xfrm>
            <a:off x="1513332" y="2542032"/>
            <a:ext cx="768096" cy="768096"/>
          </a:xfrm>
          <a:prstGeom prst="ellipse">
            <a:avLst/>
          </a:prstGeom>
          <a:solidFill>
            <a:srgbClr val="1B3A5C"/>
          </a:solidFill>
          <a:ln/>
        </p:spPr>
      </p:sp>
      <p:sp>
        <p:nvSpPr>
          <p:cNvPr id="8" name="Text 6"/>
          <p:cNvSpPr/>
          <p:nvPr/>
        </p:nvSpPr>
        <p:spPr>
          <a:xfrm>
            <a:off x="1513332" y="2542032"/>
            <a:ext cx="768096" cy="768096"/>
          </a:xfrm>
          <a:prstGeom prst="rect">
            <a:avLst/>
          </a:prstGeom>
          <a:noFill/>
          <a:ln/>
        </p:spPr>
        <p:txBody>
          <a:bodyPr wrap="square" rtlCol="0" anchor="ctr"/>
          <a:lstStyle/>
          <a:p>
            <a:pPr marL="0" indent="0" algn="ctr">
              <a:buNone/>
            </a:pPr>
            <a:endParaRPr lang="en-US" sz="1848" dirty="0"/>
          </a:p>
        </p:txBody>
      </p:sp>
      <p:sp>
        <p:nvSpPr>
          <p:cNvPr id="9" name="Text 7"/>
          <p:cNvSpPr/>
          <p:nvPr/>
        </p:nvSpPr>
        <p:spPr>
          <a:xfrm>
            <a:off x="1513332" y="2542032"/>
            <a:ext cx="768096" cy="7680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P</a:t>
            </a:r>
            <a:endParaRPr lang="en-US" sz="2600" dirty="0"/>
          </a:p>
        </p:txBody>
      </p:sp>
      <p:sp>
        <p:nvSpPr>
          <p:cNvPr id="10" name="Text 8"/>
          <p:cNvSpPr/>
          <p:nvPr/>
        </p:nvSpPr>
        <p:spPr>
          <a:xfrm>
            <a:off x="640080" y="3429000"/>
            <a:ext cx="2514600" cy="365760"/>
          </a:xfrm>
          <a:prstGeom prst="rect">
            <a:avLst/>
          </a:prstGeom>
          <a:noFill/>
          <a:ln/>
        </p:spPr>
        <p:txBody>
          <a:bodyPr wrap="square" rtlCol="0" anchor="ctr"/>
          <a:lstStyle/>
          <a:p>
            <a:pPr marL="0" indent="0" algn="ctr">
              <a:buNone/>
            </a:pPr>
            <a:r>
              <a:rPr lang="en-US" sz="1300" b="1" dirty="0">
                <a:solidFill>
                  <a:srgbClr val="1B3A5C"/>
                </a:solidFill>
                <a:latin typeface="Calibri" pitchFamily="34" charset="0"/>
                <a:ea typeface="Calibri" pitchFamily="34" charset="-122"/>
                <a:cs typeface="Calibri" pitchFamily="34" charset="-120"/>
              </a:rPr>
              <a:t>Phân rã</a:t>
            </a:r>
            <a:endParaRPr lang="en-US" sz="1300" dirty="0"/>
          </a:p>
        </p:txBody>
      </p:sp>
      <p:sp>
        <p:nvSpPr>
          <p:cNvPr id="11" name="Text 9"/>
          <p:cNvSpPr/>
          <p:nvPr/>
        </p:nvSpPr>
        <p:spPr>
          <a:xfrm>
            <a:off x="640080" y="3767328"/>
            <a:ext cx="2514600" cy="320040"/>
          </a:xfrm>
          <a:prstGeom prst="rect">
            <a:avLst/>
          </a:prstGeom>
          <a:noFill/>
          <a:ln/>
        </p:spPr>
        <p:txBody>
          <a:bodyPr wrap="square" rtlCol="0" anchor="ctr"/>
          <a:lstStyle/>
          <a:p>
            <a:pPr marL="0" indent="0" algn="ctr">
              <a:buNone/>
            </a:pPr>
            <a:r>
              <a:rPr lang="en-US" sz="1000" i="1" dirty="0">
                <a:solidFill>
                  <a:srgbClr val="5B6B79"/>
                </a:solidFill>
                <a:latin typeface="Calibri" pitchFamily="34" charset="0"/>
                <a:ea typeface="Calibri" pitchFamily="34" charset="-122"/>
                <a:cs typeface="Calibri" pitchFamily="34" charset="-120"/>
              </a:rPr>
              <a:t>Decomposition</a:t>
            </a:r>
            <a:endParaRPr lang="en-US" sz="1000" dirty="0"/>
          </a:p>
        </p:txBody>
      </p:sp>
      <p:sp>
        <p:nvSpPr>
          <p:cNvPr id="12" name="Text 10"/>
          <p:cNvSpPr/>
          <p:nvPr/>
        </p:nvSpPr>
        <p:spPr>
          <a:xfrm>
            <a:off x="713232" y="4114800"/>
            <a:ext cx="2368296" cy="822960"/>
          </a:xfrm>
          <a:prstGeom prst="rect">
            <a:avLst/>
          </a:prstGeom>
          <a:noFill/>
          <a:ln/>
        </p:spPr>
        <p:txBody>
          <a:bodyPr wrap="square" rtlCol="0" anchor="t"/>
          <a:lstStyle/>
          <a:p>
            <a:pPr marL="0" indent="0" algn="ctr">
              <a:buNone/>
            </a:pPr>
            <a:r>
              <a:rPr lang="en-US" sz="1000" dirty="0">
                <a:solidFill>
                  <a:srgbClr val="1B2430"/>
                </a:solidFill>
                <a:latin typeface="Calibri" pitchFamily="34" charset="0"/>
                <a:ea typeface="Calibri" pitchFamily="34" charset="-122"/>
                <a:cs typeface="Calibri" pitchFamily="34" charset="-120"/>
              </a:rPr>
              <a:t>Chia bài toán phức tạp thành các bài toán con nhỏ hơn, dễ giải quyết hơn.</a:t>
            </a:r>
            <a:endParaRPr lang="en-US" sz="1000" dirty="0"/>
          </a:p>
        </p:txBody>
      </p:sp>
      <p:sp>
        <p:nvSpPr>
          <p:cNvPr id="13" name="Shape 11"/>
          <p:cNvSpPr/>
          <p:nvPr/>
        </p:nvSpPr>
        <p:spPr>
          <a:xfrm>
            <a:off x="3392424" y="2331720"/>
            <a:ext cx="2697480" cy="2651760"/>
          </a:xfrm>
          <a:prstGeom prst="roundRect">
            <a:avLst>
              <a:gd name="adj" fmla="val 3448"/>
            </a:avLst>
          </a:prstGeom>
          <a:solidFill>
            <a:srgbClr val="FFFFFF"/>
          </a:solidFill>
          <a:ln w="12700">
            <a:solidFill>
              <a:srgbClr val="DCE4EC"/>
            </a:solidFill>
            <a:prstDash val="solid"/>
          </a:ln>
        </p:spPr>
      </p:sp>
      <p:sp>
        <p:nvSpPr>
          <p:cNvPr id="14" name="Shape 12"/>
          <p:cNvSpPr/>
          <p:nvPr/>
        </p:nvSpPr>
        <p:spPr>
          <a:xfrm>
            <a:off x="4357116" y="2542032"/>
            <a:ext cx="768096" cy="768096"/>
          </a:xfrm>
          <a:prstGeom prst="ellipse">
            <a:avLst/>
          </a:prstGeom>
          <a:solidFill>
            <a:srgbClr val="3E92CC"/>
          </a:solidFill>
          <a:ln/>
        </p:spPr>
      </p:sp>
      <p:sp>
        <p:nvSpPr>
          <p:cNvPr id="15" name="Text 13"/>
          <p:cNvSpPr/>
          <p:nvPr/>
        </p:nvSpPr>
        <p:spPr>
          <a:xfrm>
            <a:off x="4357116" y="2542032"/>
            <a:ext cx="768096" cy="768096"/>
          </a:xfrm>
          <a:prstGeom prst="rect">
            <a:avLst/>
          </a:prstGeom>
          <a:noFill/>
          <a:ln/>
        </p:spPr>
        <p:txBody>
          <a:bodyPr wrap="square" rtlCol="0" anchor="ctr"/>
          <a:lstStyle/>
          <a:p>
            <a:pPr marL="0" indent="0" algn="ctr">
              <a:buNone/>
            </a:pPr>
            <a:endParaRPr lang="en-US" sz="1848" dirty="0"/>
          </a:p>
        </p:txBody>
      </p:sp>
      <p:sp>
        <p:nvSpPr>
          <p:cNvPr id="16" name="Text 14"/>
          <p:cNvSpPr/>
          <p:nvPr/>
        </p:nvSpPr>
        <p:spPr>
          <a:xfrm>
            <a:off x="4357116" y="2542032"/>
            <a:ext cx="768096" cy="7680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N</a:t>
            </a:r>
            <a:endParaRPr lang="en-US" sz="2600" dirty="0"/>
          </a:p>
        </p:txBody>
      </p:sp>
      <p:sp>
        <p:nvSpPr>
          <p:cNvPr id="17" name="Text 15"/>
          <p:cNvSpPr/>
          <p:nvPr/>
        </p:nvSpPr>
        <p:spPr>
          <a:xfrm>
            <a:off x="3483864" y="3429000"/>
            <a:ext cx="2514600" cy="365760"/>
          </a:xfrm>
          <a:prstGeom prst="rect">
            <a:avLst/>
          </a:prstGeom>
          <a:noFill/>
          <a:ln/>
        </p:spPr>
        <p:txBody>
          <a:bodyPr wrap="square" rtlCol="0" anchor="ctr"/>
          <a:lstStyle/>
          <a:p>
            <a:pPr marL="0" indent="0" algn="ctr">
              <a:buNone/>
            </a:pPr>
            <a:r>
              <a:rPr lang="en-US" sz="1300" b="1" dirty="0">
                <a:solidFill>
                  <a:srgbClr val="1B3A5C"/>
                </a:solidFill>
                <a:latin typeface="Calibri" pitchFamily="34" charset="0"/>
                <a:ea typeface="Calibri" pitchFamily="34" charset="-122"/>
                <a:cs typeface="Calibri" pitchFamily="34" charset="-120"/>
              </a:rPr>
              <a:t>Nhận dạng mẫu</a:t>
            </a:r>
            <a:endParaRPr lang="en-US" sz="1300" dirty="0"/>
          </a:p>
        </p:txBody>
      </p:sp>
      <p:sp>
        <p:nvSpPr>
          <p:cNvPr id="18" name="Text 16"/>
          <p:cNvSpPr/>
          <p:nvPr/>
        </p:nvSpPr>
        <p:spPr>
          <a:xfrm>
            <a:off x="3483864" y="3767328"/>
            <a:ext cx="2514600" cy="320040"/>
          </a:xfrm>
          <a:prstGeom prst="rect">
            <a:avLst/>
          </a:prstGeom>
          <a:noFill/>
          <a:ln/>
        </p:spPr>
        <p:txBody>
          <a:bodyPr wrap="square" rtlCol="0" anchor="ctr"/>
          <a:lstStyle/>
          <a:p>
            <a:pPr marL="0" indent="0" algn="ctr">
              <a:buNone/>
            </a:pPr>
            <a:r>
              <a:rPr lang="en-US" sz="1000" i="1" dirty="0">
                <a:solidFill>
                  <a:srgbClr val="5B6B79"/>
                </a:solidFill>
                <a:latin typeface="Calibri" pitchFamily="34" charset="0"/>
                <a:ea typeface="Calibri" pitchFamily="34" charset="-122"/>
                <a:cs typeface="Calibri" pitchFamily="34" charset="-120"/>
              </a:rPr>
              <a:t>Pattern Recognition</a:t>
            </a:r>
            <a:endParaRPr lang="en-US" sz="1000" dirty="0"/>
          </a:p>
        </p:txBody>
      </p:sp>
      <p:sp>
        <p:nvSpPr>
          <p:cNvPr id="19" name="Text 17"/>
          <p:cNvSpPr/>
          <p:nvPr/>
        </p:nvSpPr>
        <p:spPr>
          <a:xfrm>
            <a:off x="3557016" y="4114800"/>
            <a:ext cx="2368296" cy="822960"/>
          </a:xfrm>
          <a:prstGeom prst="rect">
            <a:avLst/>
          </a:prstGeom>
          <a:noFill/>
          <a:ln/>
        </p:spPr>
        <p:txBody>
          <a:bodyPr wrap="square" rtlCol="0" anchor="t"/>
          <a:lstStyle/>
          <a:p>
            <a:pPr marL="0" indent="0" algn="ctr">
              <a:buNone/>
            </a:pPr>
            <a:r>
              <a:rPr lang="en-US" sz="1000" dirty="0">
                <a:solidFill>
                  <a:srgbClr val="1B2430"/>
                </a:solidFill>
                <a:latin typeface="Calibri" pitchFamily="34" charset="0"/>
                <a:ea typeface="Calibri" pitchFamily="34" charset="-122"/>
                <a:cs typeface="Calibri" pitchFamily="34" charset="-120"/>
              </a:rPr>
              <a:t>Tìm điểm tương đồng, quy luật lặp lại trong dữ liệu hoặc bài toán.</a:t>
            </a:r>
            <a:endParaRPr lang="en-US" sz="1000" dirty="0"/>
          </a:p>
        </p:txBody>
      </p:sp>
      <p:sp>
        <p:nvSpPr>
          <p:cNvPr id="20" name="Shape 18"/>
          <p:cNvSpPr/>
          <p:nvPr/>
        </p:nvSpPr>
        <p:spPr>
          <a:xfrm>
            <a:off x="6236208" y="2331720"/>
            <a:ext cx="2697480" cy="2651760"/>
          </a:xfrm>
          <a:prstGeom prst="roundRect">
            <a:avLst>
              <a:gd name="adj" fmla="val 3448"/>
            </a:avLst>
          </a:prstGeom>
          <a:solidFill>
            <a:srgbClr val="FFFFFF"/>
          </a:solidFill>
          <a:ln w="12700">
            <a:solidFill>
              <a:srgbClr val="DCE4EC"/>
            </a:solidFill>
            <a:prstDash val="solid"/>
          </a:ln>
        </p:spPr>
      </p:sp>
      <p:sp>
        <p:nvSpPr>
          <p:cNvPr id="21" name="Shape 19"/>
          <p:cNvSpPr/>
          <p:nvPr/>
        </p:nvSpPr>
        <p:spPr>
          <a:xfrm>
            <a:off x="7200900" y="2542032"/>
            <a:ext cx="768096" cy="768096"/>
          </a:xfrm>
          <a:prstGeom prst="ellipse">
            <a:avLst/>
          </a:prstGeom>
          <a:solidFill>
            <a:srgbClr val="5FA35C"/>
          </a:solidFill>
          <a:ln/>
        </p:spPr>
      </p:sp>
      <p:sp>
        <p:nvSpPr>
          <p:cNvPr id="22" name="Text 20"/>
          <p:cNvSpPr/>
          <p:nvPr/>
        </p:nvSpPr>
        <p:spPr>
          <a:xfrm>
            <a:off x="7200900" y="2542032"/>
            <a:ext cx="768096" cy="768096"/>
          </a:xfrm>
          <a:prstGeom prst="rect">
            <a:avLst/>
          </a:prstGeom>
          <a:noFill/>
          <a:ln/>
        </p:spPr>
        <p:txBody>
          <a:bodyPr wrap="square" rtlCol="0" anchor="ctr"/>
          <a:lstStyle/>
          <a:p>
            <a:pPr marL="0" indent="0" algn="ctr">
              <a:buNone/>
            </a:pPr>
            <a:endParaRPr lang="en-US" sz="1848" dirty="0"/>
          </a:p>
        </p:txBody>
      </p:sp>
      <p:sp>
        <p:nvSpPr>
          <p:cNvPr id="23" name="Text 21"/>
          <p:cNvSpPr/>
          <p:nvPr/>
        </p:nvSpPr>
        <p:spPr>
          <a:xfrm>
            <a:off x="7200900" y="2542032"/>
            <a:ext cx="768096" cy="7680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T</a:t>
            </a:r>
            <a:endParaRPr lang="en-US" sz="2600" dirty="0"/>
          </a:p>
        </p:txBody>
      </p:sp>
      <p:sp>
        <p:nvSpPr>
          <p:cNvPr id="24" name="Text 22"/>
          <p:cNvSpPr/>
          <p:nvPr/>
        </p:nvSpPr>
        <p:spPr>
          <a:xfrm>
            <a:off x="6327648" y="3429000"/>
            <a:ext cx="2514600" cy="365760"/>
          </a:xfrm>
          <a:prstGeom prst="rect">
            <a:avLst/>
          </a:prstGeom>
          <a:noFill/>
          <a:ln/>
        </p:spPr>
        <p:txBody>
          <a:bodyPr wrap="square" rtlCol="0" anchor="ctr"/>
          <a:lstStyle/>
          <a:p>
            <a:pPr marL="0" indent="0" algn="ctr">
              <a:buNone/>
            </a:pPr>
            <a:r>
              <a:rPr lang="en-US" sz="1300" b="1" dirty="0">
                <a:solidFill>
                  <a:srgbClr val="1B3A5C"/>
                </a:solidFill>
                <a:latin typeface="Calibri" pitchFamily="34" charset="0"/>
                <a:ea typeface="Calibri" pitchFamily="34" charset="-122"/>
                <a:cs typeface="Calibri" pitchFamily="34" charset="-120"/>
              </a:rPr>
              <a:t>Trừu tượng hóa</a:t>
            </a:r>
            <a:endParaRPr lang="en-US" sz="1300" dirty="0"/>
          </a:p>
        </p:txBody>
      </p:sp>
      <p:sp>
        <p:nvSpPr>
          <p:cNvPr id="25" name="Text 23"/>
          <p:cNvSpPr/>
          <p:nvPr/>
        </p:nvSpPr>
        <p:spPr>
          <a:xfrm>
            <a:off x="6327648" y="3767328"/>
            <a:ext cx="2514600" cy="320040"/>
          </a:xfrm>
          <a:prstGeom prst="rect">
            <a:avLst/>
          </a:prstGeom>
          <a:noFill/>
          <a:ln/>
        </p:spPr>
        <p:txBody>
          <a:bodyPr wrap="square" rtlCol="0" anchor="ctr"/>
          <a:lstStyle/>
          <a:p>
            <a:pPr marL="0" indent="0" algn="ctr">
              <a:buNone/>
            </a:pPr>
            <a:r>
              <a:rPr lang="en-US" sz="1000" i="1" dirty="0">
                <a:solidFill>
                  <a:srgbClr val="5B6B79"/>
                </a:solidFill>
                <a:latin typeface="Calibri" pitchFamily="34" charset="0"/>
                <a:ea typeface="Calibri" pitchFamily="34" charset="-122"/>
                <a:cs typeface="Calibri" pitchFamily="34" charset="-120"/>
              </a:rPr>
              <a:t>Abstraction</a:t>
            </a:r>
            <a:endParaRPr lang="en-US" sz="1000" dirty="0"/>
          </a:p>
        </p:txBody>
      </p:sp>
      <p:sp>
        <p:nvSpPr>
          <p:cNvPr id="26" name="Text 24"/>
          <p:cNvSpPr/>
          <p:nvPr/>
        </p:nvSpPr>
        <p:spPr>
          <a:xfrm>
            <a:off x="6400800" y="4114800"/>
            <a:ext cx="2368296" cy="822960"/>
          </a:xfrm>
          <a:prstGeom prst="rect">
            <a:avLst/>
          </a:prstGeom>
          <a:noFill/>
          <a:ln/>
        </p:spPr>
        <p:txBody>
          <a:bodyPr wrap="square" rtlCol="0" anchor="t"/>
          <a:lstStyle/>
          <a:p>
            <a:pPr marL="0" indent="0" algn="ctr">
              <a:buNone/>
            </a:pPr>
            <a:r>
              <a:rPr lang="en-US" sz="1000" dirty="0">
                <a:solidFill>
                  <a:srgbClr val="1B2430"/>
                </a:solidFill>
                <a:latin typeface="Calibri" pitchFamily="34" charset="0"/>
                <a:ea typeface="Calibri" pitchFamily="34" charset="-122"/>
                <a:cs typeface="Calibri" pitchFamily="34" charset="-120"/>
              </a:rPr>
              <a:t>Tập trung vào thông tin quan trọng, bỏ qua chi tiết không cần thiết.</a:t>
            </a:r>
            <a:endParaRPr lang="en-US" sz="1000" dirty="0"/>
          </a:p>
        </p:txBody>
      </p:sp>
      <p:sp>
        <p:nvSpPr>
          <p:cNvPr id="27" name="Shape 25"/>
          <p:cNvSpPr/>
          <p:nvPr/>
        </p:nvSpPr>
        <p:spPr>
          <a:xfrm>
            <a:off x="9079992" y="2331720"/>
            <a:ext cx="2697480" cy="2651760"/>
          </a:xfrm>
          <a:prstGeom prst="roundRect">
            <a:avLst>
              <a:gd name="adj" fmla="val 3448"/>
            </a:avLst>
          </a:prstGeom>
          <a:solidFill>
            <a:srgbClr val="FFFFFF"/>
          </a:solidFill>
          <a:ln w="12700">
            <a:solidFill>
              <a:srgbClr val="DCE4EC"/>
            </a:solidFill>
            <a:prstDash val="solid"/>
          </a:ln>
        </p:spPr>
      </p:sp>
      <p:sp>
        <p:nvSpPr>
          <p:cNvPr id="28" name="Shape 26"/>
          <p:cNvSpPr/>
          <p:nvPr/>
        </p:nvSpPr>
        <p:spPr>
          <a:xfrm>
            <a:off x="10044684" y="2542032"/>
            <a:ext cx="768096" cy="768096"/>
          </a:xfrm>
          <a:prstGeom prst="ellipse">
            <a:avLst/>
          </a:prstGeom>
          <a:solidFill>
            <a:srgbClr val="F2A541"/>
          </a:solidFill>
          <a:ln/>
        </p:spPr>
      </p:sp>
      <p:sp>
        <p:nvSpPr>
          <p:cNvPr id="29" name="Text 27"/>
          <p:cNvSpPr/>
          <p:nvPr/>
        </p:nvSpPr>
        <p:spPr>
          <a:xfrm>
            <a:off x="10044684" y="2542032"/>
            <a:ext cx="768096" cy="768096"/>
          </a:xfrm>
          <a:prstGeom prst="rect">
            <a:avLst/>
          </a:prstGeom>
          <a:noFill/>
          <a:ln/>
        </p:spPr>
        <p:txBody>
          <a:bodyPr wrap="square" rtlCol="0" anchor="ctr"/>
          <a:lstStyle/>
          <a:p>
            <a:pPr marL="0" indent="0" algn="ctr">
              <a:buNone/>
            </a:pPr>
            <a:endParaRPr lang="en-US" sz="1848" dirty="0"/>
          </a:p>
        </p:txBody>
      </p:sp>
      <p:sp>
        <p:nvSpPr>
          <p:cNvPr id="30" name="Text 28"/>
          <p:cNvSpPr/>
          <p:nvPr/>
        </p:nvSpPr>
        <p:spPr>
          <a:xfrm>
            <a:off x="10044684" y="2542032"/>
            <a:ext cx="768096" cy="7680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T</a:t>
            </a:r>
            <a:endParaRPr lang="en-US" sz="2600" dirty="0"/>
          </a:p>
        </p:txBody>
      </p:sp>
      <p:sp>
        <p:nvSpPr>
          <p:cNvPr id="31" name="Text 29"/>
          <p:cNvSpPr/>
          <p:nvPr/>
        </p:nvSpPr>
        <p:spPr>
          <a:xfrm>
            <a:off x="9171432" y="3429000"/>
            <a:ext cx="2514600" cy="365760"/>
          </a:xfrm>
          <a:prstGeom prst="rect">
            <a:avLst/>
          </a:prstGeom>
          <a:noFill/>
          <a:ln/>
        </p:spPr>
        <p:txBody>
          <a:bodyPr wrap="square" rtlCol="0" anchor="ctr"/>
          <a:lstStyle/>
          <a:p>
            <a:pPr marL="0" indent="0" algn="ctr">
              <a:buNone/>
            </a:pPr>
            <a:r>
              <a:rPr lang="en-US" sz="1300" b="1" dirty="0" err="1" smtClean="0">
                <a:solidFill>
                  <a:srgbClr val="1B3A5C"/>
                </a:solidFill>
                <a:latin typeface="Calibri" pitchFamily="34" charset="0"/>
                <a:ea typeface="Calibri" pitchFamily="34" charset="-122"/>
                <a:cs typeface="Calibri" pitchFamily="34" charset="-120"/>
              </a:rPr>
              <a:t>Tư</a:t>
            </a:r>
            <a:r>
              <a:rPr lang="en-US" sz="1300" b="1" dirty="0" smtClean="0">
                <a:solidFill>
                  <a:srgbClr val="1B3A5C"/>
                </a:solidFill>
                <a:latin typeface="Calibri" pitchFamily="34" charset="0"/>
                <a:ea typeface="Calibri" pitchFamily="34" charset="-122"/>
                <a:cs typeface="Calibri" pitchFamily="34" charset="-120"/>
              </a:rPr>
              <a:t> </a:t>
            </a:r>
            <a:r>
              <a:rPr lang="en-US" sz="1300" b="1" dirty="0" err="1" smtClean="0">
                <a:solidFill>
                  <a:srgbClr val="1B3A5C"/>
                </a:solidFill>
                <a:latin typeface="Calibri" pitchFamily="34" charset="0"/>
                <a:ea typeface="Calibri" pitchFamily="34" charset="-122"/>
                <a:cs typeface="Calibri" pitchFamily="34" charset="-120"/>
              </a:rPr>
              <a:t>duy</a:t>
            </a:r>
            <a:r>
              <a:rPr lang="en-US" sz="1300" b="1" dirty="0" smtClean="0">
                <a:solidFill>
                  <a:srgbClr val="1B3A5C"/>
                </a:solidFill>
                <a:latin typeface="Calibri" pitchFamily="34" charset="0"/>
                <a:ea typeface="Calibri" pitchFamily="34" charset="-122"/>
                <a:cs typeface="Calibri" pitchFamily="34" charset="-120"/>
              </a:rPr>
              <a:t> </a:t>
            </a:r>
            <a:r>
              <a:rPr lang="en-US" sz="1300" b="1" dirty="0" err="1" smtClean="0">
                <a:solidFill>
                  <a:srgbClr val="1B3A5C"/>
                </a:solidFill>
                <a:latin typeface="Calibri" pitchFamily="34" charset="0"/>
                <a:ea typeface="Calibri" pitchFamily="34" charset="-122"/>
                <a:cs typeface="Calibri" pitchFamily="34" charset="-120"/>
              </a:rPr>
              <a:t>thuật</a:t>
            </a:r>
            <a:r>
              <a:rPr lang="en-US" sz="1300" b="1" dirty="0" smtClean="0">
                <a:solidFill>
                  <a:srgbClr val="1B3A5C"/>
                </a:solidFill>
                <a:latin typeface="Calibri" pitchFamily="34" charset="0"/>
                <a:ea typeface="Calibri" pitchFamily="34" charset="-122"/>
                <a:cs typeface="Calibri" pitchFamily="34" charset="-120"/>
              </a:rPr>
              <a:t> </a:t>
            </a:r>
            <a:r>
              <a:rPr lang="en-US" sz="1300" b="1" dirty="0">
                <a:solidFill>
                  <a:srgbClr val="1B3A5C"/>
                </a:solidFill>
                <a:latin typeface="Calibri" pitchFamily="34" charset="0"/>
                <a:ea typeface="Calibri" pitchFamily="34" charset="-122"/>
                <a:cs typeface="Calibri" pitchFamily="34" charset="-120"/>
              </a:rPr>
              <a:t>toán</a:t>
            </a:r>
            <a:endParaRPr lang="en-US" sz="1300" dirty="0"/>
          </a:p>
        </p:txBody>
      </p:sp>
      <p:sp>
        <p:nvSpPr>
          <p:cNvPr id="32" name="Text 30"/>
          <p:cNvSpPr/>
          <p:nvPr/>
        </p:nvSpPr>
        <p:spPr>
          <a:xfrm>
            <a:off x="9171432" y="3767328"/>
            <a:ext cx="2514600" cy="320040"/>
          </a:xfrm>
          <a:prstGeom prst="rect">
            <a:avLst/>
          </a:prstGeom>
          <a:noFill/>
          <a:ln/>
        </p:spPr>
        <p:txBody>
          <a:bodyPr wrap="square" rtlCol="0" anchor="ctr"/>
          <a:lstStyle/>
          <a:p>
            <a:pPr marL="0" indent="0" algn="ctr">
              <a:buNone/>
            </a:pPr>
            <a:r>
              <a:rPr lang="en-US" sz="1000" i="1" smtClean="0">
                <a:solidFill>
                  <a:srgbClr val="5B6B79"/>
                </a:solidFill>
                <a:latin typeface="Calibri" pitchFamily="34" charset="0"/>
                <a:ea typeface="Calibri" pitchFamily="34" charset="-122"/>
                <a:cs typeface="Calibri" pitchFamily="34" charset="-120"/>
              </a:rPr>
              <a:t>Algorithm</a:t>
            </a:r>
            <a:endParaRPr lang="en-US" sz="1000" dirty="0"/>
          </a:p>
        </p:txBody>
      </p:sp>
      <p:sp>
        <p:nvSpPr>
          <p:cNvPr id="33" name="Text 31"/>
          <p:cNvSpPr/>
          <p:nvPr/>
        </p:nvSpPr>
        <p:spPr>
          <a:xfrm>
            <a:off x="9244584" y="4114800"/>
            <a:ext cx="2368296" cy="822960"/>
          </a:xfrm>
          <a:prstGeom prst="rect">
            <a:avLst/>
          </a:prstGeom>
          <a:noFill/>
          <a:ln/>
        </p:spPr>
        <p:txBody>
          <a:bodyPr wrap="square" rtlCol="0" anchor="t"/>
          <a:lstStyle/>
          <a:p>
            <a:pPr marL="0" indent="0" algn="ctr">
              <a:buNone/>
            </a:pPr>
            <a:r>
              <a:rPr lang="en-US" sz="1000" dirty="0">
                <a:solidFill>
                  <a:srgbClr val="1B2430"/>
                </a:solidFill>
                <a:latin typeface="Calibri" pitchFamily="34" charset="0"/>
                <a:ea typeface="Calibri" pitchFamily="34" charset="-122"/>
                <a:cs typeface="Calibri" pitchFamily="34" charset="-120"/>
              </a:rPr>
              <a:t>Xây dựng các bước giải quyết vấn đề theo trình tự logic.</a:t>
            </a:r>
            <a:endParaRPr lang="en-US" sz="1000" dirty="0"/>
          </a:p>
        </p:txBody>
      </p:sp>
      <p:sp>
        <p:nvSpPr>
          <p:cNvPr id="34" name="Text 32"/>
          <p:cNvSpPr/>
          <p:nvPr/>
        </p:nvSpPr>
        <p:spPr>
          <a:xfrm>
            <a:off x="548640" y="5166360"/>
            <a:ext cx="11064240" cy="548640"/>
          </a:xfrm>
          <a:prstGeom prst="rect">
            <a:avLst/>
          </a:prstGeom>
          <a:noFill/>
          <a:ln/>
        </p:spPr>
        <p:txBody>
          <a:bodyPr wrap="square" rtlCol="0" anchor="ctr"/>
          <a:lstStyle/>
          <a:p>
            <a:pPr marL="0" indent="0">
              <a:buNone/>
            </a:pPr>
            <a:r>
              <a:rPr lang="en-US" sz="1150" i="1" dirty="0">
                <a:solidFill>
                  <a:srgbClr val="5B6B79"/>
                </a:solidFill>
                <a:latin typeface="Calibri" pitchFamily="34" charset="0"/>
                <a:ea typeface="Calibri" pitchFamily="34" charset="-122"/>
                <a:cs typeface="Calibri" pitchFamily="34" charset="-120"/>
              </a:rPr>
              <a:t>Tư duy máy tính xuyên suốt toàn bộ chương trình Tin học, không chỉ trong mạch CS — VD: dự án phân tích dữ liệu nhiệt độ bằng bảng tính (Tin học 10).</a:t>
            </a:r>
            <a:endParaRPr lang="en-US" sz="1150" dirty="0"/>
          </a:p>
        </p:txBody>
      </p:sp>
      <p:sp>
        <p:nvSpPr>
          <p:cNvPr id="35" name="Text 33"/>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36" name="Text 3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2.9</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Các nhóm hoạt động học tập trong dạy học Tin học</a:t>
            </a:r>
            <a:endParaRPr lang="en-US" sz="3000" dirty="0"/>
          </a:p>
        </p:txBody>
      </p:sp>
      <p:sp>
        <p:nvSpPr>
          <p:cNvPr id="5" name="Shape 3"/>
          <p:cNvSpPr/>
          <p:nvPr/>
        </p:nvSpPr>
        <p:spPr>
          <a:xfrm>
            <a:off x="548640" y="1783080"/>
            <a:ext cx="11064240" cy="804672"/>
          </a:xfrm>
          <a:prstGeom prst="roundRect">
            <a:avLst>
              <a:gd name="adj" fmla="val 9091"/>
            </a:avLst>
          </a:prstGeom>
          <a:solidFill>
            <a:srgbClr val="FFFFFF"/>
          </a:solidFill>
          <a:ln w="12700">
            <a:solidFill>
              <a:srgbClr val="DCE4EC"/>
            </a:solidFill>
            <a:prstDash val="solid"/>
          </a:ln>
        </p:spPr>
      </p:sp>
      <p:sp>
        <p:nvSpPr>
          <p:cNvPr id="6" name="Shape 4"/>
          <p:cNvSpPr/>
          <p:nvPr/>
        </p:nvSpPr>
        <p:spPr>
          <a:xfrm>
            <a:off x="749808" y="1929384"/>
            <a:ext cx="502920" cy="502920"/>
          </a:xfrm>
          <a:prstGeom prst="ellipse">
            <a:avLst/>
          </a:prstGeom>
          <a:solidFill>
            <a:srgbClr val="1B3A5C"/>
          </a:solidFill>
          <a:ln/>
        </p:spPr>
      </p:sp>
      <p:sp>
        <p:nvSpPr>
          <p:cNvPr id="7" name="Text 5"/>
          <p:cNvSpPr/>
          <p:nvPr/>
        </p:nvSpPr>
        <p:spPr>
          <a:xfrm>
            <a:off x="749808" y="1929384"/>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8" name="Text 6"/>
          <p:cNvSpPr/>
          <p:nvPr/>
        </p:nvSpPr>
        <p:spPr>
          <a:xfrm>
            <a:off x="1481328" y="1837944"/>
            <a:ext cx="3200400" cy="694944"/>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Nhận dạng &amp; thể hiện</a:t>
            </a:r>
            <a:endParaRPr lang="en-US" sz="1250" dirty="0"/>
          </a:p>
        </p:txBody>
      </p:sp>
      <p:sp>
        <p:nvSpPr>
          <p:cNvPr id="9" name="Text 7"/>
          <p:cNvSpPr/>
          <p:nvPr/>
        </p:nvSpPr>
        <p:spPr>
          <a:xfrm>
            <a:off x="4754880" y="1837944"/>
            <a:ext cx="6675120" cy="694944"/>
          </a:xfrm>
          <a:prstGeom prst="rect">
            <a:avLst/>
          </a:prstGeom>
          <a:noFill/>
          <a:ln/>
        </p:spPr>
        <p:txBody>
          <a:bodyPr wrap="square" rtlCol="0" anchor="ctr"/>
          <a:lstStyle/>
          <a:p>
            <a:pPr marL="0" indent="0">
              <a:buNone/>
            </a:pPr>
            <a:r>
              <a:rPr lang="en-US" sz="1100" dirty="0">
                <a:solidFill>
                  <a:srgbClr val="1B2430"/>
                </a:solidFill>
                <a:latin typeface="Calibri" pitchFamily="34" charset="0"/>
                <a:ea typeface="Calibri" pitchFamily="34" charset="-122"/>
                <a:cs typeface="Calibri" pitchFamily="34" charset="-120"/>
              </a:rPr>
              <a:t>Nhận ra (khái niệm, câu lệnh, phương pháp) và làm được (viết đúng cú pháp, vận dụng).</a:t>
            </a:r>
            <a:endParaRPr lang="en-US" sz="1100" dirty="0"/>
          </a:p>
        </p:txBody>
      </p:sp>
      <p:sp>
        <p:nvSpPr>
          <p:cNvPr id="10" name="Shape 8"/>
          <p:cNvSpPr/>
          <p:nvPr/>
        </p:nvSpPr>
        <p:spPr>
          <a:xfrm>
            <a:off x="548640" y="2715768"/>
            <a:ext cx="11064240" cy="804672"/>
          </a:xfrm>
          <a:prstGeom prst="roundRect">
            <a:avLst>
              <a:gd name="adj" fmla="val 9091"/>
            </a:avLst>
          </a:prstGeom>
          <a:solidFill>
            <a:srgbClr val="FFFFFF"/>
          </a:solidFill>
          <a:ln w="12700">
            <a:solidFill>
              <a:srgbClr val="DCE4EC"/>
            </a:solidFill>
            <a:prstDash val="solid"/>
          </a:ln>
        </p:spPr>
      </p:sp>
      <p:sp>
        <p:nvSpPr>
          <p:cNvPr id="11" name="Shape 9"/>
          <p:cNvSpPr/>
          <p:nvPr/>
        </p:nvSpPr>
        <p:spPr>
          <a:xfrm>
            <a:off x="749808" y="2862072"/>
            <a:ext cx="502920" cy="502920"/>
          </a:xfrm>
          <a:prstGeom prst="ellipse">
            <a:avLst/>
          </a:prstGeom>
          <a:solidFill>
            <a:srgbClr val="3E92CC"/>
          </a:solidFill>
          <a:ln/>
        </p:spPr>
      </p:sp>
      <p:sp>
        <p:nvSpPr>
          <p:cNvPr id="12" name="Text 10"/>
          <p:cNvSpPr/>
          <p:nvPr/>
        </p:nvSpPr>
        <p:spPr>
          <a:xfrm>
            <a:off x="749808" y="2862072"/>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3" name="Text 11"/>
          <p:cNvSpPr/>
          <p:nvPr/>
        </p:nvSpPr>
        <p:spPr>
          <a:xfrm>
            <a:off x="1481328" y="2770632"/>
            <a:ext cx="3200400" cy="694944"/>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Hoạt động trí tuệ</a:t>
            </a:r>
            <a:endParaRPr lang="en-US" sz="1250" dirty="0"/>
          </a:p>
        </p:txBody>
      </p:sp>
      <p:sp>
        <p:nvSpPr>
          <p:cNvPr id="14" name="Text 12"/>
          <p:cNvSpPr/>
          <p:nvPr/>
        </p:nvSpPr>
        <p:spPr>
          <a:xfrm>
            <a:off x="4754880" y="2770632"/>
            <a:ext cx="6675120" cy="694944"/>
          </a:xfrm>
          <a:prstGeom prst="rect">
            <a:avLst/>
          </a:prstGeom>
          <a:noFill/>
          <a:ln/>
        </p:spPr>
        <p:txBody>
          <a:bodyPr wrap="square" rtlCol="0" anchor="ctr"/>
          <a:lstStyle/>
          <a:p>
            <a:pPr marL="0" indent="0">
              <a:buNone/>
            </a:pPr>
            <a:r>
              <a:rPr lang="en-US" sz="1100" dirty="0">
                <a:solidFill>
                  <a:srgbClr val="1B2430"/>
                </a:solidFill>
                <a:latin typeface="Calibri" pitchFamily="34" charset="0"/>
                <a:ea typeface="Calibri" pitchFamily="34" charset="-122"/>
                <a:cs typeface="Calibri" pitchFamily="34" charset="-120"/>
              </a:rPr>
              <a:t>Phân tích, tổng hợp, so sánh, trừu tượng hóa, khái quát hóa, lật ngược vấn đề.</a:t>
            </a:r>
            <a:endParaRPr lang="en-US" sz="1100" dirty="0"/>
          </a:p>
        </p:txBody>
      </p:sp>
      <p:sp>
        <p:nvSpPr>
          <p:cNvPr id="15" name="Shape 13"/>
          <p:cNvSpPr/>
          <p:nvPr/>
        </p:nvSpPr>
        <p:spPr>
          <a:xfrm>
            <a:off x="548640" y="3648456"/>
            <a:ext cx="11064240" cy="804672"/>
          </a:xfrm>
          <a:prstGeom prst="roundRect">
            <a:avLst>
              <a:gd name="adj" fmla="val 9091"/>
            </a:avLst>
          </a:prstGeom>
          <a:solidFill>
            <a:srgbClr val="FFFFFF"/>
          </a:solidFill>
          <a:ln w="12700">
            <a:solidFill>
              <a:srgbClr val="DCE4EC"/>
            </a:solidFill>
            <a:prstDash val="solid"/>
          </a:ln>
        </p:spPr>
      </p:sp>
      <p:sp>
        <p:nvSpPr>
          <p:cNvPr id="16" name="Shape 14"/>
          <p:cNvSpPr/>
          <p:nvPr/>
        </p:nvSpPr>
        <p:spPr>
          <a:xfrm>
            <a:off x="749808" y="3794760"/>
            <a:ext cx="502920" cy="502920"/>
          </a:xfrm>
          <a:prstGeom prst="ellipse">
            <a:avLst/>
          </a:prstGeom>
          <a:solidFill>
            <a:srgbClr val="5FA35C"/>
          </a:solidFill>
          <a:ln/>
        </p:spPr>
      </p:sp>
      <p:sp>
        <p:nvSpPr>
          <p:cNvPr id="17" name="Text 15"/>
          <p:cNvSpPr/>
          <p:nvPr/>
        </p:nvSpPr>
        <p:spPr>
          <a:xfrm>
            <a:off x="749808" y="379476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8" name="Text 16"/>
          <p:cNvSpPr/>
          <p:nvPr/>
        </p:nvSpPr>
        <p:spPr>
          <a:xfrm>
            <a:off x="1481328" y="3703320"/>
            <a:ext cx="3200400" cy="694944"/>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Hoạt động ngôn ngữ</a:t>
            </a:r>
            <a:endParaRPr lang="en-US" sz="1250" dirty="0"/>
          </a:p>
        </p:txBody>
      </p:sp>
      <p:sp>
        <p:nvSpPr>
          <p:cNvPr id="19" name="Text 17"/>
          <p:cNvSpPr/>
          <p:nvPr/>
        </p:nvSpPr>
        <p:spPr>
          <a:xfrm>
            <a:off x="4754880" y="3703320"/>
            <a:ext cx="6675120" cy="694944"/>
          </a:xfrm>
          <a:prstGeom prst="rect">
            <a:avLst/>
          </a:prstGeom>
          <a:noFill/>
          <a:ln/>
        </p:spPr>
        <p:txBody>
          <a:bodyPr wrap="square" rtlCol="0" anchor="ctr"/>
          <a:lstStyle/>
          <a:p>
            <a:pPr marL="0" indent="0">
              <a:buNone/>
            </a:pPr>
            <a:r>
              <a:rPr lang="en-US" sz="1100" dirty="0">
                <a:solidFill>
                  <a:srgbClr val="1B2430"/>
                </a:solidFill>
                <a:latin typeface="Calibri" pitchFamily="34" charset="0"/>
                <a:ea typeface="Calibri" pitchFamily="34" charset="-122"/>
                <a:cs typeface="Calibri" pitchFamily="34" charset="-120"/>
              </a:rPr>
              <a:t>Ngôn ngữ tự nhiên + ngôn ngữ hình thức (mã giả, lưu đồ, ngôn ngữ lập trình).</a:t>
            </a:r>
            <a:endParaRPr lang="en-US" sz="1100" dirty="0"/>
          </a:p>
        </p:txBody>
      </p:sp>
      <p:sp>
        <p:nvSpPr>
          <p:cNvPr id="20" name="Shape 18"/>
          <p:cNvSpPr/>
          <p:nvPr/>
        </p:nvSpPr>
        <p:spPr>
          <a:xfrm>
            <a:off x="548640" y="4581144"/>
            <a:ext cx="11064240" cy="804672"/>
          </a:xfrm>
          <a:prstGeom prst="roundRect">
            <a:avLst>
              <a:gd name="adj" fmla="val 9091"/>
            </a:avLst>
          </a:prstGeom>
          <a:solidFill>
            <a:srgbClr val="FFFFFF"/>
          </a:solidFill>
          <a:ln w="12700">
            <a:solidFill>
              <a:srgbClr val="DCE4EC"/>
            </a:solidFill>
            <a:prstDash val="solid"/>
          </a:ln>
        </p:spPr>
      </p:sp>
      <p:sp>
        <p:nvSpPr>
          <p:cNvPr id="21" name="Shape 19"/>
          <p:cNvSpPr/>
          <p:nvPr/>
        </p:nvSpPr>
        <p:spPr>
          <a:xfrm>
            <a:off x="749808" y="4727448"/>
            <a:ext cx="502920" cy="502920"/>
          </a:xfrm>
          <a:prstGeom prst="ellipse">
            <a:avLst/>
          </a:prstGeom>
          <a:solidFill>
            <a:srgbClr val="F2A541"/>
          </a:solidFill>
          <a:ln/>
        </p:spPr>
      </p:sp>
      <p:sp>
        <p:nvSpPr>
          <p:cNvPr id="22" name="Text 20"/>
          <p:cNvSpPr/>
          <p:nvPr/>
        </p:nvSpPr>
        <p:spPr>
          <a:xfrm>
            <a:off x="749808" y="4727448"/>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4</a:t>
            </a:r>
            <a:endParaRPr lang="en-US" sz="1210" dirty="0"/>
          </a:p>
        </p:txBody>
      </p:sp>
      <p:sp>
        <p:nvSpPr>
          <p:cNvPr id="23" name="Text 21"/>
          <p:cNvSpPr/>
          <p:nvPr/>
        </p:nvSpPr>
        <p:spPr>
          <a:xfrm>
            <a:off x="1481328" y="4636008"/>
            <a:ext cx="3200400" cy="694944"/>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Hoạt động ngữ nghĩa</a:t>
            </a:r>
            <a:endParaRPr lang="en-US" sz="1250" dirty="0"/>
          </a:p>
        </p:txBody>
      </p:sp>
      <p:sp>
        <p:nvSpPr>
          <p:cNvPr id="24" name="Text 22"/>
          <p:cNvSpPr/>
          <p:nvPr/>
        </p:nvSpPr>
        <p:spPr>
          <a:xfrm>
            <a:off x="4754880" y="4636008"/>
            <a:ext cx="6675120" cy="694944"/>
          </a:xfrm>
          <a:prstGeom prst="rect">
            <a:avLst/>
          </a:prstGeom>
          <a:noFill/>
          <a:ln/>
        </p:spPr>
        <p:txBody>
          <a:bodyPr wrap="square" rtlCol="0" anchor="ctr"/>
          <a:lstStyle/>
          <a:p>
            <a:pPr marL="0" indent="0">
              <a:buNone/>
            </a:pPr>
            <a:r>
              <a:rPr lang="en-US" sz="1100" dirty="0">
                <a:solidFill>
                  <a:srgbClr val="1B2430"/>
                </a:solidFill>
                <a:latin typeface="Calibri" pitchFamily="34" charset="0"/>
                <a:ea typeface="Calibri" pitchFamily="34" charset="-122"/>
                <a:cs typeface="Calibri" pitchFamily="34" charset="-120"/>
              </a:rPr>
              <a:t>Phân tích ý nghĩa, hành vi chương trình — nền tảng của gỡ lỗi (debugging).</a:t>
            </a:r>
            <a:endParaRPr lang="en-US" sz="1100" dirty="0"/>
          </a:p>
        </p:txBody>
      </p:sp>
      <p:sp>
        <p:nvSpPr>
          <p:cNvPr id="25" name="Shape 23"/>
          <p:cNvSpPr/>
          <p:nvPr/>
        </p:nvSpPr>
        <p:spPr>
          <a:xfrm>
            <a:off x="548640" y="5513832"/>
            <a:ext cx="11064240" cy="804672"/>
          </a:xfrm>
          <a:prstGeom prst="roundRect">
            <a:avLst>
              <a:gd name="adj" fmla="val 9091"/>
            </a:avLst>
          </a:prstGeom>
          <a:solidFill>
            <a:srgbClr val="FFFFFF"/>
          </a:solidFill>
          <a:ln w="12700">
            <a:solidFill>
              <a:srgbClr val="DCE4EC"/>
            </a:solidFill>
            <a:prstDash val="solid"/>
          </a:ln>
        </p:spPr>
      </p:sp>
      <p:sp>
        <p:nvSpPr>
          <p:cNvPr id="26" name="Shape 24"/>
          <p:cNvSpPr/>
          <p:nvPr/>
        </p:nvSpPr>
        <p:spPr>
          <a:xfrm>
            <a:off x="749808" y="5660136"/>
            <a:ext cx="502920" cy="502920"/>
          </a:xfrm>
          <a:prstGeom prst="ellipse">
            <a:avLst/>
          </a:prstGeom>
          <a:solidFill>
            <a:srgbClr val="990011"/>
          </a:solidFill>
          <a:ln/>
        </p:spPr>
      </p:sp>
      <p:sp>
        <p:nvSpPr>
          <p:cNvPr id="27" name="Text 25"/>
          <p:cNvSpPr/>
          <p:nvPr/>
        </p:nvSpPr>
        <p:spPr>
          <a:xfrm>
            <a:off x="749808" y="5660136"/>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5</a:t>
            </a:r>
            <a:endParaRPr lang="en-US" sz="1210" dirty="0"/>
          </a:p>
        </p:txBody>
      </p:sp>
      <p:sp>
        <p:nvSpPr>
          <p:cNvPr id="28" name="Text 26"/>
          <p:cNvSpPr/>
          <p:nvPr/>
        </p:nvSpPr>
        <p:spPr>
          <a:xfrm>
            <a:off x="1481328" y="5568696"/>
            <a:ext cx="3200400" cy="694944"/>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Định hướng sản phẩm</a:t>
            </a:r>
            <a:endParaRPr lang="en-US" sz="1250" dirty="0"/>
          </a:p>
        </p:txBody>
      </p:sp>
      <p:sp>
        <p:nvSpPr>
          <p:cNvPr id="29" name="Text 27"/>
          <p:cNvSpPr/>
          <p:nvPr/>
        </p:nvSpPr>
        <p:spPr>
          <a:xfrm>
            <a:off x="4754880" y="5568696"/>
            <a:ext cx="6675120" cy="694944"/>
          </a:xfrm>
          <a:prstGeom prst="rect">
            <a:avLst/>
          </a:prstGeom>
          <a:noFill/>
          <a:ln/>
        </p:spPr>
        <p:txBody>
          <a:bodyPr wrap="square" rtlCol="0" anchor="ctr"/>
          <a:lstStyle/>
          <a:p>
            <a:pPr marL="0" indent="0">
              <a:buNone/>
            </a:pPr>
            <a:r>
              <a:rPr lang="en-US" sz="1100" dirty="0">
                <a:solidFill>
                  <a:srgbClr val="1B2430"/>
                </a:solidFill>
                <a:latin typeface="Calibri" pitchFamily="34" charset="0"/>
                <a:ea typeface="Calibri" pitchFamily="34" charset="-122"/>
                <a:cs typeface="Calibri" pitchFamily="34" charset="-120"/>
              </a:rPr>
              <a:t>Học qua thiết kế, xây dựng sản phẩm số cụ thể: chương trình, web, dự án...</a:t>
            </a:r>
            <a:endParaRPr lang="en-US" sz="1100" dirty="0"/>
          </a:p>
        </p:txBody>
      </p:sp>
      <p:sp>
        <p:nvSpPr>
          <p:cNvPr id="30" name="Text 28"/>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31" name="Text 2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365760"/>
            <a:ext cx="1417320" cy="310896"/>
          </a:xfrm>
          <a:prstGeom prst="roundRect">
            <a:avLst>
              <a:gd name="adj" fmla="val 23529"/>
            </a:avLst>
          </a:prstGeom>
          <a:solidFill>
            <a:srgbClr val="F2A541"/>
          </a:solidFill>
          <a:ln/>
        </p:spPr>
      </p:sp>
      <p:sp>
        <p:nvSpPr>
          <p:cNvPr id="3" name="Text 1"/>
          <p:cNvSpPr/>
          <p:nvPr/>
        </p:nvSpPr>
        <p:spPr>
          <a:xfrm>
            <a:off x="457200" y="365760"/>
            <a:ext cx="1417320" cy="310896"/>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2.10</a:t>
            </a:r>
            <a:endParaRPr lang="en-US" sz="1200" dirty="0"/>
          </a:p>
        </p:txBody>
      </p:sp>
      <p:sp>
        <p:nvSpPr>
          <p:cNvPr id="4" name="Text 2"/>
          <p:cNvSpPr/>
          <p:nvPr/>
        </p:nvSpPr>
        <p:spPr>
          <a:xfrm>
            <a:off x="457200" y="749808"/>
            <a:ext cx="11247120" cy="777240"/>
          </a:xfrm>
          <a:prstGeom prst="rect">
            <a:avLst/>
          </a:prstGeom>
          <a:noFill/>
          <a:ln/>
        </p:spPr>
        <p:txBody>
          <a:bodyPr wrap="square"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Định hướng phương pháp dạy học &amp; đánh giá</a:t>
            </a:r>
            <a:endParaRPr lang="en-US" sz="3000" dirty="0"/>
          </a:p>
        </p:txBody>
      </p:sp>
      <p:sp>
        <p:nvSpPr>
          <p:cNvPr id="5" name="Shape 3"/>
          <p:cNvSpPr/>
          <p:nvPr/>
        </p:nvSpPr>
        <p:spPr>
          <a:xfrm>
            <a:off x="548640" y="1737360"/>
            <a:ext cx="5394960" cy="4297680"/>
          </a:xfrm>
          <a:prstGeom prst="roundRect">
            <a:avLst>
              <a:gd name="adj" fmla="val 2128"/>
            </a:avLst>
          </a:prstGeom>
          <a:solidFill>
            <a:srgbClr val="FFFFFF"/>
          </a:solidFill>
          <a:ln w="12700">
            <a:solidFill>
              <a:srgbClr val="DCE4EC"/>
            </a:solidFill>
            <a:prstDash val="solid"/>
          </a:ln>
        </p:spPr>
      </p:sp>
      <p:sp>
        <p:nvSpPr>
          <p:cNvPr id="6" name="Text 4"/>
          <p:cNvSpPr/>
          <p:nvPr/>
        </p:nvSpPr>
        <p:spPr>
          <a:xfrm>
            <a:off x="777240" y="1920240"/>
            <a:ext cx="4937760" cy="365760"/>
          </a:xfrm>
          <a:prstGeom prst="rect">
            <a:avLst/>
          </a:prstGeom>
          <a:noFill/>
          <a:ln/>
        </p:spPr>
        <p:txBody>
          <a:bodyPr wrap="square" rtlCol="0" anchor="ctr"/>
          <a:lstStyle/>
          <a:p>
            <a:pPr marL="0" indent="0">
              <a:buNone/>
            </a:pPr>
            <a:r>
              <a:rPr lang="en-US" sz="1450" b="1" dirty="0">
                <a:solidFill>
                  <a:srgbClr val="1B3A5C"/>
                </a:solidFill>
                <a:latin typeface="Calibri" pitchFamily="34" charset="0"/>
                <a:ea typeface="Calibri" pitchFamily="34" charset="-122"/>
                <a:cs typeface="Calibri" pitchFamily="34" charset="-120"/>
              </a:rPr>
              <a:t>Phương pháp dạy học</a:t>
            </a:r>
            <a:endParaRPr lang="en-US" sz="1450" dirty="0"/>
          </a:p>
        </p:txBody>
      </p:sp>
      <p:sp>
        <p:nvSpPr>
          <p:cNvPr id="7" name="Text 5"/>
          <p:cNvSpPr/>
          <p:nvPr/>
        </p:nvSpPr>
        <p:spPr>
          <a:xfrm>
            <a:off x="777240" y="2331720"/>
            <a:ext cx="4937760" cy="3566160"/>
          </a:xfrm>
          <a:prstGeom prst="rect">
            <a:avLst/>
          </a:prstGeom>
          <a:noFill/>
          <a:ln/>
        </p:spPr>
        <p:txBody>
          <a:bodyPr wrap="square" rtlCol="0" anchor="t"/>
          <a:lstStyle/>
          <a:p>
            <a:pPr marL="0" indent="0">
              <a:lnSpc>
                <a:spcPct val="120000"/>
              </a:lnSpc>
              <a:buNone/>
            </a:pPr>
            <a:r>
              <a:rPr lang="en-US" sz="1200" b="1" dirty="0">
                <a:solidFill>
                  <a:srgbClr val="1B2430"/>
                </a:solidFill>
                <a:latin typeface="Calibri" pitchFamily="34" charset="0"/>
                <a:ea typeface="Calibri" pitchFamily="34" charset="-122"/>
                <a:cs typeface="Calibri" pitchFamily="34" charset="-120"/>
              </a:rPr>
              <a:t>Học tập trong hoạt động và bằng hoạt động</a:t>
            </a:r>
            <a:endParaRPr lang="en-US" sz="1200" dirty="0"/>
          </a:p>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 HS là chủ thể kiến tạo tri thức.
</a:t>
            </a:r>
            <a:endParaRPr lang="en-US" sz="1200" dirty="0"/>
          </a:p>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Rèn luyện qua thực hành, thử nghiệm, quá trình “sai – sửa”, thảo luận, tự đánh giá.
</a:t>
            </a:r>
            <a:endParaRPr lang="en-US" sz="1200" dirty="0"/>
          </a:p>
          <a:p>
            <a:pPr marL="0" indent="0">
              <a:lnSpc>
                <a:spcPct val="120000"/>
              </a:lnSpc>
              <a:buNone/>
            </a:pPr>
            <a:r>
              <a:rPr lang="en-US" sz="1200" b="1" dirty="0">
                <a:solidFill>
                  <a:srgbClr val="1B2430"/>
                </a:solidFill>
                <a:latin typeface="Calibri" pitchFamily="34" charset="0"/>
                <a:ea typeface="Calibri" pitchFamily="34" charset="-122"/>
                <a:cs typeface="Calibri" pitchFamily="34" charset="-120"/>
              </a:rPr>
              <a:t>4 vai trò của GV (Brousseau, 1997): </a:t>
            </a:r>
            <a:r>
              <a:rPr lang="en-US" sz="1200" dirty="0">
                <a:solidFill>
                  <a:srgbClr val="1B2430"/>
                </a:solidFill>
                <a:latin typeface="Calibri" pitchFamily="34" charset="0"/>
                <a:ea typeface="Calibri" pitchFamily="34" charset="-122"/>
                <a:cs typeface="Calibri" pitchFamily="34" charset="-120"/>
              </a:rPr>
              <a:t>người thiết kế, người ủy thác, người điều khiển – giám sát, người thể thức hóa kiến thức.</a:t>
            </a:r>
            <a:endParaRPr lang="en-US" sz="1200" dirty="0"/>
          </a:p>
        </p:txBody>
      </p:sp>
      <p:sp>
        <p:nvSpPr>
          <p:cNvPr id="8" name="Shape 6"/>
          <p:cNvSpPr/>
          <p:nvPr/>
        </p:nvSpPr>
        <p:spPr>
          <a:xfrm>
            <a:off x="6217920" y="1737360"/>
            <a:ext cx="5394960" cy="4297680"/>
          </a:xfrm>
          <a:prstGeom prst="roundRect">
            <a:avLst>
              <a:gd name="adj" fmla="val 2128"/>
            </a:avLst>
          </a:prstGeom>
          <a:solidFill>
            <a:srgbClr val="1B3A5C"/>
          </a:solidFill>
          <a:ln/>
        </p:spPr>
      </p:sp>
      <p:sp>
        <p:nvSpPr>
          <p:cNvPr id="9" name="Text 7"/>
          <p:cNvSpPr/>
          <p:nvPr/>
        </p:nvSpPr>
        <p:spPr>
          <a:xfrm>
            <a:off x="6446520" y="1920240"/>
            <a:ext cx="4937760" cy="365760"/>
          </a:xfrm>
          <a:prstGeom prst="rect">
            <a:avLst/>
          </a:prstGeom>
          <a:noFill/>
          <a:ln/>
        </p:spPr>
        <p:txBody>
          <a:bodyPr wrap="square" rtlCol="0" anchor="ctr"/>
          <a:lstStyle/>
          <a:p>
            <a:pPr marL="0" indent="0">
              <a:buNone/>
            </a:pPr>
            <a:r>
              <a:rPr lang="en-US" sz="1450" b="1" dirty="0">
                <a:solidFill>
                  <a:srgbClr val="F2A541"/>
                </a:solidFill>
                <a:latin typeface="Calibri" pitchFamily="34" charset="0"/>
                <a:ea typeface="Calibri" pitchFamily="34" charset="-122"/>
                <a:cs typeface="Calibri" pitchFamily="34" charset="-120"/>
              </a:rPr>
              <a:t>Kiểm tra – đánh giá</a:t>
            </a:r>
            <a:endParaRPr lang="en-US" sz="1450" dirty="0"/>
          </a:p>
        </p:txBody>
      </p:sp>
      <p:sp>
        <p:nvSpPr>
          <p:cNvPr id="10" name="Text 8"/>
          <p:cNvSpPr/>
          <p:nvPr/>
        </p:nvSpPr>
        <p:spPr>
          <a:xfrm>
            <a:off x="6446520" y="2331720"/>
            <a:ext cx="4937760" cy="3566160"/>
          </a:xfrm>
          <a:prstGeom prst="rect">
            <a:avLst/>
          </a:prstGeom>
          <a:noFill/>
          <a:ln/>
        </p:spPr>
        <p:txBody>
          <a:bodyPr wrap="square" rtlCol="0" anchor="t"/>
          <a:lstStyle/>
          <a:p>
            <a:pPr marL="0" indent="0">
              <a:lnSpc>
                <a:spcPct val="120000"/>
              </a:lnSpc>
              <a:buNone/>
            </a:pPr>
            <a:r>
              <a:rPr lang="en-US" sz="1150" b="1" dirty="0">
                <a:solidFill>
                  <a:srgbClr val="FFFFFF"/>
                </a:solidFill>
                <a:latin typeface="Calibri" pitchFamily="34" charset="0"/>
                <a:ea typeface="Calibri" pitchFamily="34" charset="-122"/>
                <a:cs typeface="Calibri" pitchFamily="34" charset="-120"/>
              </a:rPr>
              <a:t>Bám sát 5 thành phần năng lực Tin học</a:t>
            </a:r>
            <a:endParaRPr lang="en-US" sz="1150" dirty="0"/>
          </a:p>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 gắn với 3 mạch nội dung DL, ICT, CS.
</a:t>
            </a:r>
            <a:endParaRPr lang="en-US" sz="1150" dirty="0"/>
          </a:p>
          <a:p>
            <a:pPr marL="0" indent="0">
              <a:lnSpc>
                <a:spcPct val="120000"/>
              </a:lnSpc>
              <a:buNone/>
            </a:pPr>
            <a:r>
              <a:rPr lang="en-US" sz="1150" b="1" dirty="0">
                <a:solidFill>
                  <a:srgbClr val="F2A541"/>
                </a:solidFill>
                <a:latin typeface="Calibri" pitchFamily="34" charset="0"/>
                <a:ea typeface="Calibri" pitchFamily="34" charset="-122"/>
                <a:cs typeface="Calibri" pitchFamily="34" charset="-120"/>
              </a:rPr>
              <a:t>• ICT: </a:t>
            </a:r>
            <a:r>
              <a:rPr lang="en-US" sz="1150" dirty="0">
                <a:solidFill>
                  <a:srgbClr val="CADCFC"/>
                </a:solidFill>
                <a:latin typeface="Calibri" pitchFamily="34" charset="0"/>
                <a:ea typeface="Calibri" pitchFamily="34" charset="-122"/>
                <a:cs typeface="Calibri" pitchFamily="34" charset="-120"/>
              </a:rPr>
              <a:t>khả năng tạo sản phẩm số.
</a:t>
            </a:r>
            <a:endParaRPr lang="en-US" sz="1150" dirty="0"/>
          </a:p>
          <a:p>
            <a:pPr marL="0" indent="0">
              <a:lnSpc>
                <a:spcPct val="120000"/>
              </a:lnSpc>
              <a:buNone/>
            </a:pPr>
            <a:r>
              <a:rPr lang="en-US" sz="1150" b="1" dirty="0">
                <a:solidFill>
                  <a:srgbClr val="F2A541"/>
                </a:solidFill>
                <a:latin typeface="Calibri" pitchFamily="34" charset="0"/>
                <a:ea typeface="Calibri" pitchFamily="34" charset="-122"/>
                <a:cs typeface="Calibri" pitchFamily="34" charset="-120"/>
              </a:rPr>
              <a:t>• CS: </a:t>
            </a:r>
            <a:r>
              <a:rPr lang="en-US" sz="1150" dirty="0">
                <a:solidFill>
                  <a:srgbClr val="CADCFC"/>
                </a:solidFill>
                <a:latin typeface="Calibri" pitchFamily="34" charset="0"/>
                <a:ea typeface="Calibri" pitchFamily="34" charset="-122"/>
                <a:cs typeface="Calibri" pitchFamily="34" charset="-120"/>
              </a:rPr>
              <a:t>tư duy hệ thống, giải quyết vấn đề qua thuật toán, lập trình.
</a:t>
            </a:r>
            <a:endParaRPr lang="en-US" sz="1150" dirty="0"/>
          </a:p>
          <a:p>
            <a:pPr marL="0" indent="0">
              <a:lnSpc>
                <a:spcPct val="120000"/>
              </a:lnSpc>
              <a:buNone/>
            </a:pPr>
            <a:r>
              <a:rPr lang="en-US" sz="1150" b="1" dirty="0">
                <a:solidFill>
                  <a:srgbClr val="F2A541"/>
                </a:solidFill>
                <a:latin typeface="Calibri" pitchFamily="34" charset="0"/>
                <a:ea typeface="Calibri" pitchFamily="34" charset="-122"/>
                <a:cs typeface="Calibri" pitchFamily="34" charset="-120"/>
              </a:rPr>
              <a:t>• DL: </a:t>
            </a:r>
            <a:r>
              <a:rPr lang="en-US" sz="1150" dirty="0">
                <a:solidFill>
                  <a:srgbClr val="CADCFC"/>
                </a:solidFill>
                <a:latin typeface="Calibri" pitchFamily="34" charset="0"/>
                <a:ea typeface="Calibri" pitchFamily="34" charset="-122"/>
                <a:cs typeface="Calibri" pitchFamily="34" charset="-120"/>
              </a:rPr>
              <a:t>xử lí tình huống + quan sát thái độ, hành vi trong môi trường số.
</a:t>
            </a:r>
            <a:endParaRPr lang="en-US" sz="1150" dirty="0"/>
          </a:p>
          <a:p>
            <a:pPr marL="0" indent="0">
              <a:lnSpc>
                <a:spcPct val="120000"/>
              </a:lnSpc>
              <a:buNone/>
            </a:pPr>
            <a:r>
              <a:rPr lang="en-US" sz="1150" i="1" dirty="0">
                <a:solidFill>
                  <a:srgbClr val="FFFFFF"/>
                </a:solidFill>
                <a:latin typeface="Calibri" pitchFamily="34" charset="0"/>
                <a:ea typeface="Calibri" pitchFamily="34" charset="-122"/>
                <a:cs typeface="Calibri" pitchFamily="34" charset="-120"/>
              </a:rPr>
              <a:t>GV tạo cơ hội để HS tự đánh giá và đánh giá lẫn nhau.</a:t>
            </a:r>
            <a:endParaRPr lang="en-US" sz="1150" dirty="0"/>
          </a:p>
        </p:txBody>
      </p:sp>
      <p:sp>
        <p:nvSpPr>
          <p:cNvPr id="11" name="Text 9"/>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Chương 2 · Định hướng quá trình dạy học môn Tin học</a:t>
            </a:r>
            <a:endParaRPr lang="en-US" sz="900" dirty="0"/>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138"/>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1B3A5C"/>
          </a:solidFill>
          <a:ln/>
        </p:spPr>
      </p:sp>
      <p:sp>
        <p:nvSpPr>
          <p:cNvPr id="3" name="Shape 1"/>
          <p:cNvSpPr/>
          <p:nvPr/>
        </p:nvSpPr>
        <p:spPr>
          <a:xfrm>
            <a:off x="0" y="0"/>
            <a:ext cx="164592" cy="6858000"/>
          </a:xfrm>
          <a:prstGeom prst="rect">
            <a:avLst/>
          </a:prstGeom>
          <a:solidFill>
            <a:srgbClr val="F2A541"/>
          </a:solidFill>
          <a:ln/>
        </p:spPr>
      </p:sp>
      <p:sp>
        <p:nvSpPr>
          <p:cNvPr id="4" name="Text 2"/>
          <p:cNvSpPr/>
          <p:nvPr/>
        </p:nvSpPr>
        <p:spPr>
          <a:xfrm>
            <a:off x="822960" y="502920"/>
            <a:ext cx="7315200" cy="457200"/>
          </a:xfrm>
          <a:prstGeom prst="rect">
            <a:avLst/>
          </a:prstGeom>
          <a:noFill/>
          <a:ln/>
        </p:spPr>
        <p:txBody>
          <a:bodyPr wrap="square" rtlCol="0" anchor="ctr"/>
          <a:lstStyle/>
          <a:p>
            <a:pPr marL="0" indent="0">
              <a:buNone/>
            </a:pPr>
            <a:r>
              <a:rPr lang="en-US" sz="1600" b="1" kern="0" spc="200" dirty="0">
                <a:solidFill>
                  <a:srgbClr val="F2A541"/>
                </a:solidFill>
                <a:latin typeface="Calibri" pitchFamily="34" charset="0"/>
                <a:ea typeface="Calibri" pitchFamily="34" charset="-122"/>
                <a:cs typeface="Calibri" pitchFamily="34" charset="-120"/>
              </a:rPr>
              <a:t>TỔNG KẾT CHƯƠNG</a:t>
            </a:r>
            <a:endParaRPr lang="en-US" sz="1600" dirty="0"/>
          </a:p>
        </p:txBody>
      </p:sp>
      <p:sp>
        <p:nvSpPr>
          <p:cNvPr id="5" name="Text 3"/>
          <p:cNvSpPr/>
          <p:nvPr/>
        </p:nvSpPr>
        <p:spPr>
          <a:xfrm>
            <a:off x="822960" y="914400"/>
            <a:ext cx="91440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Những điểm cốt lõi cần ghi nhớ</a:t>
            </a:r>
            <a:endParaRPr lang="en-US" sz="2800" dirty="0"/>
          </a:p>
        </p:txBody>
      </p:sp>
      <p:sp>
        <p:nvSpPr>
          <p:cNvPr id="6" name="Shape 4"/>
          <p:cNvSpPr/>
          <p:nvPr/>
        </p:nvSpPr>
        <p:spPr>
          <a:xfrm>
            <a:off x="822960" y="1874520"/>
            <a:ext cx="292608" cy="292608"/>
          </a:xfrm>
          <a:prstGeom prst="ellipse">
            <a:avLst/>
          </a:prstGeom>
          <a:solidFill>
            <a:srgbClr val="F2A541"/>
          </a:solidFill>
          <a:ln/>
        </p:spPr>
      </p:sp>
      <p:sp>
        <p:nvSpPr>
          <p:cNvPr id="7" name="Text 5"/>
          <p:cNvSpPr/>
          <p:nvPr/>
        </p:nvSpPr>
        <p:spPr>
          <a:xfrm>
            <a:off x="822960" y="1874520"/>
            <a:ext cx="292608" cy="292608"/>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25880" y="1755648"/>
            <a:ext cx="10058400" cy="548640"/>
          </a:xfrm>
          <a:prstGeom prst="rect">
            <a:avLst/>
          </a:prstGeom>
          <a:noFill/>
          <a:ln/>
        </p:spPr>
        <p:txBody>
          <a:bodyPr wrap="square" rtlCol="0" anchor="ctr"/>
          <a:lstStyle/>
          <a:p>
            <a:pPr marL="0" indent="0">
              <a:buNone/>
            </a:pPr>
            <a:r>
              <a:rPr lang="en-US" sz="1300" dirty="0">
                <a:solidFill>
                  <a:srgbClr val="E6EEF6"/>
                </a:solidFill>
                <a:latin typeface="Calibri" pitchFamily="34" charset="0"/>
                <a:ea typeface="Calibri" pitchFamily="34" charset="-122"/>
                <a:cs typeface="Calibri" pitchFamily="34" charset="-120"/>
              </a:rPr>
              <a:t>Chương trình 2018 chuyển từ “truyền thụ kiến thức” sang “phát triển phẩm chất, năng lực”; Tin học bắt buộc từ lớp 3–12.</a:t>
            </a:r>
            <a:endParaRPr lang="en-US" sz="1300" dirty="0"/>
          </a:p>
        </p:txBody>
      </p:sp>
      <p:sp>
        <p:nvSpPr>
          <p:cNvPr id="9" name="Shape 7"/>
          <p:cNvSpPr/>
          <p:nvPr/>
        </p:nvSpPr>
        <p:spPr>
          <a:xfrm>
            <a:off x="822960" y="2697480"/>
            <a:ext cx="292608" cy="292608"/>
          </a:xfrm>
          <a:prstGeom prst="ellipse">
            <a:avLst/>
          </a:prstGeom>
          <a:solidFill>
            <a:srgbClr val="F2A541"/>
          </a:solidFill>
          <a:ln/>
        </p:spPr>
      </p:sp>
      <p:sp>
        <p:nvSpPr>
          <p:cNvPr id="10" name="Text 8"/>
          <p:cNvSpPr/>
          <p:nvPr/>
        </p:nvSpPr>
        <p:spPr>
          <a:xfrm>
            <a:off x="822960" y="2697480"/>
            <a:ext cx="292608" cy="292608"/>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25880" y="2578608"/>
            <a:ext cx="10058400" cy="548640"/>
          </a:xfrm>
          <a:prstGeom prst="rect">
            <a:avLst/>
          </a:prstGeom>
          <a:noFill/>
          <a:ln/>
        </p:spPr>
        <p:txBody>
          <a:bodyPr wrap="square" rtlCol="0" anchor="ctr"/>
          <a:lstStyle/>
          <a:p>
            <a:pPr marL="0" indent="0">
              <a:buNone/>
            </a:pPr>
            <a:r>
              <a:rPr lang="en-US" sz="1300" dirty="0">
                <a:solidFill>
                  <a:srgbClr val="E6EEF6"/>
                </a:solidFill>
                <a:latin typeface="Calibri" pitchFamily="34" charset="0"/>
                <a:ea typeface="Calibri" pitchFamily="34" charset="-122"/>
                <a:cs typeface="Calibri" pitchFamily="34" charset="-120"/>
              </a:rPr>
              <a:t>Ba mạch CS – ICT – DL tích hợp ở giáo dục cơ bản, phân hóa ở THPT theo hai định hướng nghề nghiệp.</a:t>
            </a:r>
            <a:endParaRPr lang="en-US" sz="1300" dirty="0"/>
          </a:p>
        </p:txBody>
      </p:sp>
      <p:sp>
        <p:nvSpPr>
          <p:cNvPr id="12" name="Shape 10"/>
          <p:cNvSpPr/>
          <p:nvPr/>
        </p:nvSpPr>
        <p:spPr>
          <a:xfrm>
            <a:off x="822960" y="3520440"/>
            <a:ext cx="292608" cy="292608"/>
          </a:xfrm>
          <a:prstGeom prst="ellipse">
            <a:avLst/>
          </a:prstGeom>
          <a:solidFill>
            <a:srgbClr val="F2A541"/>
          </a:solidFill>
          <a:ln/>
        </p:spPr>
      </p:sp>
      <p:sp>
        <p:nvSpPr>
          <p:cNvPr id="13" name="Text 11"/>
          <p:cNvSpPr/>
          <p:nvPr/>
        </p:nvSpPr>
        <p:spPr>
          <a:xfrm>
            <a:off x="822960" y="3520440"/>
            <a:ext cx="292608" cy="292608"/>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325880" y="3401568"/>
            <a:ext cx="10058400" cy="548640"/>
          </a:xfrm>
          <a:prstGeom prst="rect">
            <a:avLst/>
          </a:prstGeom>
          <a:noFill/>
          <a:ln/>
        </p:spPr>
        <p:txBody>
          <a:bodyPr wrap="square" rtlCol="0" anchor="ctr"/>
          <a:lstStyle/>
          <a:p>
            <a:pPr marL="0" indent="0">
              <a:buNone/>
            </a:pPr>
            <a:r>
              <a:rPr lang="en-US" sz="1300" dirty="0">
                <a:solidFill>
                  <a:srgbClr val="E6EEF6"/>
                </a:solidFill>
                <a:latin typeface="Calibri" pitchFamily="34" charset="0"/>
                <a:ea typeface="Calibri" pitchFamily="34" charset="-122"/>
                <a:cs typeface="Calibri" pitchFamily="34" charset="-120"/>
              </a:rPr>
              <a:t>Nội dung thiết kế theo nguyên tắc đồng tâm – xoắn ốc; Yêu cầu cần đạt là căn cứ pháp lý để thiết kế bài dạy.</a:t>
            </a:r>
            <a:endParaRPr lang="en-US" sz="1300" dirty="0"/>
          </a:p>
        </p:txBody>
      </p:sp>
      <p:sp>
        <p:nvSpPr>
          <p:cNvPr id="15" name="Shape 13"/>
          <p:cNvSpPr/>
          <p:nvPr/>
        </p:nvSpPr>
        <p:spPr>
          <a:xfrm>
            <a:off x="822960" y="4343400"/>
            <a:ext cx="292608" cy="292608"/>
          </a:xfrm>
          <a:prstGeom prst="ellipse">
            <a:avLst/>
          </a:prstGeom>
          <a:solidFill>
            <a:srgbClr val="F2A541"/>
          </a:solidFill>
          <a:ln/>
        </p:spPr>
      </p:sp>
      <p:sp>
        <p:nvSpPr>
          <p:cNvPr id="16" name="Text 14"/>
          <p:cNvSpPr/>
          <p:nvPr/>
        </p:nvSpPr>
        <p:spPr>
          <a:xfrm>
            <a:off x="822960" y="4343400"/>
            <a:ext cx="292608" cy="292608"/>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325880" y="4224528"/>
            <a:ext cx="10058400" cy="548640"/>
          </a:xfrm>
          <a:prstGeom prst="rect">
            <a:avLst/>
          </a:prstGeom>
          <a:noFill/>
          <a:ln/>
        </p:spPr>
        <p:txBody>
          <a:bodyPr wrap="square" rtlCol="0" anchor="ctr"/>
          <a:lstStyle/>
          <a:p>
            <a:pPr marL="0" indent="0">
              <a:buNone/>
            </a:pPr>
            <a:r>
              <a:rPr lang="en-US" sz="1300" dirty="0">
                <a:solidFill>
                  <a:srgbClr val="E6EEF6"/>
                </a:solidFill>
                <a:latin typeface="Calibri" pitchFamily="34" charset="0"/>
                <a:ea typeface="Calibri" pitchFamily="34" charset="-122"/>
                <a:cs typeface="Calibri" pitchFamily="34" charset="-120"/>
              </a:rPr>
              <a:t>Tư duy máy tính (4 yếu tố) và các hoạt động nhận dạng – thể hiện, trí tuệ, ngôn ngữ, ngữ nghĩa xuyên suốt quá trình dạy học.</a:t>
            </a:r>
            <a:endParaRPr lang="en-US" sz="1300" dirty="0"/>
          </a:p>
        </p:txBody>
      </p:sp>
      <p:sp>
        <p:nvSpPr>
          <p:cNvPr id="18" name="Shape 16"/>
          <p:cNvSpPr/>
          <p:nvPr/>
        </p:nvSpPr>
        <p:spPr>
          <a:xfrm>
            <a:off x="822960" y="5166360"/>
            <a:ext cx="292608" cy="292608"/>
          </a:xfrm>
          <a:prstGeom prst="ellipse">
            <a:avLst/>
          </a:prstGeom>
          <a:solidFill>
            <a:srgbClr val="F2A541"/>
          </a:solidFill>
          <a:ln/>
        </p:spPr>
      </p:sp>
      <p:sp>
        <p:nvSpPr>
          <p:cNvPr id="19" name="Text 17"/>
          <p:cNvSpPr/>
          <p:nvPr/>
        </p:nvSpPr>
        <p:spPr>
          <a:xfrm>
            <a:off x="822960" y="5166360"/>
            <a:ext cx="292608" cy="292608"/>
          </a:xfrm>
          <a:prstGeom prst="rect">
            <a:avLst/>
          </a:prstGeom>
          <a:noFill/>
          <a:ln/>
        </p:spPr>
        <p:txBody>
          <a:bodyPr wrap="square" rtlCol="0" anchor="ctr"/>
          <a:lstStyle/>
          <a:p>
            <a:pPr marL="0" indent="0" algn="ctr">
              <a:buNone/>
            </a:pPr>
            <a:r>
              <a:rPr lang="en-US" sz="1200" b="1" dirty="0">
                <a:solidFill>
                  <a:srgbClr val="0F2138"/>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325880" y="5047488"/>
            <a:ext cx="10058400" cy="548640"/>
          </a:xfrm>
          <a:prstGeom prst="rect">
            <a:avLst/>
          </a:prstGeom>
          <a:noFill/>
          <a:ln/>
        </p:spPr>
        <p:txBody>
          <a:bodyPr wrap="square" rtlCol="0" anchor="ctr"/>
          <a:lstStyle/>
          <a:p>
            <a:pPr marL="0" indent="0">
              <a:buNone/>
            </a:pPr>
            <a:r>
              <a:rPr lang="en-US" sz="1300" dirty="0">
                <a:solidFill>
                  <a:srgbClr val="E6EEF6"/>
                </a:solidFill>
                <a:latin typeface="Calibri" pitchFamily="34" charset="0"/>
                <a:ea typeface="Calibri" pitchFamily="34" charset="-122"/>
                <a:cs typeface="Calibri" pitchFamily="34" charset="-120"/>
              </a:rPr>
              <a:t>Đánh giá theo định hướng năng lực, bám sát 5 thành phần năng lực Tin học và 3 mạch nội dung.</a:t>
            </a:r>
            <a:endParaRPr lang="en-US" sz="13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Cảm ơn — Chương 2: Định hướng quá trình dạy học môn Tin học</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3348</Words>
  <Application>Microsoft Office PowerPoint</Application>
  <PresentationFormat>Widescreen</PresentationFormat>
  <Paragraphs>407</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2026-09-07T07:01:49Z</dcterms:created>
  <dcterms:modified xsi:type="dcterms:W3CDTF">2026-09-17T00:57:23Z</dcterms:modified>
</cp:coreProperties>
</file>