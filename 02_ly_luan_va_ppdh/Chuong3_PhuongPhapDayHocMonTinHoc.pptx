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Lst>
  <p:notesMasterIdLst>
    <p:notesMasterId r:id="rId6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notesMaster" Target="notesMasters/notesMaster1.xml"/><Relationship Id="rId68" Type="http://schemas.openxmlformats.org/officeDocument/2006/relationships/presProps" Target="presProps.xml"/><Relationship Id="rId69" Type="http://schemas.openxmlformats.org/officeDocument/2006/relationships/viewProps" Target="viewProps.xml"/><Relationship Id="rId70" Type="http://schemas.openxmlformats.org/officeDocument/2006/relationships/theme" Target="theme/theme1.xml"/><Relationship Id="rId7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24F"/>
        </a:solidFill>
      </p:bgPr>
    </p:bg>
    <p:spTree>
      <p:nvGrpSpPr>
        <p:cNvPr id="1" name=""/>
        <p:cNvGrpSpPr/>
        <p:nvPr/>
      </p:nvGrpSpPr>
      <p:grpSpPr>
        <a:xfrm>
          <a:off x="0" y="0"/>
          <a:ext cx="0" cy="0"/>
          <a:chOff x="0" y="0"/>
          <a:chExt cx="0" cy="0"/>
        </a:xfrm>
      </p:grpSpPr>
      <p:sp>
        <p:nvSpPr>
          <p:cNvPr id="2" name="Text 0"/>
          <p:cNvSpPr/>
          <p:nvPr/>
        </p:nvSpPr>
        <p:spPr>
          <a:xfrm>
            <a:off x="822960" y="2103120"/>
            <a:ext cx="7315200" cy="548640"/>
          </a:xfrm>
          <a:prstGeom prst="rect">
            <a:avLst/>
          </a:prstGeom>
          <a:noFill/>
          <a:ln/>
        </p:spPr>
        <p:txBody>
          <a:bodyPr wrap="square" rtlCol="0" anchor="ctr"/>
          <a:lstStyle/>
          <a:p>
            <a:pPr indent="0" marL="0">
              <a:buNone/>
            </a:pPr>
            <a:r>
              <a:rPr lang="en-US" sz="1800" b="1" spc="300" kern="0" dirty="0">
                <a:solidFill>
                  <a:srgbClr val="C1571A"/>
                </a:solidFill>
                <a:latin typeface="Calibri" pitchFamily="34" charset="0"/>
                <a:ea typeface="Calibri" pitchFamily="34" charset="-122"/>
                <a:cs typeface="Calibri" pitchFamily="34" charset="-120"/>
              </a:rPr>
              <a:t>CHƯƠNG 3</a:t>
            </a:r>
            <a:endParaRPr lang="en-US" sz="1800" dirty="0"/>
          </a:p>
        </p:txBody>
      </p:sp>
      <p:sp>
        <p:nvSpPr>
          <p:cNvPr id="3" name="Text 1"/>
          <p:cNvSpPr/>
          <p:nvPr/>
        </p:nvSpPr>
        <p:spPr>
          <a:xfrm>
            <a:off x="822960" y="2651760"/>
            <a:ext cx="10515600" cy="1828800"/>
          </a:xfrm>
          <a:prstGeom prst="rect">
            <a:avLst/>
          </a:prstGeom>
          <a:noFill/>
          <a:ln/>
        </p:spPr>
        <p:txBody>
          <a:bodyPr wrap="square" rtlCol="0" anchor="ctr"/>
          <a:lstStyle/>
          <a:p>
            <a:pPr algn="l" indent="0" marL="0">
              <a:lnSpc>
                <a:spcPct val="105000"/>
              </a:lnSpc>
              <a:buNone/>
            </a:pPr>
            <a:r>
              <a:rPr lang="en-US" sz="4400" b="1" dirty="0">
                <a:solidFill>
                  <a:srgbClr val="FFFFFF"/>
                </a:solidFill>
                <a:latin typeface="Calibri" pitchFamily="34" charset="0"/>
                <a:ea typeface="Calibri" pitchFamily="34" charset="-122"/>
                <a:cs typeface="Calibri" pitchFamily="34" charset="-120"/>
              </a:rPr>
              <a:t>PHƯƠNG PHÁP DẠY HỌC</a:t>
            </a:r>
            <a:endParaRPr lang="en-US" sz="4400" dirty="0"/>
          </a:p>
          <a:p>
            <a:pPr algn="l" indent="0" marL="0">
              <a:lnSpc>
                <a:spcPct val="105000"/>
              </a:lnSpc>
              <a:buNone/>
            </a:pPr>
            <a:r>
              <a:rPr lang="en-US" sz="4400" b="1" dirty="0">
                <a:solidFill>
                  <a:srgbClr val="FFFFFF"/>
                </a:solidFill>
                <a:latin typeface="Calibri" pitchFamily="34" charset="0"/>
                <a:ea typeface="Calibri" pitchFamily="34" charset="-122"/>
                <a:cs typeface="Calibri" pitchFamily="34" charset="-120"/>
              </a:rPr>
              <a:t>MÔN TIN HỌC</a:t>
            </a:r>
            <a:endParaRPr lang="en-US" sz="4400" dirty="0"/>
          </a:p>
        </p:txBody>
      </p:sp>
      <p:sp>
        <p:nvSpPr>
          <p:cNvPr id="4" name="Text 2"/>
          <p:cNvSpPr/>
          <p:nvPr/>
        </p:nvSpPr>
        <p:spPr>
          <a:xfrm>
            <a:off x="822960" y="4663440"/>
            <a:ext cx="9144000" cy="457200"/>
          </a:xfrm>
          <a:prstGeom prst="rect">
            <a:avLst/>
          </a:prstGeom>
          <a:noFill/>
          <a:ln/>
        </p:spPr>
        <p:txBody>
          <a:bodyPr wrap="square"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Lý luận và Phương pháp dạy học Tin học</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MỞ ĐẦU</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Mục tiêu của chương</a:t>
            </a:r>
            <a:endParaRPr lang="en-US" sz="30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800" b="1" dirty="0">
                <a:solidFill>
                  <a:srgbClr val="222B33"/>
                </a:solidFill>
                <a:latin typeface="Calibri" pitchFamily="34" charset="0"/>
                <a:ea typeface="Calibri" pitchFamily="34" charset="-122"/>
                <a:cs typeface="Calibri" pitchFamily="34" charset="-120"/>
              </a:rPr>
              <a:t>Phân tích cơ sở lý luận của phương pháp dạy học Tin học</a:t>
            </a:r>
            <a:endParaRPr lang="en-US" sz="1800" dirty="0"/>
          </a:p>
          <a:p>
            <a:pPr algn="l" lvl="1" marL="457200" indent="-228600">
              <a:lnSpc>
                <a:spcPct val="108000"/>
              </a:lnSpc>
              <a:spcAft>
                <a:spcPts val="600"/>
              </a:spcAft>
              <a:buSzPct val="100000"/>
              <a:buChar char="–"/>
            </a:pPr>
            <a:r>
              <a:rPr lang="en-US" sz="1600" dirty="0">
                <a:solidFill>
                  <a:srgbClr val="5B6B79"/>
                </a:solidFill>
                <a:latin typeface="Calibri" pitchFamily="34" charset="0"/>
                <a:ea typeface="Calibri" pitchFamily="34" charset="-122"/>
                <a:cs typeface="Calibri" pitchFamily="34" charset="-120"/>
              </a:rPr>
              <a:t>Phân biệt khái niệm quan điểm dạy học, phương pháp dạy học và kỹ thuật dạy học</a:t>
            </a:r>
            <a:endParaRPr lang="en-US" sz="1800" dirty="0"/>
          </a:p>
          <a:p>
            <a:pPr algn="l" lvl="1" marL="457200" indent="-228600">
              <a:lnSpc>
                <a:spcPct val="108000"/>
              </a:lnSpc>
              <a:spcAft>
                <a:spcPts val="600"/>
              </a:spcAft>
              <a:buSzPct val="100000"/>
              <a:buChar char="–"/>
            </a:pPr>
            <a:r>
              <a:rPr lang="en-US" sz="1600" dirty="0">
                <a:solidFill>
                  <a:srgbClr val="5B6B79"/>
                </a:solidFill>
                <a:latin typeface="Calibri" pitchFamily="34" charset="0"/>
                <a:ea typeface="Calibri" pitchFamily="34" charset="-122"/>
                <a:cs typeface="Calibri" pitchFamily="34" charset="-120"/>
              </a:rPr>
              <a:t>Hiểu bản chất, cấu trúc và các cách phân loại phương pháp dạy học</a:t>
            </a:r>
            <a:endParaRPr lang="en-US" sz="1800" dirty="0"/>
          </a:p>
          <a:p>
            <a:pPr algn="l" marL="203200" indent="-203200">
              <a:lnSpc>
                <a:spcPct val="108000"/>
              </a:lnSpc>
              <a:spcAft>
                <a:spcPts val="1000"/>
              </a:spcAft>
              <a:buSzPct val="100000"/>
              <a:buChar char="▪"/>
            </a:pPr>
            <a:r>
              <a:rPr lang="en-US" sz="1800" b="1" dirty="0">
                <a:solidFill>
                  <a:srgbClr val="222B33"/>
                </a:solidFill>
                <a:latin typeface="Calibri" pitchFamily="34" charset="0"/>
                <a:ea typeface="Calibri" pitchFamily="34" charset="-122"/>
                <a:cs typeface="Calibri" pitchFamily="34" charset="-120"/>
              </a:rPr>
              <a:t>Vận dụng các phương pháp dạy học tích cực</a:t>
            </a:r>
            <a:endParaRPr lang="en-US" sz="1800" dirty="0"/>
          </a:p>
          <a:p>
            <a:pPr algn="l" lvl="1" marL="457200" indent="-228600">
              <a:lnSpc>
                <a:spcPct val="108000"/>
              </a:lnSpc>
              <a:spcAft>
                <a:spcPts val="600"/>
              </a:spcAft>
              <a:buSzPct val="100000"/>
              <a:buChar char="–"/>
            </a:pPr>
            <a:r>
              <a:rPr lang="en-US" sz="1600" dirty="0">
                <a:solidFill>
                  <a:srgbClr val="5B6B79"/>
                </a:solidFill>
                <a:latin typeface="Calibri" pitchFamily="34" charset="0"/>
                <a:ea typeface="Calibri" pitchFamily="34" charset="-122"/>
                <a:cs typeface="Calibri" pitchFamily="34" charset="-120"/>
              </a:rPr>
              <a:t>Lựa chọn, phối hợp linh hoạt phương pháp và kỹ thuật dạy học phù hợp mục tiêu bài học</a:t>
            </a:r>
            <a:endParaRPr lang="en-US" sz="1800" dirty="0"/>
          </a:p>
          <a:p>
            <a:pPr algn="l" lvl="1" marL="457200" indent="-228600">
              <a:lnSpc>
                <a:spcPct val="108000"/>
              </a:lnSpc>
              <a:spcAft>
                <a:spcPts val="600"/>
              </a:spcAft>
              <a:buSzPct val="100000"/>
              <a:buChar char="–"/>
            </a:pPr>
            <a:r>
              <a:rPr lang="en-US" sz="1600" dirty="0">
                <a:solidFill>
                  <a:srgbClr val="5B6B79"/>
                </a:solidFill>
                <a:latin typeface="Calibri" pitchFamily="34" charset="0"/>
                <a:ea typeface="Calibri" pitchFamily="34" charset="-122"/>
                <a:cs typeface="Calibri" pitchFamily="34" charset="-120"/>
              </a:rPr>
              <a:t>Thiết kế hoạt động học tập phát triển năng lực và tư duy máy tính</a:t>
            </a:r>
            <a:endParaRPr lang="en-US" sz="1800" dirty="0"/>
          </a:p>
          <a:p>
            <a:pPr algn="l" marL="203200" indent="-203200">
              <a:lnSpc>
                <a:spcPct val="108000"/>
              </a:lnSpc>
              <a:spcAft>
                <a:spcPts val="1000"/>
              </a:spcAft>
              <a:buSzPct val="100000"/>
              <a:buChar char="▪"/>
            </a:pPr>
            <a:r>
              <a:rPr lang="en-US" sz="1800" b="1" dirty="0">
                <a:solidFill>
                  <a:srgbClr val="222B33"/>
                </a:solidFill>
                <a:latin typeface="Calibri" pitchFamily="34" charset="0"/>
                <a:ea typeface="Calibri" pitchFamily="34" charset="-122"/>
                <a:cs typeface="Calibri" pitchFamily="34" charset="-120"/>
              </a:rPr>
              <a:t>Tổ chức hoạt động học tập trong môn Tin học</a:t>
            </a:r>
            <a:endParaRPr lang="en-US" sz="1800" dirty="0"/>
          </a:p>
          <a:p>
            <a:pPr algn="l" lvl="1" marL="457200" indent="-228600">
              <a:lnSpc>
                <a:spcPct val="108000"/>
              </a:lnSpc>
              <a:spcAft>
                <a:spcPts val="600"/>
              </a:spcAft>
              <a:buSzPct val="100000"/>
              <a:buChar char="–"/>
            </a:pPr>
            <a:r>
              <a:rPr lang="en-US" sz="1600" dirty="0">
                <a:solidFill>
                  <a:srgbClr val="5B6B79"/>
                </a:solidFill>
                <a:latin typeface="Calibri" pitchFamily="34" charset="0"/>
                <a:ea typeface="Calibri" pitchFamily="34" charset="-122"/>
                <a:cs typeface="Calibri" pitchFamily="34" charset="-120"/>
              </a:rPr>
              <a:t>Phát hiện, phân tích hoạt động tương thích với nội dung học</a:t>
            </a:r>
            <a:endParaRPr lang="en-US" sz="1800" dirty="0"/>
          </a:p>
          <a:p>
            <a:pPr algn="l" lvl="1" marL="457200" indent="-228600">
              <a:lnSpc>
                <a:spcPct val="108000"/>
              </a:lnSpc>
              <a:spcAft>
                <a:spcPts val="600"/>
              </a:spcAft>
              <a:buSzPct val="100000"/>
              <a:buChar char="–"/>
            </a:pPr>
            <a:r>
              <a:rPr lang="en-US" sz="1600" dirty="0">
                <a:solidFill>
                  <a:srgbClr val="5B6B79"/>
                </a:solidFill>
                <a:latin typeface="Calibri" pitchFamily="34" charset="0"/>
                <a:ea typeface="Calibri" pitchFamily="34" charset="-122"/>
                <a:cs typeface="Calibri" pitchFamily="34" charset="-120"/>
              </a:rPr>
              <a:t>Thiết kế chuỗi hoạt động học tập theo hướng phân bậc, phát triển năng lực</a:t>
            </a:r>
            <a:endParaRPr lang="en-US" sz="1800" dirty="0"/>
          </a:p>
        </p:txBody>
      </p:sp>
      <p:sp>
        <p:nvSpPr>
          <p:cNvPr id="6" name="Text 4"/>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MỞ ĐẦU</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Mục tiêu của chương (tiếp)</a:t>
            </a:r>
            <a:endParaRPr lang="en-US" sz="30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2000" b="1" dirty="0">
                <a:solidFill>
                  <a:srgbClr val="222B33"/>
                </a:solidFill>
                <a:latin typeface="Calibri" pitchFamily="34" charset="0"/>
                <a:ea typeface="Calibri" pitchFamily="34" charset="-122"/>
                <a:cs typeface="Calibri" pitchFamily="34" charset="-120"/>
              </a:rPr>
              <a:t>Gợi động cơ và phát triển tri thức phương pháp</a:t>
            </a:r>
            <a:endParaRPr lang="en-US" sz="2000" dirty="0"/>
          </a:p>
          <a:p>
            <a:pPr algn="l" lvl="1" marL="457200" indent="-228600">
              <a:lnSpc>
                <a:spcPct val="108000"/>
              </a:lnSpc>
              <a:spcAft>
                <a:spcPts val="600"/>
              </a:spcAft>
              <a:buSzPct val="100000"/>
              <a:buChar char="–"/>
            </a:pPr>
            <a:r>
              <a:rPr lang="en-US" sz="1800" dirty="0">
                <a:solidFill>
                  <a:srgbClr val="5B6B79"/>
                </a:solidFill>
                <a:latin typeface="Calibri" pitchFamily="34" charset="0"/>
                <a:ea typeface="Calibri" pitchFamily="34" charset="-122"/>
                <a:cs typeface="Calibri" pitchFamily="34" charset="-120"/>
              </a:rPr>
              <a:t>Áp dụng các hình thức gợi động cơ mở đầu, trung gian, kết thúc</a:t>
            </a:r>
            <a:endParaRPr lang="en-US" sz="2000" dirty="0"/>
          </a:p>
          <a:p>
            <a:pPr algn="l" lvl="1" marL="457200" indent="-228600">
              <a:lnSpc>
                <a:spcPct val="108000"/>
              </a:lnSpc>
              <a:spcAft>
                <a:spcPts val="600"/>
              </a:spcAft>
              <a:buSzPct val="100000"/>
              <a:buChar char="–"/>
            </a:pPr>
            <a:r>
              <a:rPr lang="en-US" sz="1800" dirty="0">
                <a:solidFill>
                  <a:srgbClr val="5B6B79"/>
                </a:solidFill>
                <a:latin typeface="Calibri" pitchFamily="34" charset="0"/>
                <a:ea typeface="Calibri" pitchFamily="34" charset="-122"/>
                <a:cs typeface="Calibri" pitchFamily="34" charset="-120"/>
              </a:rPr>
              <a:t>Hình thành tri thức phương pháp và năng lực giải quyết vấn đề cho học sinh</a:t>
            </a:r>
            <a:endParaRPr lang="en-US" sz="2000" dirty="0"/>
          </a:p>
          <a:p>
            <a:pPr algn="l" marL="203200" indent="-203200">
              <a:lnSpc>
                <a:spcPct val="108000"/>
              </a:lnSpc>
              <a:spcAft>
                <a:spcPts val="1000"/>
              </a:spcAft>
              <a:buSzPct val="100000"/>
              <a:buChar char="▪"/>
            </a:pPr>
            <a:r>
              <a:rPr lang="en-US" sz="2000" b="1" dirty="0">
                <a:solidFill>
                  <a:srgbClr val="222B33"/>
                </a:solidFill>
                <a:latin typeface="Calibri" pitchFamily="34" charset="0"/>
                <a:ea typeface="Calibri" pitchFamily="34" charset="-122"/>
                <a:cs typeface="Calibri" pitchFamily="34" charset="-120"/>
              </a:rPr>
              <a:t>Đổi mới phương pháp dạy học và tích hợp công nghệ</a:t>
            </a:r>
            <a:endParaRPr lang="en-US" sz="2000" dirty="0"/>
          </a:p>
          <a:p>
            <a:pPr algn="l" lvl="1" marL="457200" indent="-228600">
              <a:lnSpc>
                <a:spcPct val="108000"/>
              </a:lnSpc>
              <a:spcAft>
                <a:spcPts val="600"/>
              </a:spcAft>
              <a:buSzPct val="100000"/>
              <a:buChar char="–"/>
            </a:pPr>
            <a:r>
              <a:rPr lang="en-US" sz="1800" dirty="0">
                <a:solidFill>
                  <a:srgbClr val="5B6B79"/>
                </a:solidFill>
                <a:latin typeface="Calibri" pitchFamily="34" charset="0"/>
                <a:ea typeface="Calibri" pitchFamily="34" charset="-122"/>
                <a:cs typeface="Calibri" pitchFamily="34" charset="-120"/>
              </a:rPr>
              <a:t>Vận dụng mô hình SAMR, lớp học đảo ngược, học tập dự án, blended learning</a:t>
            </a:r>
            <a:endParaRPr lang="en-US" sz="2000" dirty="0"/>
          </a:p>
          <a:p>
            <a:pPr algn="l" lvl="1" marL="457200" indent="-228600">
              <a:lnSpc>
                <a:spcPct val="108000"/>
              </a:lnSpc>
              <a:spcAft>
                <a:spcPts val="600"/>
              </a:spcAft>
              <a:buSzPct val="100000"/>
              <a:buChar char="–"/>
            </a:pPr>
            <a:r>
              <a:rPr lang="en-US" sz="1800" dirty="0">
                <a:solidFill>
                  <a:srgbClr val="5B6B79"/>
                </a:solidFill>
                <a:latin typeface="Calibri" pitchFamily="34" charset="0"/>
                <a:ea typeface="Calibri" pitchFamily="34" charset="-122"/>
                <a:cs typeface="Calibri" pitchFamily="34" charset="-120"/>
              </a:rPr>
              <a:t>Ứng dụng công nghệ số trong tổ chức dạy học Tin học hiệu quả</a:t>
            </a:r>
            <a:endParaRPr lang="en-US" sz="2000" dirty="0"/>
          </a:p>
        </p:txBody>
      </p:sp>
      <p:sp>
        <p:nvSpPr>
          <p:cNvPr id="6" name="Text 4"/>
          <p:cNvSpPr/>
          <p:nvPr/>
        </p:nvSpPr>
        <p:spPr>
          <a:xfrm>
            <a:off x="502920" y="5989320"/>
            <a:ext cx="11155680" cy="411480"/>
          </a:xfrm>
          <a:prstGeom prst="rect">
            <a:avLst/>
          </a:prstGeom>
          <a:noFill/>
          <a:ln/>
        </p:spPr>
        <p:txBody>
          <a:bodyPr wrap="square" rtlCol="0" anchor="ctr"/>
          <a:lstStyle/>
          <a:p>
            <a:pPr indent="0" marL="0">
              <a:buNone/>
            </a:pPr>
            <a:r>
              <a:rPr lang="en-US" sz="1250" b="1" i="1" dirty="0">
                <a:solidFill>
                  <a:srgbClr val="C1571A"/>
                </a:solidFill>
                <a:latin typeface="Calibri" pitchFamily="34" charset="0"/>
                <a:ea typeface="Calibri" pitchFamily="34" charset="-122"/>
                <a:cs typeface="Calibri" pitchFamily="34" charset="-120"/>
              </a:rPr>
              <a:t>Lưu ý sư phạm: Chương này không yêu cầu “thuộc lòng” định nghĩa, mà đòi hỏi khả năng VẬN DỤNG — thước đo cuối cùng là chất lượng sản phẩm thiết kế trong bài tập thực hành.</a:t>
            </a:r>
            <a:endParaRPr lang="en-US" sz="1250" dirty="0"/>
          </a:p>
        </p:txBody>
      </p:sp>
      <p:sp>
        <p:nvSpPr>
          <p:cNvPr id="7" name="Text 5"/>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8" name="Text 6"/>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MỞ ĐẦU</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Nội dung chương</a:t>
            </a:r>
            <a:endParaRPr lang="en-US" sz="30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2000" dirty="0">
                <a:solidFill>
                  <a:srgbClr val="222B33"/>
                </a:solidFill>
                <a:latin typeface="Calibri" pitchFamily="34" charset="0"/>
                <a:ea typeface="Calibri" pitchFamily="34" charset="-122"/>
                <a:cs typeface="Calibri" pitchFamily="34" charset="-120"/>
              </a:rPr>
              <a:t>3.1. Tổng quan về phương pháp dạy học</a:t>
            </a:r>
            <a:endParaRPr lang="en-US" sz="2000" dirty="0"/>
          </a:p>
          <a:p>
            <a:pPr algn="l" lvl="1" marL="457200" indent="-228600">
              <a:lnSpc>
                <a:spcPct val="108000"/>
              </a:lnSpc>
              <a:spcAft>
                <a:spcPts val="600"/>
              </a:spcAft>
              <a:buSzPct val="100000"/>
              <a:buChar char="–"/>
            </a:pPr>
            <a:r>
              <a:rPr lang="en-US" sz="1800" dirty="0">
                <a:solidFill>
                  <a:srgbClr val="5B6B79"/>
                </a:solidFill>
                <a:latin typeface="Calibri" pitchFamily="34" charset="0"/>
                <a:ea typeface="Calibri" pitchFamily="34" charset="-122"/>
                <a:cs typeface="Calibri" pitchFamily="34" charset="-120"/>
              </a:rPr>
              <a:t>Quan điểm – Phương pháp – Kỹ thuật dạy học; phân loại PPDH; dạy học tích cực; tiêu chí lựa chọn; xu hướng đổi mới (SAMR...)</a:t>
            </a:r>
            <a:endParaRPr lang="en-US" sz="2000" dirty="0"/>
          </a:p>
          <a:p>
            <a:pPr algn="l" marL="203200" indent="-203200">
              <a:lnSpc>
                <a:spcPct val="108000"/>
              </a:lnSpc>
              <a:spcAft>
                <a:spcPts val="1000"/>
              </a:spcAft>
              <a:buSzPct val="100000"/>
              <a:buChar char="▪"/>
            </a:pPr>
            <a:r>
              <a:rPr lang="en-US" sz="2000" dirty="0">
                <a:solidFill>
                  <a:srgbClr val="222B33"/>
                </a:solidFill>
                <a:latin typeface="Calibri" pitchFamily="34" charset="0"/>
                <a:ea typeface="Calibri" pitchFamily="34" charset="-122"/>
                <a:cs typeface="Calibri" pitchFamily="34" charset="-120"/>
              </a:rPr>
              <a:t>3.2. Những thành tố cơ sở của phương pháp dạy học</a:t>
            </a:r>
            <a:endParaRPr lang="en-US" sz="2000" dirty="0"/>
          </a:p>
          <a:p>
            <a:pPr algn="l" lvl="1" marL="457200" indent="-228600">
              <a:lnSpc>
                <a:spcPct val="108000"/>
              </a:lnSpc>
              <a:spcAft>
                <a:spcPts val="600"/>
              </a:spcAft>
              <a:buSzPct val="100000"/>
              <a:buChar char="–"/>
            </a:pPr>
            <a:r>
              <a:rPr lang="en-US" sz="1800" dirty="0">
                <a:solidFill>
                  <a:srgbClr val="5B6B79"/>
                </a:solidFill>
                <a:latin typeface="Calibri" pitchFamily="34" charset="0"/>
                <a:ea typeface="Calibri" pitchFamily="34" charset="-122"/>
                <a:cs typeface="Calibri" pitchFamily="34" charset="-120"/>
              </a:rPr>
              <a:t>Hoạt động và hoạt động thành phần; gợi động cơ; tri thức trong hoạt động; phân bậc hoạt động</a:t>
            </a:r>
            <a:endParaRPr lang="en-US" sz="2000" dirty="0"/>
          </a:p>
          <a:p>
            <a:pPr algn="l" marL="203200" indent="-203200">
              <a:lnSpc>
                <a:spcPct val="108000"/>
              </a:lnSpc>
              <a:spcAft>
                <a:spcPts val="1000"/>
              </a:spcAft>
              <a:buSzPct val="100000"/>
              <a:buChar char="▪"/>
            </a:pPr>
            <a:r>
              <a:rPr lang="en-US" sz="2000" dirty="0">
                <a:solidFill>
                  <a:srgbClr val="222B33"/>
                </a:solidFill>
                <a:latin typeface="Calibri" pitchFamily="34" charset="0"/>
                <a:ea typeface="Calibri" pitchFamily="34" charset="-122"/>
                <a:cs typeface="Calibri" pitchFamily="34" charset="-120"/>
              </a:rPr>
              <a:t>3.3. Các phương pháp dạy học cơ bản trong Tin học</a:t>
            </a:r>
            <a:endParaRPr lang="en-US" sz="2000" dirty="0"/>
          </a:p>
          <a:p>
            <a:pPr algn="l" lvl="1" marL="457200" indent="-228600">
              <a:lnSpc>
                <a:spcPct val="108000"/>
              </a:lnSpc>
              <a:spcAft>
                <a:spcPts val="600"/>
              </a:spcAft>
              <a:buSzPct val="100000"/>
              <a:buChar char="–"/>
            </a:pPr>
            <a:r>
              <a:rPr lang="en-US" sz="1800" dirty="0">
                <a:solidFill>
                  <a:srgbClr val="5B6B79"/>
                </a:solidFill>
                <a:latin typeface="Calibri" pitchFamily="34" charset="0"/>
                <a:ea typeface="Calibri" pitchFamily="34" charset="-122"/>
                <a:cs typeface="Calibri" pitchFamily="34" charset="-120"/>
              </a:rPr>
              <a:t>Thuyết trình – giảng giải; vấn đáp – đàm thoại; minh họa – thực hành; luyện tập</a:t>
            </a:r>
            <a:endParaRPr lang="en-US" sz="2000" dirty="0"/>
          </a:p>
          <a:p>
            <a:pPr algn="l" marL="203200" indent="-203200">
              <a:lnSpc>
                <a:spcPct val="108000"/>
              </a:lnSpc>
              <a:spcAft>
                <a:spcPts val="1000"/>
              </a:spcAft>
              <a:buSzPct val="100000"/>
              <a:buChar char="▪"/>
            </a:pPr>
            <a:r>
              <a:rPr lang="en-US" sz="2000" dirty="0">
                <a:solidFill>
                  <a:srgbClr val="222B33"/>
                </a:solidFill>
                <a:latin typeface="Calibri" pitchFamily="34" charset="0"/>
                <a:ea typeface="Calibri" pitchFamily="34" charset="-122"/>
                <a:cs typeface="Calibri" pitchFamily="34" charset="-120"/>
              </a:rPr>
              <a:t>3.4. Các phương pháp dạy học tích cực trong Tin học</a:t>
            </a:r>
            <a:endParaRPr lang="en-US" sz="2000" dirty="0"/>
          </a:p>
          <a:p>
            <a:pPr algn="l" lvl="1" marL="457200" indent="-228600">
              <a:lnSpc>
                <a:spcPct val="108000"/>
              </a:lnSpc>
              <a:spcAft>
                <a:spcPts val="600"/>
              </a:spcAft>
              <a:buSzPct val="100000"/>
              <a:buChar char="–"/>
            </a:pPr>
            <a:r>
              <a:rPr lang="en-US" sz="1800" dirty="0">
                <a:solidFill>
                  <a:srgbClr val="5B6B79"/>
                </a:solidFill>
                <a:latin typeface="Calibri" pitchFamily="34" charset="0"/>
                <a:ea typeface="Calibri" pitchFamily="34" charset="-122"/>
                <a:cs typeface="Calibri" pitchFamily="34" charset="-120"/>
              </a:rPr>
              <a:t>Giải quyết vấn đề (PBL); dạy học dự án (PjBL); dạy học hợp tác; dạy học khám phá &amp; phân hóa</a:t>
            </a:r>
            <a:endParaRPr lang="en-US" sz="2000" dirty="0"/>
          </a:p>
        </p:txBody>
      </p:sp>
      <p:sp>
        <p:nvSpPr>
          <p:cNvPr id="6" name="Text 4"/>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3A5C"/>
        </a:solidFill>
      </p:bgPr>
    </p:bg>
    <p:spTree>
      <p:nvGrpSpPr>
        <p:cNvPr id="1" name=""/>
        <p:cNvGrpSpPr/>
        <p:nvPr/>
      </p:nvGrpSpPr>
      <p:grpSpPr>
        <a:xfrm>
          <a:off x="0" y="0"/>
          <a:ext cx="0" cy="0"/>
          <a:chOff x="0" y="0"/>
          <a:chExt cx="0" cy="0"/>
        </a:xfrm>
      </p:grpSpPr>
      <p:sp>
        <p:nvSpPr>
          <p:cNvPr id="2" name="Text 0"/>
          <p:cNvSpPr/>
          <p:nvPr/>
        </p:nvSpPr>
        <p:spPr>
          <a:xfrm>
            <a:off x="640080" y="2286000"/>
            <a:ext cx="2743200" cy="1463040"/>
          </a:xfrm>
          <a:prstGeom prst="rect">
            <a:avLst/>
          </a:prstGeom>
          <a:noFill/>
          <a:ln/>
        </p:spPr>
        <p:txBody>
          <a:bodyPr wrap="square" rtlCol="0" anchor="ctr"/>
          <a:lstStyle/>
          <a:p>
            <a:pPr algn="l" indent="0" marL="0">
              <a:buNone/>
            </a:pPr>
            <a:r>
              <a:rPr lang="en-US" sz="9000" b="1" dirty="0">
                <a:solidFill>
                  <a:srgbClr val="C1571A"/>
                </a:solidFill>
                <a:latin typeface="Calibri" pitchFamily="34" charset="0"/>
                <a:ea typeface="Calibri" pitchFamily="34" charset="-122"/>
                <a:cs typeface="Calibri" pitchFamily="34" charset="-120"/>
              </a:rPr>
              <a:t>3.1</a:t>
            </a:r>
            <a:endParaRPr lang="en-US" sz="9000" dirty="0"/>
          </a:p>
        </p:txBody>
      </p:sp>
      <p:sp>
        <p:nvSpPr>
          <p:cNvPr id="3" name="Text 1"/>
          <p:cNvSpPr/>
          <p:nvPr/>
        </p:nvSpPr>
        <p:spPr>
          <a:xfrm>
            <a:off x="3566160" y="2331720"/>
            <a:ext cx="8138160" cy="1463040"/>
          </a:xfrm>
          <a:prstGeom prst="rect">
            <a:avLst/>
          </a:prstGeom>
          <a:noFill/>
          <a:ln/>
        </p:spPr>
        <p:txBody>
          <a:bodyPr wrap="square" rtlCol="0" anchor="ctr"/>
          <a:lstStyle/>
          <a:p>
            <a:pPr algn="l" indent="0" marL="0">
              <a:buNone/>
            </a:pPr>
            <a:r>
              <a:rPr lang="en-US" sz="3400" b="1" dirty="0">
                <a:solidFill>
                  <a:srgbClr val="FFFFFF"/>
                </a:solidFill>
                <a:latin typeface="Calibri" pitchFamily="34" charset="0"/>
                <a:ea typeface="Calibri" pitchFamily="34" charset="-122"/>
                <a:cs typeface="Calibri" pitchFamily="34" charset="-120"/>
              </a:rPr>
              <a:t>Tổng quan về phương pháp dạy học</a:t>
            </a:r>
            <a:endParaRPr lang="en-US" sz="3400" dirty="0"/>
          </a:p>
        </p:txBody>
      </p:sp>
      <p:sp>
        <p:nvSpPr>
          <p:cNvPr id="4" name="Text 2"/>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5" name="Text 3"/>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3.1.1</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Quan điểm – Phương pháp – Kỹ thuật dạy học</a:t>
            </a:r>
            <a:endParaRPr lang="en-US" sz="30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800" dirty="0">
                <a:solidFill>
                  <a:srgbClr val="222B33"/>
                </a:solidFill>
                <a:latin typeface="Calibri" pitchFamily="34" charset="0"/>
                <a:ea typeface="Calibri" pitchFamily="34" charset="-122"/>
                <a:cs typeface="Calibri" pitchFamily="34" charset="-120"/>
              </a:rPr>
              <a:t>Quan điểm dạy học (QĐDH): triết lý, tư tưởng chỉ đạo mang tính chiến lược dài hạn.</a:t>
            </a:r>
            <a:endParaRPr lang="en-US" sz="1800" dirty="0"/>
          </a:p>
          <a:p>
            <a:pPr algn="l" lvl="1" marL="457200" indent="-228600">
              <a:lnSpc>
                <a:spcPct val="108000"/>
              </a:lnSpc>
              <a:spcAft>
                <a:spcPts val="600"/>
              </a:spcAft>
              <a:buSzPct val="100000"/>
              <a:buChar char="–"/>
            </a:pPr>
            <a:r>
              <a:rPr lang="en-US" sz="1600" dirty="0">
                <a:solidFill>
                  <a:srgbClr val="5B6B79"/>
                </a:solidFill>
                <a:latin typeface="Calibri" pitchFamily="34" charset="0"/>
                <a:ea typeface="Calibri" pitchFamily="34" charset="-122"/>
                <a:cs typeface="Calibri" pitchFamily="34" charset="-120"/>
              </a:rPr>
              <a:t>Trả lời: “Dạy học để làm gì?” và “Dạy học theo tinh thần nào?”. VD: Dạy học phát triển năng lực; Dạy học lấy người học làm trung tâm.</a:t>
            </a:r>
            <a:endParaRPr lang="en-US" sz="1800" dirty="0"/>
          </a:p>
          <a:p>
            <a:pPr algn="l" marL="203200" indent="-203200">
              <a:lnSpc>
                <a:spcPct val="108000"/>
              </a:lnSpc>
              <a:spcAft>
                <a:spcPts val="1000"/>
              </a:spcAft>
              <a:buSzPct val="100000"/>
              <a:buChar char="▪"/>
            </a:pPr>
            <a:r>
              <a:rPr lang="en-US" sz="1800" dirty="0">
                <a:solidFill>
                  <a:srgbClr val="222B33"/>
                </a:solidFill>
                <a:latin typeface="Calibri" pitchFamily="34" charset="0"/>
                <a:ea typeface="Calibri" pitchFamily="34" charset="-122"/>
                <a:cs typeface="Calibri" pitchFamily="34" charset="-120"/>
              </a:rPr>
              <a:t>Phương pháp dạy học (PPDH): mô hình, con đường, cách thức tổ chức có hệ thống để thực hiện hoạt động dạy và học.</a:t>
            </a:r>
            <a:endParaRPr lang="en-US" sz="1800" dirty="0"/>
          </a:p>
          <a:p>
            <a:pPr algn="l" lvl="1" marL="457200" indent="-228600">
              <a:lnSpc>
                <a:spcPct val="108000"/>
              </a:lnSpc>
              <a:spcAft>
                <a:spcPts val="600"/>
              </a:spcAft>
              <a:buSzPct val="100000"/>
              <a:buChar char="–"/>
            </a:pPr>
            <a:r>
              <a:rPr lang="en-US" sz="1600" dirty="0">
                <a:solidFill>
                  <a:srgbClr val="5B6B79"/>
                </a:solidFill>
                <a:latin typeface="Calibri" pitchFamily="34" charset="0"/>
                <a:ea typeface="Calibri" pitchFamily="34" charset="-122"/>
                <a:cs typeface="Calibri" pitchFamily="34" charset="-120"/>
              </a:rPr>
              <a:t>Trả lời: “Dạy học như thế nào?”. VD: Dạy học dự án; Dạy học hợp tác; Phương pháp đàm thoại.</a:t>
            </a:r>
            <a:endParaRPr lang="en-US" sz="1800" dirty="0"/>
          </a:p>
          <a:p>
            <a:pPr algn="l" marL="203200" indent="-203200">
              <a:lnSpc>
                <a:spcPct val="108000"/>
              </a:lnSpc>
              <a:spcAft>
                <a:spcPts val="1000"/>
              </a:spcAft>
              <a:buSzPct val="100000"/>
              <a:buChar char="▪"/>
            </a:pPr>
            <a:r>
              <a:rPr lang="en-US" sz="1800" dirty="0">
                <a:solidFill>
                  <a:srgbClr val="222B33"/>
                </a:solidFill>
                <a:latin typeface="Calibri" pitchFamily="34" charset="0"/>
                <a:ea typeface="Calibri" pitchFamily="34" charset="-122"/>
                <a:cs typeface="Calibri" pitchFamily="34" charset="-120"/>
              </a:rPr>
              <a:t>Kỹ thuật dạy học (KTDH): thủ thuật, cách làm cụ thể trong một tình huống nhỏ.</a:t>
            </a:r>
            <a:endParaRPr lang="en-US" sz="1800" dirty="0"/>
          </a:p>
          <a:p>
            <a:pPr algn="l" lvl="1" marL="457200" indent="-228600">
              <a:lnSpc>
                <a:spcPct val="108000"/>
              </a:lnSpc>
              <a:spcAft>
                <a:spcPts val="600"/>
              </a:spcAft>
              <a:buSzPct val="100000"/>
              <a:buChar char="–"/>
            </a:pPr>
            <a:r>
              <a:rPr lang="en-US" sz="1600" dirty="0">
                <a:solidFill>
                  <a:srgbClr val="5B6B79"/>
                </a:solidFill>
                <a:latin typeface="Calibri" pitchFamily="34" charset="0"/>
                <a:ea typeface="Calibri" pitchFamily="34" charset="-122"/>
                <a:cs typeface="Calibri" pitchFamily="34" charset="-120"/>
              </a:rPr>
              <a:t>Trả lời: “Làm thế nào để hoạt động đó hiệu quả, sinh động?”. VD: Khăn phủ bàn; Mảnh ghép; Động não.</a:t>
            </a:r>
            <a:endParaRPr lang="en-US" sz="1800" dirty="0"/>
          </a:p>
        </p:txBody>
      </p:sp>
      <p:sp>
        <p:nvSpPr>
          <p:cNvPr id="6" name="Text 4"/>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3.1.1</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So sánh Quan điểm – Phương pháp – Kỹ thuật</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11155680" cy="914400"/>
        </p:xfrm>
        <a:graphic>
          <a:graphicData uri="http://schemas.openxmlformats.org/drawingml/2006/table">
            <a:tbl>
              <a:tblPr/>
              <a:tblGrid>
                <a:gridCol w="2377440"/>
                <a:gridCol w="3200400"/>
                <a:gridCol w="3017520"/>
                <a:gridCol w="2560320"/>
              </a:tblGrid>
              <a:tr h="457200">
                <a:tc>
                  <a:txBody>
                    <a:bodyPr/>
                    <a:lstStyle/>
                    <a:p>
                      <a:pPr algn="l" indent="0" marL="0">
                        <a:buNone/>
                      </a:pPr>
                      <a:r>
                        <a:rPr lang="en-US" sz="1450" b="1" dirty="0">
                          <a:solidFill>
                            <a:srgbClr val="FFFFFF"/>
                          </a:solidFill>
                          <a:latin typeface="Calibri" pitchFamily="34" charset="0"/>
                          <a:ea typeface="Calibri" pitchFamily="34" charset="-122"/>
                          <a:cs typeface="Calibri" pitchFamily="34" charset="-120"/>
                        </a:rPr>
                        <a:t>Tiêu chí</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450" b="1" dirty="0">
                          <a:solidFill>
                            <a:srgbClr val="FFFFFF"/>
                          </a:solidFill>
                          <a:latin typeface="Calibri" pitchFamily="34" charset="0"/>
                          <a:ea typeface="Calibri" pitchFamily="34" charset="-122"/>
                          <a:cs typeface="Calibri" pitchFamily="34" charset="-120"/>
                        </a:rPr>
                        <a:t>QĐDH</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450" b="1" dirty="0">
                          <a:solidFill>
                            <a:srgbClr val="FFFFFF"/>
                          </a:solidFill>
                          <a:latin typeface="Calibri" pitchFamily="34" charset="0"/>
                          <a:ea typeface="Calibri" pitchFamily="34" charset="-122"/>
                          <a:cs typeface="Calibri" pitchFamily="34" charset="-120"/>
                        </a:rPr>
                        <a:t>PPDH</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450" b="1" dirty="0">
                          <a:solidFill>
                            <a:srgbClr val="FFFFFF"/>
                          </a:solidFill>
                          <a:latin typeface="Calibri" pitchFamily="34" charset="0"/>
                          <a:ea typeface="Calibri" pitchFamily="34" charset="-122"/>
                          <a:cs typeface="Calibri" pitchFamily="34" charset="-120"/>
                        </a:rPr>
                        <a:t>KTDH</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1040130">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Bản chất</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Triết lý, tư tưởng chỉ đạo</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Mô hình, cách thức có hệ thống</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Thủ thuật, cách làm nhỏ</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1040130">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Phạm vi &amp; mức độ</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Chiến lược, dài hạn, cả môn học</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Chiến thuật, cho một bài/chủ đề</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Tác nghiệp, một hoạt động nhỏ</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1040130">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Tính ổn định</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Cao, ít thay đổi</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Linh hoạt, có thể phối hợp</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Rất linh hoạt, sáng tạo tức thời</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1040130">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Chức năng chính</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Định hướng &amp; lý thuyết nền</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Tổ chức &amp; thực thi</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Điều chỉnh &amp; hiện thực hóa</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bl>
          </a:graphicData>
        </a:graphic>
      </p:graphicFrame>
      <p:sp>
        <p:nvSpPr>
          <p:cNvPr id="6" name="Text 3"/>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7" name="Text 4"/>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3.1.1</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Mối quan hệ &amp; ví dụ minh họa</a:t>
            </a:r>
            <a:endParaRPr lang="en-US" sz="30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800" b="1" dirty="0">
                <a:solidFill>
                  <a:srgbClr val="222B33"/>
                </a:solidFill>
                <a:latin typeface="Calibri" pitchFamily="34" charset="0"/>
                <a:ea typeface="Calibri" pitchFamily="34" charset="-122"/>
                <a:cs typeface="Calibri" pitchFamily="34" charset="-120"/>
              </a:rPr>
              <a:t>QĐDH (Định hướng) → PPDH (Tổ chức) → KTDH (Thực thi)</a:t>
            </a:r>
            <a:endParaRPr lang="en-US" sz="1800" dirty="0"/>
          </a:p>
          <a:p>
            <a:pPr algn="l" lvl="1" marL="457200" indent="-228600">
              <a:lnSpc>
                <a:spcPct val="108000"/>
              </a:lnSpc>
              <a:spcAft>
                <a:spcPts val="600"/>
              </a:spcAft>
              <a:buSzPct val="100000"/>
              <a:buChar char="–"/>
            </a:pPr>
            <a:r>
              <a:rPr lang="en-US" sz="1600" dirty="0">
                <a:solidFill>
                  <a:srgbClr val="5B6B79"/>
                </a:solidFill>
                <a:latin typeface="Calibri" pitchFamily="34" charset="0"/>
                <a:ea typeface="Calibri" pitchFamily="34" charset="-122"/>
                <a:cs typeface="Calibri" pitchFamily="34" charset="-120"/>
              </a:rPr>
              <a:t>QĐDH chi phối lựa chọn PPDH và KTDH; PPDH hiện thực hóa QĐDH qua các KTDH.</a:t>
            </a:r>
            <a:endParaRPr lang="en-US" sz="1800" dirty="0"/>
          </a:p>
          <a:p>
            <a:pPr algn="l" marL="203200" indent="-203200">
              <a:lnSpc>
                <a:spcPct val="108000"/>
              </a:lnSpc>
              <a:spcAft>
                <a:spcPts val="1000"/>
              </a:spcAft>
              <a:buSzPct val="100000"/>
              <a:buChar char="▪"/>
            </a:pPr>
            <a:r>
              <a:rPr lang="en-US" sz="1800" b="1" dirty="0">
                <a:solidFill>
                  <a:srgbClr val="222B33"/>
                </a:solidFill>
                <a:latin typeface="Calibri" pitchFamily="34" charset="0"/>
                <a:ea typeface="Calibri" pitchFamily="34" charset="-122"/>
                <a:cs typeface="Calibri" pitchFamily="34" charset="-120"/>
              </a:rPr>
              <a:t>Ví dụ — Chủ đề “An toàn thông tin và ứng xử trên mạng xã hội, lớp 9”:</a:t>
            </a:r>
            <a:endParaRPr lang="en-US" sz="1800" dirty="0"/>
          </a:p>
          <a:p>
            <a:pPr algn="l" lvl="1" marL="457200" indent="-228600">
              <a:lnSpc>
                <a:spcPct val="108000"/>
              </a:lnSpc>
              <a:spcAft>
                <a:spcPts val="600"/>
              </a:spcAft>
              <a:buSzPct val="100000"/>
              <a:buChar char="–"/>
            </a:pPr>
            <a:r>
              <a:rPr lang="en-US" sz="1600" dirty="0">
                <a:solidFill>
                  <a:srgbClr val="5B6B79"/>
                </a:solidFill>
                <a:latin typeface="Calibri" pitchFamily="34" charset="0"/>
                <a:ea typeface="Calibri" pitchFamily="34" charset="-122"/>
                <a:cs typeface="Calibri" pitchFamily="34" charset="-120"/>
              </a:rPr>
              <a:t>QĐDH: Dạy học phát triển năng lực, gắn thực tiễn — HS cần có năng lực ứng xử, không chỉ biết quy tắc.</a:t>
            </a:r>
            <a:endParaRPr lang="en-US" sz="1800" dirty="0"/>
          </a:p>
          <a:p>
            <a:pPr algn="l" lvl="1" marL="457200" indent="-228600">
              <a:lnSpc>
                <a:spcPct val="108000"/>
              </a:lnSpc>
              <a:spcAft>
                <a:spcPts val="600"/>
              </a:spcAft>
              <a:buSzPct val="100000"/>
              <a:buChar char="–"/>
            </a:pPr>
            <a:r>
              <a:rPr lang="en-US" sz="1600" dirty="0">
                <a:solidFill>
                  <a:srgbClr val="5B6B79"/>
                </a:solidFill>
                <a:latin typeface="Calibri" pitchFamily="34" charset="0"/>
                <a:ea typeface="Calibri" pitchFamily="34" charset="-122"/>
                <a:cs typeface="Calibri" pitchFamily="34" charset="-120"/>
              </a:rPr>
              <a:t>PPDH: Dạy học tình huống kết hợp dạy học hợp tác — đặt HS vào tình huống có vấn đề giống thật.</a:t>
            </a:r>
            <a:endParaRPr lang="en-US" sz="1800" dirty="0"/>
          </a:p>
          <a:p>
            <a:pPr algn="l" lvl="1" marL="457200" indent="-228600">
              <a:lnSpc>
                <a:spcPct val="108000"/>
              </a:lnSpc>
              <a:spcAft>
                <a:spcPts val="600"/>
              </a:spcAft>
              <a:buSzPct val="100000"/>
              <a:buChar char="–"/>
            </a:pPr>
            <a:r>
              <a:rPr lang="en-US" sz="1600" dirty="0">
                <a:solidFill>
                  <a:srgbClr val="5B6B79"/>
                </a:solidFill>
                <a:latin typeface="Calibri" pitchFamily="34" charset="0"/>
                <a:ea typeface="Calibri" pitchFamily="34" charset="-122"/>
                <a:cs typeface="Calibri" pitchFamily="34" charset="-120"/>
              </a:rPr>
              <a:t>KTDH: Động não (khởi động) → Khăn trải bàn (thảo luận nhóm) → Phòng tranh (trưng bày, phản biện) → Sơ đồ tư duy (tổng kết).</a:t>
            </a:r>
            <a:endParaRPr lang="en-US" sz="1800" dirty="0"/>
          </a:p>
        </p:txBody>
      </p:sp>
      <p:sp>
        <p:nvSpPr>
          <p:cNvPr id="6" name="Text 4"/>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3.1.2</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Khái niệm phương pháp dạy học</a:t>
            </a:r>
            <a:endParaRPr lang="en-US" sz="30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900" dirty="0">
                <a:solidFill>
                  <a:srgbClr val="222B33"/>
                </a:solidFill>
                <a:latin typeface="Calibri" pitchFamily="34" charset="0"/>
                <a:ea typeface="Calibri" pitchFamily="34" charset="-122"/>
                <a:cs typeface="Calibri" pitchFamily="34" charset="-120"/>
              </a:rPr>
              <a:t>“Phương pháp” (Hy Lạp: methodos) = “con đường dẫn đến mục tiêu”.</a:t>
            </a:r>
            <a:endParaRPr lang="en-US" sz="1900" dirty="0"/>
          </a:p>
          <a:p>
            <a:pPr algn="l" marL="203200" indent="-203200">
              <a:lnSpc>
                <a:spcPct val="108000"/>
              </a:lnSpc>
              <a:spcAft>
                <a:spcPts val="1000"/>
              </a:spcAft>
              <a:buSzPct val="100000"/>
              <a:buChar char="▪"/>
            </a:pPr>
            <a:r>
              <a:rPr lang="en-US" sz="1900" b="1" dirty="0">
                <a:solidFill>
                  <a:srgbClr val="222B33"/>
                </a:solidFill>
                <a:latin typeface="Calibri" pitchFamily="34" charset="0"/>
                <a:ea typeface="Calibri" pitchFamily="34" charset="-122"/>
                <a:cs typeface="Calibri" pitchFamily="34" charset="-120"/>
              </a:rPr>
              <a:t>PPDH là hệ thống cách thức hoạt động phối hợp, tương tác có định hướng giữa GV (thiết kế, tổ chức) và HS (chủ động thực hiện) nhằm đạt mục tiêu dạy học.</a:t>
            </a:r>
            <a:endParaRPr lang="en-US" sz="1900" dirty="0"/>
          </a:p>
          <a:p>
            <a:pPr algn="l" marL="203200" indent="-203200">
              <a:lnSpc>
                <a:spcPct val="108000"/>
              </a:lnSpc>
              <a:spcAft>
                <a:spcPts val="1000"/>
              </a:spcAft>
              <a:buSzPct val="100000"/>
              <a:buChar char="▪"/>
            </a:pPr>
            <a:r>
              <a:rPr lang="en-US" sz="1900" dirty="0">
                <a:solidFill>
                  <a:srgbClr val="222B33"/>
                </a:solidFill>
                <a:latin typeface="Calibri" pitchFamily="34" charset="0"/>
                <a:ea typeface="Calibri" pitchFamily="34" charset="-122"/>
                <a:cs typeface="Calibri" pitchFamily="34" charset="-120"/>
              </a:rPr>
              <a:t>Ba thành tố cốt lõi:</a:t>
            </a:r>
            <a:endParaRPr lang="en-US" sz="1900" dirty="0"/>
          </a:p>
          <a:p>
            <a:pPr algn="l" lvl="1" marL="457200" indent="-228600">
              <a:lnSpc>
                <a:spcPct val="108000"/>
              </a:lnSpc>
              <a:spcAft>
                <a:spcPts val="600"/>
              </a:spcAft>
              <a:buSzPct val="100000"/>
              <a:buChar char="–"/>
            </a:pPr>
            <a:r>
              <a:rPr lang="en-US" sz="1700" dirty="0">
                <a:solidFill>
                  <a:srgbClr val="5B6B79"/>
                </a:solidFill>
                <a:latin typeface="Calibri" pitchFamily="34" charset="0"/>
                <a:ea typeface="Calibri" pitchFamily="34" charset="-122"/>
                <a:cs typeface="Calibri" pitchFamily="34" charset="-120"/>
              </a:rPr>
              <a:t>Tính song phương &amp; tương tác: gồm cả hoạt động dạy và hoạt động học, tác động qua lại.</a:t>
            </a:r>
            <a:endParaRPr lang="en-US" sz="1900" dirty="0"/>
          </a:p>
          <a:p>
            <a:pPr algn="l" lvl="1" marL="457200" indent="-228600">
              <a:lnSpc>
                <a:spcPct val="108000"/>
              </a:lnSpc>
              <a:spcAft>
                <a:spcPts val="600"/>
              </a:spcAft>
              <a:buSzPct val="100000"/>
              <a:buChar char="–"/>
            </a:pPr>
            <a:r>
              <a:rPr lang="en-US" sz="1700" dirty="0">
                <a:solidFill>
                  <a:srgbClr val="5B6B79"/>
                </a:solidFill>
                <a:latin typeface="Calibri" pitchFamily="34" charset="0"/>
                <a:ea typeface="Calibri" pitchFamily="34" charset="-122"/>
                <a:cs typeface="Calibri" pitchFamily="34" charset="-120"/>
              </a:rPr>
              <a:t>Tính có mục đích: luôn gắn với mục tiêu cụ thể — cùng nội dung nhưng mục tiêu khác thì PP khác.</a:t>
            </a:r>
            <a:endParaRPr lang="en-US" sz="1900" dirty="0"/>
          </a:p>
          <a:p>
            <a:pPr algn="l" lvl="1" marL="457200" indent="-228600">
              <a:lnSpc>
                <a:spcPct val="108000"/>
              </a:lnSpc>
              <a:spcAft>
                <a:spcPts val="600"/>
              </a:spcAft>
              <a:buSzPct val="100000"/>
              <a:buChar char="–"/>
            </a:pPr>
            <a:r>
              <a:rPr lang="en-US" sz="1700" dirty="0">
                <a:solidFill>
                  <a:srgbClr val="5B6B79"/>
                </a:solidFill>
                <a:latin typeface="Calibri" pitchFamily="34" charset="0"/>
                <a:ea typeface="Calibri" pitchFamily="34" charset="-122"/>
                <a:cs typeface="Calibri" pitchFamily="34" charset="-120"/>
              </a:rPr>
              <a:t>Tính bối cảnh: không có PPDH tối ưu tuyệt đối — hiệu quả phụ thuộc HS, nội dung, điều kiện, GV.</a:t>
            </a:r>
            <a:endParaRPr lang="en-US" sz="1900" dirty="0"/>
          </a:p>
        </p:txBody>
      </p:sp>
      <p:sp>
        <p:nvSpPr>
          <p:cNvPr id="6" name="Text 4"/>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3.1.2</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Cấu trúc của phương pháp dạy học</a:t>
            </a:r>
            <a:endParaRPr lang="en-US" sz="30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2000" dirty="0">
                <a:solidFill>
                  <a:srgbClr val="222B33"/>
                </a:solidFill>
                <a:latin typeface="Calibri" pitchFamily="34" charset="0"/>
                <a:ea typeface="Calibri" pitchFamily="34" charset="-122"/>
                <a:cs typeface="Calibri" pitchFamily="34" charset="-120"/>
              </a:rPr>
              <a:t>Mặt bên ngoài (hình thức): hình thức tổ chức, phương tiện, không gian học tập.</a:t>
            </a:r>
            <a:endParaRPr lang="en-US" sz="2000" dirty="0"/>
          </a:p>
          <a:p>
            <a:pPr algn="l" lvl="1" marL="457200" indent="-228600">
              <a:lnSpc>
                <a:spcPct val="108000"/>
              </a:lnSpc>
              <a:spcAft>
                <a:spcPts val="600"/>
              </a:spcAft>
              <a:buSzPct val="100000"/>
              <a:buChar char="–"/>
            </a:pPr>
            <a:r>
              <a:rPr lang="en-US" sz="1800" dirty="0">
                <a:solidFill>
                  <a:srgbClr val="5B6B79"/>
                </a:solidFill>
                <a:latin typeface="Calibri" pitchFamily="34" charset="0"/>
                <a:ea typeface="Calibri" pitchFamily="34" charset="-122"/>
                <a:cs typeface="Calibri" pitchFamily="34" charset="-120"/>
              </a:rPr>
              <a:t>Câu hỏi: “Trông như thế nào?”</a:t>
            </a:r>
            <a:endParaRPr lang="en-US" sz="2000" dirty="0"/>
          </a:p>
          <a:p>
            <a:pPr algn="l" marL="203200" indent="-203200">
              <a:lnSpc>
                <a:spcPct val="108000"/>
              </a:lnSpc>
              <a:spcAft>
                <a:spcPts val="1000"/>
              </a:spcAft>
              <a:buSzPct val="100000"/>
              <a:buChar char="▪"/>
            </a:pPr>
            <a:r>
              <a:rPr lang="en-US" sz="2000" dirty="0">
                <a:solidFill>
                  <a:srgbClr val="222B33"/>
                </a:solidFill>
                <a:latin typeface="Calibri" pitchFamily="34" charset="0"/>
                <a:ea typeface="Calibri" pitchFamily="34" charset="-122"/>
                <a:cs typeface="Calibri" pitchFamily="34" charset="-120"/>
              </a:rPr>
              <a:t>Mặt bên trong (logic nhận thức): trình tự các bước, mức độ tư duy yêu cầu.</a:t>
            </a:r>
            <a:endParaRPr lang="en-US" sz="2000" dirty="0"/>
          </a:p>
          <a:p>
            <a:pPr algn="l" lvl="1" marL="457200" indent="-228600">
              <a:lnSpc>
                <a:spcPct val="108000"/>
              </a:lnSpc>
              <a:spcAft>
                <a:spcPts val="600"/>
              </a:spcAft>
              <a:buSzPct val="100000"/>
              <a:buChar char="–"/>
            </a:pPr>
            <a:r>
              <a:rPr lang="en-US" sz="1800" dirty="0">
                <a:solidFill>
                  <a:srgbClr val="5B6B79"/>
                </a:solidFill>
                <a:latin typeface="Calibri" pitchFamily="34" charset="0"/>
                <a:ea typeface="Calibri" pitchFamily="34" charset="-122"/>
                <a:cs typeface="Calibri" pitchFamily="34" charset="-120"/>
              </a:rPr>
              <a:t>Câu hỏi: “Diễn ra như thế nào?”</a:t>
            </a:r>
            <a:endParaRPr lang="en-US" sz="2000" dirty="0"/>
          </a:p>
          <a:p>
            <a:pPr algn="l" marL="203200" indent="-203200">
              <a:lnSpc>
                <a:spcPct val="108000"/>
              </a:lnSpc>
              <a:spcAft>
                <a:spcPts val="1000"/>
              </a:spcAft>
              <a:buSzPct val="100000"/>
              <a:buChar char="▪"/>
            </a:pPr>
            <a:r>
              <a:rPr lang="en-US" sz="2000" dirty="0">
                <a:solidFill>
                  <a:srgbClr val="222B33"/>
                </a:solidFill>
                <a:latin typeface="Calibri" pitchFamily="34" charset="0"/>
                <a:ea typeface="Calibri" pitchFamily="34" charset="-122"/>
                <a:cs typeface="Calibri" pitchFamily="34" charset="-120"/>
              </a:rPr>
              <a:t>Mặt động lực (gợi động cơ): cách tạo nhu cầu, hứng thú, ý thức trách nhiệm.</a:t>
            </a:r>
            <a:endParaRPr lang="en-US" sz="2000" dirty="0"/>
          </a:p>
          <a:p>
            <a:pPr algn="l" lvl="1" marL="457200" indent="-228600">
              <a:lnSpc>
                <a:spcPct val="108000"/>
              </a:lnSpc>
              <a:spcAft>
                <a:spcPts val="600"/>
              </a:spcAft>
              <a:buSzPct val="100000"/>
              <a:buChar char="–"/>
            </a:pPr>
            <a:r>
              <a:rPr lang="en-US" sz="1800" dirty="0">
                <a:solidFill>
                  <a:srgbClr val="5B6B79"/>
                </a:solidFill>
                <a:latin typeface="Calibri" pitchFamily="34" charset="0"/>
                <a:ea typeface="Calibri" pitchFamily="34" charset="-122"/>
                <a:cs typeface="Calibri" pitchFamily="34" charset="-120"/>
              </a:rPr>
              <a:t>Câu hỏi: “Vì sao HS muốn tham gia?”</a:t>
            </a:r>
            <a:endParaRPr lang="en-US" sz="2000" dirty="0"/>
          </a:p>
        </p:txBody>
      </p:sp>
      <p:sp>
        <p:nvSpPr>
          <p:cNvPr id="6" name="Text 4"/>
          <p:cNvSpPr/>
          <p:nvPr/>
        </p:nvSpPr>
        <p:spPr>
          <a:xfrm>
            <a:off x="502920" y="5989320"/>
            <a:ext cx="11155680" cy="411480"/>
          </a:xfrm>
          <a:prstGeom prst="rect">
            <a:avLst/>
          </a:prstGeom>
          <a:noFill/>
          <a:ln/>
        </p:spPr>
        <p:txBody>
          <a:bodyPr wrap="square" rtlCol="0" anchor="ctr"/>
          <a:lstStyle/>
          <a:p>
            <a:pPr indent="0" marL="0">
              <a:buNone/>
            </a:pPr>
            <a:r>
              <a:rPr lang="en-US" sz="1250" b="1" i="1" dirty="0">
                <a:solidFill>
                  <a:srgbClr val="C1571A"/>
                </a:solidFill>
                <a:latin typeface="Calibri" pitchFamily="34" charset="0"/>
                <a:ea typeface="Calibri" pitchFamily="34" charset="-122"/>
                <a:cs typeface="Calibri" pitchFamily="34" charset="-120"/>
              </a:rPr>
              <a:t>Sai lầm phổ biến: GV mới chỉ chú ý mặt bên ngoài (nhóm, Kahoot, slide đẹp) mà bỏ qua mặt logic nhận thức và mặt động lực.</a:t>
            </a:r>
            <a:endParaRPr lang="en-US" sz="1250" dirty="0"/>
          </a:p>
        </p:txBody>
      </p:sp>
      <p:sp>
        <p:nvSpPr>
          <p:cNvPr id="7" name="Text 5"/>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8" name="Text 6"/>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3.1.2</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Phân loại theo nguồn tri thức</a:t>
            </a:r>
            <a:endParaRPr lang="en-US" sz="30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900" b="1" dirty="0">
                <a:solidFill>
                  <a:srgbClr val="222B33"/>
                </a:solidFill>
                <a:latin typeface="Calibri" pitchFamily="34" charset="0"/>
                <a:ea typeface="Calibri" pitchFamily="34" charset="-122"/>
                <a:cs typeface="Calibri" pitchFamily="34" charset="-120"/>
              </a:rPr>
              <a:t>Phương pháp ngôn ngữ (truyền miệng): thuyết trình, giảng giải, đàm thoại, kể chuyện.</a:t>
            </a:r>
            <a:endParaRPr lang="en-US" sz="1900" dirty="0"/>
          </a:p>
          <a:p>
            <a:pPr algn="l" lvl="1" marL="457200" indent="-228600">
              <a:lnSpc>
                <a:spcPct val="108000"/>
              </a:lnSpc>
              <a:spcAft>
                <a:spcPts val="600"/>
              </a:spcAft>
              <a:buSzPct val="100000"/>
              <a:buChar char="–"/>
            </a:pPr>
            <a:r>
              <a:rPr lang="en-US" sz="1700" dirty="0">
                <a:solidFill>
                  <a:srgbClr val="5B6B79"/>
                </a:solidFill>
                <a:latin typeface="Calibri" pitchFamily="34" charset="0"/>
                <a:ea typeface="Calibri" pitchFamily="34" charset="-122"/>
                <a:cs typeface="Calibri" pitchFamily="34" charset="-120"/>
              </a:rPr>
              <a:t>Truyền đạt nhanh, phù hợp nội dung trừu tượng, nhưng dễ thụ động nếu thiết kế kém.</a:t>
            </a:r>
            <a:endParaRPr lang="en-US" sz="1900" dirty="0"/>
          </a:p>
          <a:p>
            <a:pPr algn="l" marL="203200" indent="-203200">
              <a:lnSpc>
                <a:spcPct val="108000"/>
              </a:lnSpc>
              <a:spcAft>
                <a:spcPts val="1000"/>
              </a:spcAft>
              <a:buSzPct val="100000"/>
              <a:buChar char="▪"/>
            </a:pPr>
            <a:r>
              <a:rPr lang="en-US" sz="1900" b="1" dirty="0">
                <a:solidFill>
                  <a:srgbClr val="222B33"/>
                </a:solidFill>
                <a:latin typeface="Calibri" pitchFamily="34" charset="0"/>
                <a:ea typeface="Calibri" pitchFamily="34" charset="-122"/>
                <a:cs typeface="Calibri" pitchFamily="34" charset="-120"/>
              </a:rPr>
              <a:t>Phương pháp trực quan: sơ đồ, video, mô phỏng, minh họa trực tiếp trên máy tính.</a:t>
            </a:r>
            <a:endParaRPr lang="en-US" sz="1900" dirty="0"/>
          </a:p>
          <a:p>
            <a:pPr algn="l" lvl="1" marL="457200" indent="-228600">
              <a:lnSpc>
                <a:spcPct val="108000"/>
              </a:lnSpc>
              <a:spcAft>
                <a:spcPts val="600"/>
              </a:spcAft>
              <a:buSzPct val="100000"/>
              <a:buChar char="–"/>
            </a:pPr>
            <a:r>
              <a:rPr lang="en-US" sz="1700" dirty="0">
                <a:solidFill>
                  <a:srgbClr val="5B6B79"/>
                </a:solidFill>
                <a:latin typeface="Calibri" pitchFamily="34" charset="0"/>
                <a:ea typeface="Calibri" pitchFamily="34" charset="-122"/>
                <a:cs typeface="Calibri" pitchFamily="34" charset="-120"/>
              </a:rPr>
              <a:t>Thiết yếu khi dạy luồng dữ liệu, cấu trúc mạng, giao diện phần mềm.</a:t>
            </a:r>
            <a:endParaRPr lang="en-US" sz="1900" dirty="0"/>
          </a:p>
          <a:p>
            <a:pPr algn="l" marL="203200" indent="-203200">
              <a:lnSpc>
                <a:spcPct val="108000"/>
              </a:lnSpc>
              <a:spcAft>
                <a:spcPts val="1000"/>
              </a:spcAft>
              <a:buSzPct val="100000"/>
              <a:buChar char="▪"/>
            </a:pPr>
            <a:r>
              <a:rPr lang="en-US" sz="1900" b="1" dirty="0">
                <a:solidFill>
                  <a:srgbClr val="222B33"/>
                </a:solidFill>
                <a:latin typeface="Calibri" pitchFamily="34" charset="0"/>
                <a:ea typeface="Calibri" pitchFamily="34" charset="-122"/>
                <a:cs typeface="Calibri" pitchFamily="34" charset="-120"/>
              </a:rPr>
              <a:t>Phương pháp thực hành: luyện tập, thực hiện dự án, tạo sản phẩm số.</a:t>
            </a:r>
            <a:endParaRPr lang="en-US" sz="1900" dirty="0"/>
          </a:p>
          <a:p>
            <a:pPr algn="l" lvl="1" marL="457200" indent="-228600">
              <a:lnSpc>
                <a:spcPct val="108000"/>
              </a:lnSpc>
              <a:spcAft>
                <a:spcPts val="600"/>
              </a:spcAft>
              <a:buSzPct val="100000"/>
              <a:buChar char="–"/>
            </a:pPr>
            <a:r>
              <a:rPr lang="en-US" sz="1700" dirty="0">
                <a:solidFill>
                  <a:srgbClr val="5B6B79"/>
                </a:solidFill>
                <a:latin typeface="Calibri" pitchFamily="34" charset="0"/>
                <a:ea typeface="Calibri" pitchFamily="34" charset="-122"/>
                <a:cs typeface="Calibri" pitchFamily="34" charset="-120"/>
              </a:rPr>
              <a:t>Giữ vai trò TRUNG TÂM trong Tin học — không thể học lập trình mà không viết code.</a:t>
            </a:r>
            <a:endParaRPr lang="en-US" sz="1900" dirty="0"/>
          </a:p>
        </p:txBody>
      </p:sp>
      <p:sp>
        <p:nvSpPr>
          <p:cNvPr id="6" name="Text 4"/>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3.1.2</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Phân loại theo mức độ tích cực nhận thức (Lerner, 1981)</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11155680" cy="914400"/>
        </p:xfrm>
        <a:graphic>
          <a:graphicData uri="http://schemas.openxmlformats.org/drawingml/2006/table">
            <a:tbl>
              <a:tblPr/>
              <a:tblGrid>
                <a:gridCol w="731520"/>
                <a:gridCol w="2468880"/>
                <a:gridCol w="3931920"/>
                <a:gridCol w="4023360"/>
              </a:tblGrid>
              <a:tr h="457200">
                <a:tc>
                  <a:txBody>
                    <a:bodyPr/>
                    <a:lstStyle/>
                    <a:p>
                      <a:pPr algn="l" indent="0" marL="0">
                        <a:buNone/>
                      </a:pPr>
                      <a:r>
                        <a:rPr lang="en-US" sz="1450" b="1" dirty="0">
                          <a:solidFill>
                            <a:srgbClr val="FFFFFF"/>
                          </a:solidFill>
                          <a:latin typeface="Calibri" pitchFamily="34" charset="0"/>
                          <a:ea typeface="Calibri" pitchFamily="34" charset="-122"/>
                          <a:cs typeface="Calibri" pitchFamily="34" charset="-120"/>
                        </a:rPr>
                        <a:t>Mức</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450" b="1" dirty="0">
                          <a:solidFill>
                            <a:srgbClr val="FFFFFF"/>
                          </a:solidFill>
                          <a:latin typeface="Calibri" pitchFamily="34" charset="0"/>
                          <a:ea typeface="Calibri" pitchFamily="34" charset="-122"/>
                          <a:cs typeface="Calibri" pitchFamily="34" charset="-120"/>
                        </a:rPr>
                        <a:t>Phương pháp</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450" b="1" dirty="0">
                          <a:solidFill>
                            <a:srgbClr val="FFFFFF"/>
                          </a:solidFill>
                          <a:latin typeface="Calibri" pitchFamily="34" charset="0"/>
                          <a:ea typeface="Calibri" pitchFamily="34" charset="-122"/>
                          <a:cs typeface="Calibri" pitchFamily="34" charset="-120"/>
                        </a:rPr>
                        <a:t>Đặc trưng</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450" b="1" dirty="0">
                          <a:solidFill>
                            <a:srgbClr val="FFFFFF"/>
                          </a:solidFill>
                          <a:latin typeface="Calibri" pitchFamily="34" charset="0"/>
                          <a:ea typeface="Calibri" pitchFamily="34" charset="-122"/>
                          <a:cs typeface="Calibri" pitchFamily="34" charset="-120"/>
                        </a:rPr>
                        <a:t>Ví dụ trong Tin học</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777240">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1</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Thông báo – tiếp thu</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GV truyền đạt, HS tiếp nhận</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Giảng giải khái niệm biến, kiểu dữ liệu</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777240">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2</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Làm mẫu – tái tạo</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GV làm mẫu, HS lặp lại</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GV code mẫu, HS viết lại theo</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777240">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3</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Tìm tòi từng phần</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GV gợi mở, HS tự giải quyết từng bước</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HS tìm lỗi trong đoạn code cho sẵn</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777240">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4</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Khuyến khích tham gia</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HS đề xuất hướng giải quyết</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HS cùng thiết kế thuật toán với GV</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777240">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5</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Kiến tạo – nghiên cứu</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HS tự phát hiện vấn đề, đề xuất giải pháp</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HS tự xây dựng ứng dụng giải bài toán thực</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bl>
          </a:graphicData>
        </a:graphic>
      </p:graphicFrame>
      <p:sp>
        <p:nvSpPr>
          <p:cNvPr id="6" name="Text 3"/>
          <p:cNvSpPr/>
          <p:nvPr/>
        </p:nvSpPr>
        <p:spPr>
          <a:xfrm>
            <a:off x="502920" y="6291072"/>
            <a:ext cx="11155680" cy="365760"/>
          </a:xfrm>
          <a:prstGeom prst="rect">
            <a:avLst/>
          </a:prstGeom>
          <a:noFill/>
          <a:ln/>
        </p:spPr>
        <p:txBody>
          <a:bodyPr wrap="square" rtlCol="0" anchor="ctr"/>
          <a:lstStyle/>
          <a:p>
            <a:pPr indent="0" marL="0">
              <a:buNone/>
            </a:pPr>
            <a:r>
              <a:rPr lang="en-US" sz="1200" i="1" dirty="0">
                <a:solidFill>
                  <a:srgbClr val="5B6B79"/>
                </a:solidFill>
                <a:latin typeface="Calibri" pitchFamily="34" charset="0"/>
                <a:ea typeface="Calibri" pitchFamily="34" charset="-122"/>
                <a:cs typeface="Calibri" pitchFamily="34" charset="-120"/>
              </a:rPr>
              <a:t>Xu hướng dịch chuyển lên mức 3–5 là tất yếu theo GDPT 2018, nhưng mức 1–2 vẫn cần thiết khi HS tiếp cận khái niệm hoàn toàn mới.</a:t>
            </a:r>
            <a:endParaRPr lang="en-US" sz="1200" dirty="0"/>
          </a:p>
        </p:txBody>
      </p:sp>
      <p:sp>
        <p:nvSpPr>
          <p:cNvPr id="7" name="Text 4"/>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8"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3.1.2</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Phân loại theo hình thức tổ chức</a:t>
            </a:r>
            <a:endParaRPr lang="en-US" sz="30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2000" dirty="0">
                <a:solidFill>
                  <a:srgbClr val="222B33"/>
                </a:solidFill>
                <a:latin typeface="Calibri" pitchFamily="34" charset="0"/>
                <a:ea typeface="Calibri" pitchFamily="34" charset="-122"/>
                <a:cs typeface="Calibri" pitchFamily="34" charset="-120"/>
              </a:rPr>
              <a:t>Dạy học cá nhân: phù hợp luyện kỹ năng lập trình, rèn tư duy thuật toán.</a:t>
            </a:r>
            <a:endParaRPr lang="en-US" sz="2000" dirty="0"/>
          </a:p>
          <a:p>
            <a:pPr algn="l" marL="203200" indent="-203200">
              <a:lnSpc>
                <a:spcPct val="108000"/>
              </a:lnSpc>
              <a:spcAft>
                <a:spcPts val="1000"/>
              </a:spcAft>
              <a:buSzPct val="100000"/>
              <a:buChar char="▪"/>
            </a:pPr>
            <a:r>
              <a:rPr lang="en-US" sz="2000" dirty="0">
                <a:solidFill>
                  <a:srgbClr val="222B33"/>
                </a:solidFill>
                <a:latin typeface="Calibri" pitchFamily="34" charset="0"/>
                <a:ea typeface="Calibri" pitchFamily="34" charset="-122"/>
                <a:cs typeface="Calibri" pitchFamily="34" charset="-120"/>
              </a:rPr>
              <a:t>Dạy học theo cặp (pair programming): một người viết code, một người quan sát – phản biện.</a:t>
            </a:r>
            <a:endParaRPr lang="en-US" sz="2000" dirty="0"/>
          </a:p>
          <a:p>
            <a:pPr algn="l" marL="203200" indent="-203200">
              <a:lnSpc>
                <a:spcPct val="108000"/>
              </a:lnSpc>
              <a:spcAft>
                <a:spcPts val="1000"/>
              </a:spcAft>
              <a:buSzPct val="100000"/>
              <a:buChar char="▪"/>
            </a:pPr>
            <a:r>
              <a:rPr lang="en-US" sz="2000" dirty="0">
                <a:solidFill>
                  <a:srgbClr val="222B33"/>
                </a:solidFill>
                <a:latin typeface="Calibri" pitchFamily="34" charset="0"/>
                <a:ea typeface="Calibri" pitchFamily="34" charset="-122"/>
                <a:cs typeface="Calibri" pitchFamily="34" charset="-120"/>
              </a:rPr>
              <a:t>Dạy học nhóm nhỏ: thích hợp cho dự án, thảo luận, phân tích tình huống.</a:t>
            </a:r>
            <a:endParaRPr lang="en-US" sz="2000" dirty="0"/>
          </a:p>
          <a:p>
            <a:pPr algn="l" marL="203200" indent="-203200">
              <a:lnSpc>
                <a:spcPct val="108000"/>
              </a:lnSpc>
              <a:spcAft>
                <a:spcPts val="1000"/>
              </a:spcAft>
              <a:buSzPct val="100000"/>
              <a:buChar char="▪"/>
            </a:pPr>
            <a:r>
              <a:rPr lang="en-US" sz="2000" dirty="0">
                <a:solidFill>
                  <a:srgbClr val="222B33"/>
                </a:solidFill>
                <a:latin typeface="Calibri" pitchFamily="34" charset="0"/>
                <a:ea typeface="Calibri" pitchFamily="34" charset="-122"/>
                <a:cs typeface="Calibri" pitchFamily="34" charset="-120"/>
              </a:rPr>
              <a:t>Dạy học cả lớp: hiệu quả khi giới thiệu khái niệm mới, tổng kết, đánh giá.</a:t>
            </a:r>
            <a:endParaRPr lang="en-US" sz="2000" dirty="0"/>
          </a:p>
        </p:txBody>
      </p:sp>
      <p:sp>
        <p:nvSpPr>
          <p:cNvPr id="6" name="Text 4"/>
          <p:cNvSpPr/>
          <p:nvPr/>
        </p:nvSpPr>
        <p:spPr>
          <a:xfrm>
            <a:off x="502920" y="5989320"/>
            <a:ext cx="11155680" cy="411480"/>
          </a:xfrm>
          <a:prstGeom prst="rect">
            <a:avLst/>
          </a:prstGeom>
          <a:noFill/>
          <a:ln/>
        </p:spPr>
        <p:txBody>
          <a:bodyPr wrap="square" rtlCol="0" anchor="ctr"/>
          <a:lstStyle/>
          <a:p>
            <a:pPr indent="0" marL="0">
              <a:buNone/>
            </a:pPr>
            <a:r>
              <a:rPr lang="en-US" sz="1250" b="1" i="1" dirty="0">
                <a:solidFill>
                  <a:srgbClr val="C1571A"/>
                </a:solidFill>
                <a:latin typeface="Calibri" pitchFamily="34" charset="0"/>
                <a:ea typeface="Calibri" pitchFamily="34" charset="-122"/>
                <a:cs typeface="Calibri" pitchFamily="34" charset="-120"/>
              </a:rPr>
              <a:t>Trong thực tiễn, các hình thức thường kết hợp linh hoạt trong một tiết: giới thiệu cả lớp → thực hành cá nhân → thảo luận nhóm → tổng kết cả lớp.</a:t>
            </a:r>
            <a:endParaRPr lang="en-US" sz="1250" dirty="0"/>
          </a:p>
        </p:txBody>
      </p:sp>
      <p:sp>
        <p:nvSpPr>
          <p:cNvPr id="7" name="Text 5"/>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8" name="Text 6"/>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3.1.3</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Bản chất của dạy học tích cực</a:t>
            </a:r>
            <a:endParaRPr lang="en-US" sz="30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900" b="1" dirty="0">
                <a:solidFill>
                  <a:srgbClr val="222B33"/>
                </a:solidFill>
                <a:latin typeface="Calibri" pitchFamily="34" charset="0"/>
                <a:ea typeface="Calibri" pitchFamily="34" charset="-122"/>
                <a:cs typeface="Calibri" pitchFamily="34" charset="-120"/>
              </a:rPr>
              <a:t>Dạy học tích cực không phải tên một phương pháp cụ thể mà là ĐỊNH HƯỚNG TRIẾT HỌC — lấy người học làm trung tâm, HS chủ động kiến tạo tri thức.</a:t>
            </a:r>
            <a:endParaRPr lang="en-US" sz="1900" dirty="0"/>
          </a:p>
          <a:p>
            <a:pPr algn="l" marL="203200" indent="-203200">
              <a:lnSpc>
                <a:spcPct val="108000"/>
              </a:lnSpc>
              <a:spcAft>
                <a:spcPts val="1000"/>
              </a:spcAft>
              <a:buSzPct val="100000"/>
              <a:buChar char="▪"/>
            </a:pPr>
            <a:r>
              <a:rPr lang="en-US" sz="1900" dirty="0">
                <a:solidFill>
                  <a:srgbClr val="222B33"/>
                </a:solidFill>
                <a:latin typeface="Calibri" pitchFamily="34" charset="0"/>
                <a:ea typeface="Calibri" pitchFamily="34" charset="-122"/>
                <a:cs typeface="Calibri" pitchFamily="34" charset="-120"/>
              </a:rPr>
              <a:t>Tích cực bề ngoài (hành vi): ngồi nhóm, dùng phần mềm, trình bày, giơ tay — chưa đủ để kết luận.</a:t>
            </a:r>
            <a:endParaRPr lang="en-US" sz="1900" dirty="0"/>
          </a:p>
          <a:p>
            <a:pPr algn="l" marL="203200" indent="-203200">
              <a:lnSpc>
                <a:spcPct val="108000"/>
              </a:lnSpc>
              <a:spcAft>
                <a:spcPts val="1000"/>
              </a:spcAft>
              <a:buSzPct val="100000"/>
              <a:buChar char="▪"/>
            </a:pPr>
            <a:r>
              <a:rPr lang="en-US" sz="1900" dirty="0">
                <a:solidFill>
                  <a:srgbClr val="222B33"/>
                </a:solidFill>
                <a:latin typeface="Calibri" pitchFamily="34" charset="0"/>
                <a:ea typeface="Calibri" pitchFamily="34" charset="-122"/>
                <a:cs typeface="Calibri" pitchFamily="34" charset="-120"/>
              </a:rPr>
              <a:t>Tích cực thực chất (nhận thức): thực sự phân tích, so sánh, đánh giá, tổng hợp, đề xuất.</a:t>
            </a:r>
            <a:endParaRPr lang="en-US" sz="1900" dirty="0"/>
          </a:p>
          <a:p>
            <a:pPr algn="l" marL="203200" indent="-203200">
              <a:lnSpc>
                <a:spcPct val="108000"/>
              </a:lnSpc>
              <a:spcAft>
                <a:spcPts val="1000"/>
              </a:spcAft>
              <a:buSzPct val="100000"/>
              <a:buChar char="▪"/>
            </a:pPr>
            <a:r>
              <a:rPr lang="en-US" sz="1900" b="1" i="1" dirty="0">
                <a:solidFill>
                  <a:srgbClr val="222B33"/>
                </a:solidFill>
                <a:latin typeface="Calibri" pitchFamily="34" charset="0"/>
                <a:ea typeface="Calibri" pitchFamily="34" charset="-122"/>
                <a:cs typeface="Calibri" pitchFamily="34" charset="-120"/>
              </a:rPr>
              <a:t>Tiêu chí cốt lõi: Học sinh có đang tư duy và làm việc thực sự không, hay chỉ thao tác quen thuộc một cách cơ học?</a:t>
            </a:r>
            <a:endParaRPr lang="en-US" sz="1900" dirty="0"/>
          </a:p>
        </p:txBody>
      </p:sp>
      <p:sp>
        <p:nvSpPr>
          <p:cNvPr id="6" name="Text 4"/>
          <p:cNvSpPr/>
          <p:nvPr/>
        </p:nvSpPr>
        <p:spPr>
          <a:xfrm>
            <a:off x="502920" y="5989320"/>
            <a:ext cx="11155680" cy="411480"/>
          </a:xfrm>
          <a:prstGeom prst="rect">
            <a:avLst/>
          </a:prstGeom>
          <a:noFill/>
          <a:ln/>
        </p:spPr>
        <p:txBody>
          <a:bodyPr wrap="square" rtlCol="0" anchor="ctr"/>
          <a:lstStyle/>
          <a:p>
            <a:pPr indent="0" marL="0">
              <a:buNone/>
            </a:pPr>
            <a:r>
              <a:rPr lang="en-US" sz="1250" b="1" i="1" dirty="0">
                <a:solidFill>
                  <a:srgbClr val="C1571A"/>
                </a:solidFill>
                <a:latin typeface="Calibri" pitchFamily="34" charset="0"/>
                <a:ea typeface="Calibri" pitchFamily="34" charset="-122"/>
                <a:cs typeface="Calibri" pitchFamily="34" charset="-120"/>
              </a:rPr>
              <a:t>Một tiết học im lặng, HS tự đối mặt bài toán khó, có thể “tích cực” hơn một tiết ồn ào nhưng HS chỉ sao chép ý tưởng của nhau.</a:t>
            </a:r>
            <a:endParaRPr lang="en-US" sz="1250" dirty="0"/>
          </a:p>
        </p:txBody>
      </p:sp>
      <p:sp>
        <p:nvSpPr>
          <p:cNvPr id="7" name="Text 5"/>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8" name="Text 6"/>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3.1.3</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Năm đặc trưng của dạy học tích cực</a:t>
            </a:r>
            <a:endParaRPr lang="en-US" sz="3000" dirty="0"/>
          </a:p>
        </p:txBody>
      </p:sp>
      <p:sp>
        <p:nvSpPr>
          <p:cNvPr id="5" name="Text 3"/>
          <p:cNvSpPr/>
          <p:nvPr/>
        </p:nvSpPr>
        <p:spPr>
          <a:xfrm>
            <a:off x="502920" y="1828800"/>
            <a:ext cx="5440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550" b="1" dirty="0">
                <a:solidFill>
                  <a:srgbClr val="222B33"/>
                </a:solidFill>
                <a:latin typeface="Calibri" pitchFamily="34" charset="0"/>
                <a:ea typeface="Calibri" pitchFamily="34" charset="-122"/>
                <a:cs typeface="Calibri" pitchFamily="34" charset="-120"/>
              </a:rPr>
              <a:t>(1) Học sinh là chủ thể hoạt động nhận thức</a:t>
            </a:r>
            <a:endParaRPr lang="en-US" sz="1550" dirty="0"/>
          </a:p>
          <a:p>
            <a:pPr algn="l" lvl="1" marL="457200" indent="-228600">
              <a:lnSpc>
                <a:spcPct val="108000"/>
              </a:lnSpc>
              <a:spcAft>
                <a:spcPts val="600"/>
              </a:spcAft>
              <a:buSzPct val="100000"/>
              <a:buChar char="–"/>
            </a:pPr>
            <a:r>
              <a:rPr lang="en-US" sz="1350" dirty="0">
                <a:solidFill>
                  <a:srgbClr val="5B6B79"/>
                </a:solidFill>
                <a:latin typeface="Calibri" pitchFamily="34" charset="0"/>
                <a:ea typeface="Calibri" pitchFamily="34" charset="-122"/>
                <a:cs typeface="Calibri" pitchFamily="34" charset="-120"/>
              </a:rPr>
              <a:t>Tự đặt câu hỏi, tự thử nghiệm, tự rút kết luận — tự gõ code, tự tìm lỗi, tự đề xuất tối ưu.</a:t>
            </a:r>
            <a:endParaRPr lang="en-US" sz="1550" dirty="0"/>
          </a:p>
          <a:p>
            <a:pPr algn="l" marL="203200" indent="-203200">
              <a:lnSpc>
                <a:spcPct val="108000"/>
              </a:lnSpc>
              <a:spcAft>
                <a:spcPts val="1000"/>
              </a:spcAft>
              <a:buSzPct val="100000"/>
              <a:buChar char="▪"/>
            </a:pPr>
            <a:r>
              <a:rPr lang="en-US" sz="1550" b="1" dirty="0">
                <a:solidFill>
                  <a:srgbClr val="222B33"/>
                </a:solidFill>
                <a:latin typeface="Calibri" pitchFamily="34" charset="0"/>
                <a:ea typeface="Calibri" pitchFamily="34" charset="-122"/>
                <a:cs typeface="Calibri" pitchFamily="34" charset="-120"/>
              </a:rPr>
              <a:t>(2) Yêu cầu tư duy bậc cao</a:t>
            </a:r>
            <a:endParaRPr lang="en-US" sz="1550" dirty="0"/>
          </a:p>
          <a:p>
            <a:pPr algn="l" lvl="1" marL="457200" indent="-228600">
              <a:lnSpc>
                <a:spcPct val="108000"/>
              </a:lnSpc>
              <a:spcAft>
                <a:spcPts val="600"/>
              </a:spcAft>
              <a:buSzPct val="100000"/>
              <a:buChar char="–"/>
            </a:pPr>
            <a:r>
              <a:rPr lang="en-US" sz="1350" dirty="0">
                <a:solidFill>
                  <a:srgbClr val="5B6B79"/>
                </a:solidFill>
                <a:latin typeface="Calibri" pitchFamily="34" charset="0"/>
                <a:ea typeface="Calibri" pitchFamily="34" charset="-122"/>
                <a:cs typeface="Calibri" pitchFamily="34" charset="-120"/>
              </a:rPr>
              <a:t>Không dừng ở Nhớ/Hiểu, mà hướng đến Vận dụng, Phân tích, Đánh giá, Sáng tạo (thang Bloom).</a:t>
            </a:r>
            <a:endParaRPr lang="en-US" sz="1550" dirty="0"/>
          </a:p>
        </p:txBody>
      </p:sp>
      <p:sp>
        <p:nvSpPr>
          <p:cNvPr id="6" name="Text 4"/>
          <p:cNvSpPr/>
          <p:nvPr/>
        </p:nvSpPr>
        <p:spPr>
          <a:xfrm>
            <a:off x="6172200" y="1828800"/>
            <a:ext cx="5440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550" b="1" dirty="0">
                <a:solidFill>
                  <a:srgbClr val="222B33"/>
                </a:solidFill>
                <a:latin typeface="Calibri" pitchFamily="34" charset="0"/>
                <a:ea typeface="Calibri" pitchFamily="34" charset="-122"/>
                <a:cs typeface="Calibri" pitchFamily="34" charset="-120"/>
              </a:rPr>
              <a:t>(3) Học sinh tạo ra sản phẩm học tập</a:t>
            </a:r>
            <a:endParaRPr lang="en-US" sz="1550" dirty="0"/>
          </a:p>
          <a:p>
            <a:pPr algn="l" lvl="1" marL="457200" indent="-228600">
              <a:lnSpc>
                <a:spcPct val="108000"/>
              </a:lnSpc>
              <a:spcAft>
                <a:spcPts val="600"/>
              </a:spcAft>
              <a:buSzPct val="100000"/>
              <a:buChar char="–"/>
            </a:pPr>
            <a:r>
              <a:rPr lang="en-US" sz="1350" dirty="0">
                <a:solidFill>
                  <a:srgbClr val="5B6B79"/>
                </a:solidFill>
                <a:latin typeface="Calibri" pitchFamily="34" charset="0"/>
                <a:ea typeface="Calibri" pitchFamily="34" charset="-122"/>
                <a:cs typeface="Calibri" pitchFamily="34" charset="-120"/>
              </a:rPr>
              <a:t>Đoạn chương trình, CSDL, trang web, bản phân tích, báo cáo dự án...</a:t>
            </a:r>
            <a:endParaRPr lang="en-US" sz="1550" dirty="0"/>
          </a:p>
          <a:p>
            <a:pPr algn="l" marL="203200" indent="-203200">
              <a:lnSpc>
                <a:spcPct val="108000"/>
              </a:lnSpc>
              <a:spcAft>
                <a:spcPts val="1000"/>
              </a:spcAft>
              <a:buSzPct val="100000"/>
              <a:buChar char="▪"/>
            </a:pPr>
            <a:r>
              <a:rPr lang="en-US" sz="1550" b="1" dirty="0">
                <a:solidFill>
                  <a:srgbClr val="222B33"/>
                </a:solidFill>
                <a:latin typeface="Calibri" pitchFamily="34" charset="0"/>
                <a:ea typeface="Calibri" pitchFamily="34" charset="-122"/>
                <a:cs typeface="Calibri" pitchFamily="34" charset="-120"/>
              </a:rPr>
              <a:t>(4) Giáo viên là người thiết kế và hỗ trợ</a:t>
            </a:r>
            <a:endParaRPr lang="en-US" sz="1550" dirty="0"/>
          </a:p>
          <a:p>
            <a:pPr algn="l" lvl="1" marL="457200" indent="-228600">
              <a:lnSpc>
                <a:spcPct val="108000"/>
              </a:lnSpc>
              <a:spcAft>
                <a:spcPts val="600"/>
              </a:spcAft>
              <a:buSzPct val="100000"/>
              <a:buChar char="–"/>
            </a:pPr>
            <a:r>
              <a:rPr lang="en-US" sz="1350" dirty="0">
                <a:solidFill>
                  <a:srgbClr val="5B6B79"/>
                </a:solidFill>
                <a:latin typeface="Calibri" pitchFamily="34" charset="0"/>
                <a:ea typeface="Calibri" pitchFamily="34" charset="-122"/>
                <a:cs typeface="Calibri" pitchFamily="34" charset="-120"/>
              </a:rPr>
              <a:t>Đặt câu hỏi thay vì trả lời; gợi ý thay vì giải thích trực tiếp.</a:t>
            </a:r>
            <a:endParaRPr lang="en-US" sz="1550" dirty="0"/>
          </a:p>
          <a:p>
            <a:pPr algn="l" marL="203200" indent="-203200">
              <a:lnSpc>
                <a:spcPct val="108000"/>
              </a:lnSpc>
              <a:spcAft>
                <a:spcPts val="1000"/>
              </a:spcAft>
              <a:buSzPct val="100000"/>
              <a:buChar char="▪"/>
            </a:pPr>
            <a:r>
              <a:rPr lang="en-US" sz="1550" b="1" dirty="0">
                <a:solidFill>
                  <a:srgbClr val="222B33"/>
                </a:solidFill>
                <a:latin typeface="Calibri" pitchFamily="34" charset="0"/>
                <a:ea typeface="Calibri" pitchFamily="34" charset="-122"/>
                <a:cs typeface="Calibri" pitchFamily="34" charset="-120"/>
              </a:rPr>
              <a:t>(5) Sai lầm được coi là cơ hội học tập</a:t>
            </a:r>
            <a:endParaRPr lang="en-US" sz="1550" dirty="0"/>
          </a:p>
          <a:p>
            <a:pPr algn="l" lvl="1" marL="457200" indent="-228600">
              <a:lnSpc>
                <a:spcPct val="108000"/>
              </a:lnSpc>
              <a:spcAft>
                <a:spcPts val="600"/>
              </a:spcAft>
              <a:buSzPct val="100000"/>
              <a:buChar char="–"/>
            </a:pPr>
            <a:r>
              <a:rPr lang="en-US" sz="1350" dirty="0">
                <a:solidFill>
                  <a:srgbClr val="5B6B79"/>
                </a:solidFill>
                <a:latin typeface="Calibri" pitchFamily="34" charset="0"/>
                <a:ea typeface="Calibri" pitchFamily="34" charset="-122"/>
                <a:cs typeface="Calibri" pitchFamily="34" charset="-120"/>
              </a:rPr>
              <a:t>Lỗi lập trình không phải thất bại mà là thông tin — HS tự đọc, tự phân tích lỗi.</a:t>
            </a:r>
            <a:endParaRPr lang="en-US" sz="1550" dirty="0"/>
          </a:p>
        </p:txBody>
      </p:sp>
      <p:sp>
        <p:nvSpPr>
          <p:cNvPr id="7" name="Text 5"/>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8" name="Text 6"/>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3.1.3</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Mô hình “Tháp học tập” (Learning Pyramid)</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11155680" cy="914400"/>
        </p:xfrm>
        <a:graphic>
          <a:graphicData uri="http://schemas.openxmlformats.org/drawingml/2006/table">
            <a:tbl>
              <a:tblPr/>
              <a:tblGrid>
                <a:gridCol w="7772400"/>
                <a:gridCol w="3383280"/>
              </a:tblGrid>
              <a:tr h="45720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Hình thức học tập</a:t>
                      </a:r>
                      <a:endParaRPr lang="en-US" sz="16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Mức độ ghi nhớ trung bình</a:t>
                      </a:r>
                      <a:endParaRPr lang="en-US" sz="16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555171">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Nghe giảng thụ động</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555171">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Đọc</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~10%</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555171">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Nghe và nhìn kết hợp</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~20%</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555171">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Quan sát minh họa / thực nghiệm</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~30%</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555171">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Thảo luận nhóm</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~50%</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555171">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Thực hành, làm thực tế</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~75%</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555171">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Dạy lại cho người khác</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B33"/>
                          </a:solidFill>
                          <a:latin typeface="Calibri" pitchFamily="34" charset="0"/>
                          <a:ea typeface="Calibri" pitchFamily="34" charset="-122"/>
                          <a:cs typeface="Calibri" pitchFamily="34" charset="-120"/>
                        </a:rPr>
                        <a:t>~90%</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bl>
          </a:graphicData>
        </a:graphic>
      </p:graphicFrame>
      <p:sp>
        <p:nvSpPr>
          <p:cNvPr id="6" name="Text 3"/>
          <p:cNvSpPr/>
          <p:nvPr/>
        </p:nvSpPr>
        <p:spPr>
          <a:xfrm>
            <a:off x="502920" y="6291072"/>
            <a:ext cx="11155680" cy="365760"/>
          </a:xfrm>
          <a:prstGeom prst="rect">
            <a:avLst/>
          </a:prstGeom>
          <a:noFill/>
          <a:ln/>
        </p:spPr>
        <p:txBody>
          <a:bodyPr wrap="square" rtlCol="0" anchor="ctr"/>
          <a:lstStyle/>
          <a:p>
            <a:pPr indent="0" marL="0">
              <a:buNone/>
            </a:pPr>
            <a:r>
              <a:rPr lang="en-US" sz="1200" i="1" dirty="0">
                <a:solidFill>
                  <a:srgbClr val="5B6B79"/>
                </a:solidFill>
                <a:latin typeface="Calibri" pitchFamily="34" charset="0"/>
                <a:ea typeface="Calibri" pitchFamily="34" charset="-122"/>
                <a:cs typeface="Calibri" pitchFamily="34" charset="-120"/>
              </a:rPr>
              <a:t>Môn Tin học có lợi thế đặc biệt: thực hành trực tiếp diễn ra tự nhiên mỗi tiết máy; “dạy lại” qua pair programming, thuyết trình giải pháp.</a:t>
            </a:r>
            <a:endParaRPr lang="en-US" sz="1200" dirty="0"/>
          </a:p>
        </p:txBody>
      </p:sp>
      <p:sp>
        <p:nvSpPr>
          <p:cNvPr id="7" name="Text 4"/>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8"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3.1.3</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Dạy học tích cực trong đặc thù môn Tin học</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11155680" cy="914400"/>
        </p:xfrm>
        <a:graphic>
          <a:graphicData uri="http://schemas.openxmlformats.org/drawingml/2006/table">
            <a:tbl>
              <a:tblPr/>
              <a:tblGrid>
                <a:gridCol w="3291840"/>
                <a:gridCol w="3931920"/>
                <a:gridCol w="3931920"/>
              </a:tblGrid>
              <a:tr h="45720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Đặc điểm môn Tin học</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Cơ hội</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Thách thức</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1040130">
                <a:tc>
                  <a:txBody>
                    <a:bodyPr/>
                    <a:lstStyle/>
                    <a:p>
                      <a:pPr algn="l" indent="0" marL="0">
                        <a:buNone/>
                      </a:pPr>
                      <a:r>
                        <a:rPr lang="en-US" sz="1400" dirty="0">
                          <a:solidFill>
                            <a:srgbClr val="222B33"/>
                          </a:solidFill>
                          <a:latin typeface="Calibri" pitchFamily="34" charset="0"/>
                          <a:ea typeface="Calibri" pitchFamily="34" charset="-122"/>
                          <a:cs typeface="Calibri" pitchFamily="34" charset="-120"/>
                        </a:rPr>
                        <a:t>Tính thực hành cao</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B33"/>
                          </a:solidFill>
                          <a:latin typeface="Calibri" pitchFamily="34" charset="0"/>
                          <a:ea typeface="Calibri" pitchFamily="34" charset="-122"/>
                          <a:cs typeface="Calibri" pitchFamily="34" charset="-120"/>
                        </a:rPr>
                        <a:t>Dễ tạo nhiệm vụ “làm thật”</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B33"/>
                          </a:solidFill>
                          <a:latin typeface="Calibri" pitchFamily="34" charset="0"/>
                          <a:ea typeface="Calibri" pitchFamily="34" charset="-122"/>
                          <a:cs typeface="Calibri" pitchFamily="34" charset="-120"/>
                        </a:rPr>
                        <a:t>Máy tính không đủ, phân hóa năng lực lớn</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1040130">
                <a:tc>
                  <a:txBody>
                    <a:bodyPr/>
                    <a:lstStyle/>
                    <a:p>
                      <a:pPr algn="l" indent="0" marL="0">
                        <a:buNone/>
                      </a:pPr>
                      <a:r>
                        <a:rPr lang="en-US" sz="1400" dirty="0">
                          <a:solidFill>
                            <a:srgbClr val="222B33"/>
                          </a:solidFill>
                          <a:latin typeface="Calibri" pitchFamily="34" charset="0"/>
                          <a:ea typeface="Calibri" pitchFamily="34" charset="-122"/>
                          <a:cs typeface="Calibri" pitchFamily="34" charset="-120"/>
                        </a:rPr>
                        <a:t>Phản hồi tức thì (code chạy/lỗi)</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400" dirty="0">
                          <a:solidFill>
                            <a:srgbClr val="222B33"/>
                          </a:solidFill>
                          <a:latin typeface="Calibri" pitchFamily="34" charset="0"/>
                          <a:ea typeface="Calibri" pitchFamily="34" charset="-122"/>
                          <a:cs typeface="Calibri" pitchFamily="34" charset="-120"/>
                        </a:rPr>
                        <a:t>HS tự kiểm tra được kết quả</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400" dirty="0">
                          <a:solidFill>
                            <a:srgbClr val="222B33"/>
                          </a:solidFill>
                          <a:latin typeface="Calibri" pitchFamily="34" charset="0"/>
                          <a:ea typeface="Calibri" pitchFamily="34" charset="-122"/>
                          <a:cs typeface="Calibri" pitchFamily="34" charset="-120"/>
                        </a:rPr>
                        <a:t>HS có thể mò mẫm mà không hiểu</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1040130">
                <a:tc>
                  <a:txBody>
                    <a:bodyPr/>
                    <a:lstStyle/>
                    <a:p>
                      <a:pPr algn="l" indent="0" marL="0">
                        <a:buNone/>
                      </a:pPr>
                      <a:r>
                        <a:rPr lang="en-US" sz="1400" dirty="0">
                          <a:solidFill>
                            <a:srgbClr val="222B33"/>
                          </a:solidFill>
                          <a:latin typeface="Calibri" pitchFamily="34" charset="0"/>
                          <a:ea typeface="Calibri" pitchFamily="34" charset="-122"/>
                          <a:cs typeface="Calibri" pitchFamily="34" charset="-120"/>
                        </a:rPr>
                        <a:t>Nội dung gắn công nghệ thực tế</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B33"/>
                          </a:solidFill>
                          <a:latin typeface="Calibri" pitchFamily="34" charset="0"/>
                          <a:ea typeface="Calibri" pitchFamily="34" charset="-122"/>
                          <a:cs typeface="Calibri" pitchFamily="34" charset="-120"/>
                        </a:rPr>
                        <a:t>HS thấy ý nghĩa thực tiễn</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B33"/>
                          </a:solidFill>
                          <a:latin typeface="Calibri" pitchFamily="34" charset="0"/>
                          <a:ea typeface="Calibri" pitchFamily="34" charset="-122"/>
                          <a:cs typeface="Calibri" pitchFamily="34" charset="-120"/>
                        </a:rPr>
                        <a:t>Công nghệ thay đổi nhanh, GV khó cập nhật</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1040130">
                <a:tc>
                  <a:txBody>
                    <a:bodyPr/>
                    <a:lstStyle/>
                    <a:p>
                      <a:pPr algn="l" indent="0" marL="0">
                        <a:buNone/>
                      </a:pPr>
                      <a:r>
                        <a:rPr lang="en-US" sz="1400" dirty="0">
                          <a:solidFill>
                            <a:srgbClr val="222B33"/>
                          </a:solidFill>
                          <a:latin typeface="Calibri" pitchFamily="34" charset="0"/>
                          <a:ea typeface="Calibri" pitchFamily="34" charset="-122"/>
                          <a:cs typeface="Calibri" pitchFamily="34" charset="-120"/>
                        </a:rPr>
                        <a:t>Cộng đồng học tập mở (GitHub...)</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400" dirty="0">
                          <a:solidFill>
                            <a:srgbClr val="222B33"/>
                          </a:solidFill>
                          <a:latin typeface="Calibri" pitchFamily="34" charset="0"/>
                          <a:ea typeface="Calibri" pitchFamily="34" charset="-122"/>
                          <a:cs typeface="Calibri" pitchFamily="34" charset="-120"/>
                        </a:rPr>
                        <a:t>Học từ cộng đồng thực sự</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400" dirty="0">
                          <a:solidFill>
                            <a:srgbClr val="222B33"/>
                          </a:solidFill>
                          <a:latin typeface="Calibri" pitchFamily="34" charset="0"/>
                          <a:ea typeface="Calibri" pitchFamily="34" charset="-122"/>
                          <a:cs typeface="Calibri" pitchFamily="34" charset="-120"/>
                        </a:rPr>
                        <a:t>Rủi ro sao chép mà không học</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bl>
          </a:graphicData>
        </a:graphic>
      </p:graphicFrame>
      <p:sp>
        <p:nvSpPr>
          <p:cNvPr id="6" name="Text 3"/>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7" name="Text 4"/>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3.1.4</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Tiêu chí lựa chọn phương pháp dạy học (1)</a:t>
            </a:r>
            <a:endParaRPr lang="en-US" sz="3000" dirty="0"/>
          </a:p>
        </p:txBody>
      </p:sp>
      <p:sp>
        <p:nvSpPr>
          <p:cNvPr id="5" name="Text 3"/>
          <p:cNvSpPr/>
          <p:nvPr/>
        </p:nvSpPr>
        <p:spPr>
          <a:xfrm>
            <a:off x="502920" y="1828800"/>
            <a:ext cx="5440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450" b="1" dirty="0">
                <a:solidFill>
                  <a:srgbClr val="222B33"/>
                </a:solidFill>
                <a:latin typeface="Calibri" pitchFamily="34" charset="0"/>
                <a:ea typeface="Calibri" pitchFamily="34" charset="-122"/>
                <a:cs typeface="Calibri" pitchFamily="34" charset="-120"/>
              </a:rPr>
              <a:t>Mục tiêu bài học — tiêu chí quan trọng nhất: phương pháp phải phục vụ mục tiêu.</a:t>
            </a:r>
            <a:endParaRPr lang="en-US" sz="1450" dirty="0"/>
          </a:p>
          <a:p>
            <a:pPr algn="l" lvl="1" marL="457200" indent="-228600">
              <a:lnSpc>
                <a:spcPct val="108000"/>
              </a:lnSpc>
              <a:spcAft>
                <a:spcPts val="600"/>
              </a:spcAft>
              <a:buSzPct val="100000"/>
              <a:buChar char="–"/>
            </a:pPr>
            <a:r>
              <a:rPr lang="en-US" sz="1250" dirty="0">
                <a:solidFill>
                  <a:srgbClr val="5B6B79"/>
                </a:solidFill>
                <a:latin typeface="Calibri" pitchFamily="34" charset="0"/>
                <a:ea typeface="Calibri" pitchFamily="34" charset="-122"/>
                <a:cs typeface="Calibri" pitchFamily="34" charset="-120"/>
              </a:rPr>
              <a:t>Nhận biết/hiểu → đàm thoại, thuyết trình kết hợp trực quan, video case study.</a:t>
            </a:r>
            <a:endParaRPr lang="en-US" sz="1450" dirty="0"/>
          </a:p>
          <a:p>
            <a:pPr algn="l" lvl="1" marL="457200" indent="-228600">
              <a:lnSpc>
                <a:spcPct val="108000"/>
              </a:lnSpc>
              <a:spcAft>
                <a:spcPts val="600"/>
              </a:spcAft>
              <a:buSzPct val="100000"/>
              <a:buChar char="–"/>
            </a:pPr>
            <a:r>
              <a:rPr lang="en-US" sz="1250" dirty="0">
                <a:solidFill>
                  <a:srgbClr val="5B6B79"/>
                </a:solidFill>
                <a:latin typeface="Calibri" pitchFamily="34" charset="0"/>
                <a:ea typeface="Calibri" pitchFamily="34" charset="-122"/>
                <a:cs typeface="Calibri" pitchFamily="34" charset="-120"/>
              </a:rPr>
              <a:t>Vận dụng → thực hành có hướng dẫn, bài tập phân tầng.</a:t>
            </a:r>
            <a:endParaRPr lang="en-US" sz="1450" dirty="0"/>
          </a:p>
          <a:p>
            <a:pPr algn="l" lvl="1" marL="457200" indent="-228600">
              <a:lnSpc>
                <a:spcPct val="108000"/>
              </a:lnSpc>
              <a:spcAft>
                <a:spcPts val="600"/>
              </a:spcAft>
              <a:buSzPct val="100000"/>
              <a:buChar char="–"/>
            </a:pPr>
            <a:r>
              <a:rPr lang="en-US" sz="1250" dirty="0">
                <a:solidFill>
                  <a:srgbClr val="5B6B79"/>
                </a:solidFill>
                <a:latin typeface="Calibri" pitchFamily="34" charset="0"/>
                <a:ea typeface="Calibri" pitchFamily="34" charset="-122"/>
                <a:cs typeface="Calibri" pitchFamily="34" charset="-120"/>
              </a:rPr>
              <a:t>Phân tích/đánh giá → thảo luận, tranh luận, so sánh giải pháp.</a:t>
            </a:r>
            <a:endParaRPr lang="en-US" sz="1450" dirty="0"/>
          </a:p>
          <a:p>
            <a:pPr algn="l" lvl="1" marL="457200" indent="-228600">
              <a:lnSpc>
                <a:spcPct val="108000"/>
              </a:lnSpc>
              <a:spcAft>
                <a:spcPts val="600"/>
              </a:spcAft>
              <a:buSzPct val="100000"/>
              <a:buChar char="–"/>
            </a:pPr>
            <a:r>
              <a:rPr lang="en-US" sz="1250" dirty="0">
                <a:solidFill>
                  <a:srgbClr val="5B6B79"/>
                </a:solidFill>
                <a:latin typeface="Calibri" pitchFamily="34" charset="0"/>
                <a:ea typeface="Calibri" pitchFamily="34" charset="-122"/>
                <a:cs typeface="Calibri" pitchFamily="34" charset="-120"/>
              </a:rPr>
              <a:t>Sáng tạo → dạy học dự án, học tập dựa trên vấn đề.</a:t>
            </a:r>
            <a:endParaRPr lang="en-US" sz="1450" dirty="0"/>
          </a:p>
        </p:txBody>
      </p:sp>
      <p:sp>
        <p:nvSpPr>
          <p:cNvPr id="6" name="Text 4"/>
          <p:cNvSpPr/>
          <p:nvPr/>
        </p:nvSpPr>
        <p:spPr>
          <a:xfrm>
            <a:off x="6172200" y="1828800"/>
            <a:ext cx="5440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450" b="1" dirty="0">
                <a:solidFill>
                  <a:srgbClr val="222B33"/>
                </a:solidFill>
                <a:latin typeface="Calibri" pitchFamily="34" charset="0"/>
                <a:ea typeface="Calibri" pitchFamily="34" charset="-122"/>
                <a:cs typeface="Calibri" pitchFamily="34" charset="-120"/>
              </a:rPr>
              <a:t>Đặc điểm nội dung dạy học — không phải nội dung nào cũng nên “khám phá”:</a:t>
            </a:r>
            <a:endParaRPr lang="en-US" sz="1450" dirty="0"/>
          </a:p>
          <a:p>
            <a:pPr algn="l" lvl="1" marL="457200" indent="-228600">
              <a:lnSpc>
                <a:spcPct val="108000"/>
              </a:lnSpc>
              <a:spcAft>
                <a:spcPts val="600"/>
              </a:spcAft>
              <a:buSzPct val="100000"/>
              <a:buChar char="–"/>
            </a:pPr>
            <a:r>
              <a:rPr lang="en-US" sz="1250" dirty="0">
                <a:solidFill>
                  <a:srgbClr val="5B6B79"/>
                </a:solidFill>
                <a:latin typeface="Calibri" pitchFamily="34" charset="0"/>
                <a:ea typeface="Calibri" pitchFamily="34" charset="-122"/>
                <a:cs typeface="Calibri" pitchFamily="34" charset="-120"/>
              </a:rPr>
              <a:t>Kỹ năng cao (gõ mã, dùng phần mềm) → làm mẫu → quan sát → thực hành lặp lại.</a:t>
            </a:r>
            <a:endParaRPr lang="en-US" sz="1450" dirty="0"/>
          </a:p>
          <a:p>
            <a:pPr algn="l" lvl="1" marL="457200" indent="-228600">
              <a:lnSpc>
                <a:spcPct val="108000"/>
              </a:lnSpc>
              <a:spcAft>
                <a:spcPts val="600"/>
              </a:spcAft>
              <a:buSzPct val="100000"/>
              <a:buChar char="–"/>
            </a:pPr>
            <a:r>
              <a:rPr lang="en-US" sz="1250" dirty="0">
                <a:solidFill>
                  <a:srgbClr val="5B6B79"/>
                </a:solidFill>
                <a:latin typeface="Calibri" pitchFamily="34" charset="0"/>
                <a:ea typeface="Calibri" pitchFamily="34" charset="-122"/>
                <a:cs typeface="Calibri" pitchFamily="34" charset="-120"/>
              </a:rPr>
              <a:t>Nguyên lý, khái niệm trừu tượng → trực quan, mô phỏng, đàm thoại gợi mở.</a:t>
            </a:r>
            <a:endParaRPr lang="en-US" sz="1450" dirty="0"/>
          </a:p>
          <a:p>
            <a:pPr algn="l" lvl="1" marL="457200" indent="-228600">
              <a:lnSpc>
                <a:spcPct val="108000"/>
              </a:lnSpc>
              <a:spcAft>
                <a:spcPts val="600"/>
              </a:spcAft>
              <a:buSzPct val="100000"/>
              <a:buChar char="–"/>
            </a:pPr>
            <a:r>
              <a:rPr lang="en-US" sz="1250" dirty="0">
                <a:solidFill>
                  <a:srgbClr val="5B6B79"/>
                </a:solidFill>
                <a:latin typeface="Calibri" pitchFamily="34" charset="0"/>
                <a:ea typeface="Calibri" pitchFamily="34" charset="-122"/>
                <a:cs typeface="Calibri" pitchFamily="34" charset="-120"/>
              </a:rPr>
              <a:t>Ra quyết định, đạo đức (an toàn TT, bản quyền số) → tình huống, tranh luận, đóng vai.</a:t>
            </a:r>
            <a:endParaRPr lang="en-US" sz="1450" dirty="0"/>
          </a:p>
          <a:p>
            <a:pPr algn="l" lvl="1" marL="457200" indent="-228600">
              <a:lnSpc>
                <a:spcPct val="108000"/>
              </a:lnSpc>
              <a:spcAft>
                <a:spcPts val="600"/>
              </a:spcAft>
              <a:buSzPct val="100000"/>
              <a:buChar char="–"/>
            </a:pPr>
            <a:r>
              <a:rPr lang="en-US" sz="1250" dirty="0">
                <a:solidFill>
                  <a:srgbClr val="5B6B79"/>
                </a:solidFill>
                <a:latin typeface="Calibri" pitchFamily="34" charset="0"/>
                <a:ea typeface="Calibri" pitchFamily="34" charset="-122"/>
                <a:cs typeface="Calibri" pitchFamily="34" charset="-120"/>
              </a:rPr>
              <a:t>Dự án, tích hợp (website, ứng dụng) → dạy học dự án, học hợp tác.</a:t>
            </a:r>
            <a:endParaRPr lang="en-US" sz="1450" dirty="0"/>
          </a:p>
        </p:txBody>
      </p:sp>
      <p:sp>
        <p:nvSpPr>
          <p:cNvPr id="7" name="Text 5"/>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8" name="Text 6"/>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3.1.4</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Tiêu chí lựa chọn phương pháp dạy học (2)</a:t>
            </a:r>
            <a:endParaRPr lang="en-US" sz="30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800" b="1" dirty="0">
                <a:solidFill>
                  <a:srgbClr val="222B33"/>
                </a:solidFill>
                <a:latin typeface="Calibri" pitchFamily="34" charset="0"/>
                <a:ea typeface="Calibri" pitchFamily="34" charset="-122"/>
                <a:cs typeface="Calibri" pitchFamily="34" charset="-120"/>
              </a:rPr>
              <a:t>Đặc điểm học sinh</a:t>
            </a:r>
            <a:endParaRPr lang="en-US" sz="1800" dirty="0"/>
          </a:p>
          <a:p>
            <a:pPr algn="l" lvl="1" marL="457200" indent="-228600">
              <a:lnSpc>
                <a:spcPct val="108000"/>
              </a:lnSpc>
              <a:spcAft>
                <a:spcPts val="600"/>
              </a:spcAft>
              <a:buSzPct val="100000"/>
              <a:buChar char="–"/>
            </a:pPr>
            <a:r>
              <a:rPr lang="en-US" sz="1600" dirty="0">
                <a:solidFill>
                  <a:srgbClr val="5B6B79"/>
                </a:solidFill>
                <a:latin typeface="Calibri" pitchFamily="34" charset="0"/>
                <a:ea typeface="Calibri" pitchFamily="34" charset="-122"/>
                <a:cs typeface="Calibri" pitchFamily="34" charset="-120"/>
              </a:rPr>
              <a:t>Trình độ, kinh nghiệm trước — vùng phát triển gần (ZPD – Vygotsky): nhiệm vụ vừa tầm.</a:t>
            </a:r>
            <a:endParaRPr lang="en-US" sz="1800" dirty="0"/>
          </a:p>
          <a:p>
            <a:pPr algn="l" lvl="1" marL="457200" indent="-228600">
              <a:lnSpc>
                <a:spcPct val="108000"/>
              </a:lnSpc>
              <a:spcAft>
                <a:spcPts val="600"/>
              </a:spcAft>
              <a:buSzPct val="100000"/>
              <a:buChar char="–"/>
            </a:pPr>
            <a:r>
              <a:rPr lang="en-US" sz="1600" dirty="0">
                <a:solidFill>
                  <a:srgbClr val="5B6B79"/>
                </a:solidFill>
                <a:latin typeface="Calibri" pitchFamily="34" charset="0"/>
                <a:ea typeface="Calibri" pitchFamily="34" charset="-122"/>
                <a:cs typeface="Calibri" pitchFamily="34" charset="-120"/>
              </a:rPr>
              <a:t>Phong cách học đa dạng — cần đa dạng hóa cách tiếp cận.</a:t>
            </a:r>
            <a:endParaRPr lang="en-US" sz="1800" dirty="0"/>
          </a:p>
          <a:p>
            <a:pPr algn="l" lvl="1" marL="457200" indent="-228600">
              <a:lnSpc>
                <a:spcPct val="108000"/>
              </a:lnSpc>
              <a:spcAft>
                <a:spcPts val="600"/>
              </a:spcAft>
              <a:buSzPct val="100000"/>
              <a:buChar char="–"/>
            </a:pPr>
            <a:r>
              <a:rPr lang="en-US" sz="1600" dirty="0">
                <a:solidFill>
                  <a:srgbClr val="5B6B79"/>
                </a:solidFill>
                <a:latin typeface="Calibri" pitchFamily="34" charset="0"/>
                <a:ea typeface="Calibri" pitchFamily="34" charset="-122"/>
                <a:cs typeface="Calibri" pitchFamily="34" charset="-120"/>
              </a:rPr>
              <a:t>Quy mô lớp, phân hóa năng lực — cần nhiệm vụ phân tầng.</a:t>
            </a:r>
            <a:endParaRPr lang="en-US" sz="1800" dirty="0"/>
          </a:p>
          <a:p>
            <a:pPr algn="l" marL="203200" indent="-203200">
              <a:lnSpc>
                <a:spcPct val="108000"/>
              </a:lnSpc>
              <a:spcAft>
                <a:spcPts val="1000"/>
              </a:spcAft>
              <a:buSzPct val="100000"/>
              <a:buChar char="▪"/>
            </a:pPr>
            <a:r>
              <a:rPr lang="en-US" sz="1800" b="1" dirty="0">
                <a:solidFill>
                  <a:srgbClr val="222B33"/>
                </a:solidFill>
                <a:latin typeface="Calibri" pitchFamily="34" charset="0"/>
                <a:ea typeface="Calibri" pitchFamily="34" charset="-122"/>
                <a:cs typeface="Calibri" pitchFamily="34" charset="-120"/>
              </a:rPr>
              <a:t>Điều kiện cơ sở vật chất</a:t>
            </a:r>
            <a:endParaRPr lang="en-US" sz="1800" dirty="0"/>
          </a:p>
          <a:p>
            <a:pPr algn="l" lvl="1" marL="457200" indent="-228600">
              <a:lnSpc>
                <a:spcPct val="108000"/>
              </a:lnSpc>
              <a:spcAft>
                <a:spcPts val="600"/>
              </a:spcAft>
              <a:buSzPct val="100000"/>
              <a:buChar char="–"/>
            </a:pPr>
            <a:r>
              <a:rPr lang="en-US" sz="1600" dirty="0">
                <a:solidFill>
                  <a:srgbClr val="5B6B79"/>
                </a:solidFill>
                <a:latin typeface="Calibri" pitchFamily="34" charset="0"/>
                <a:ea typeface="Calibri" pitchFamily="34" charset="-122"/>
                <a:cs typeface="Calibri" pitchFamily="34" charset="-120"/>
              </a:rPr>
              <a:t>Số máy/số HS; kết nối Internet; phần mềm được cài đặt; không gian lớp học.</a:t>
            </a:r>
            <a:endParaRPr lang="en-US" sz="1800" dirty="0"/>
          </a:p>
          <a:p>
            <a:pPr algn="l" marL="203200" indent="-203200">
              <a:lnSpc>
                <a:spcPct val="108000"/>
              </a:lnSpc>
              <a:spcAft>
                <a:spcPts val="1000"/>
              </a:spcAft>
              <a:buSzPct val="100000"/>
              <a:buChar char="▪"/>
            </a:pPr>
            <a:r>
              <a:rPr lang="en-US" sz="1800" b="1" dirty="0">
                <a:solidFill>
                  <a:srgbClr val="222B33"/>
                </a:solidFill>
                <a:latin typeface="Calibri" pitchFamily="34" charset="0"/>
                <a:ea typeface="Calibri" pitchFamily="34" charset="-122"/>
                <a:cs typeface="Calibri" pitchFamily="34" charset="-120"/>
              </a:rPr>
              <a:t>Năng lực và phong cách của giáo viên</a:t>
            </a:r>
            <a:endParaRPr lang="en-US" sz="1800" dirty="0"/>
          </a:p>
          <a:p>
            <a:pPr algn="l" lvl="1" marL="457200" indent="-228600">
              <a:lnSpc>
                <a:spcPct val="108000"/>
              </a:lnSpc>
              <a:spcAft>
                <a:spcPts val="600"/>
              </a:spcAft>
              <a:buSzPct val="100000"/>
              <a:buChar char="–"/>
            </a:pPr>
            <a:r>
              <a:rPr lang="en-US" sz="1600" dirty="0">
                <a:solidFill>
                  <a:srgbClr val="5B6B79"/>
                </a:solidFill>
                <a:latin typeface="Calibri" pitchFamily="34" charset="0"/>
                <a:ea typeface="Calibri" pitchFamily="34" charset="-122"/>
                <a:cs typeface="Calibri" pitchFamily="34" charset="-120"/>
              </a:rPr>
              <a:t>Chỉ hiệu quả khi GV thực sự làm chủ phương pháp — nên bắt đầu từ 2–3 phương pháp cốt lõi.</a:t>
            </a:r>
            <a:endParaRPr lang="en-US" sz="1800" dirty="0"/>
          </a:p>
        </p:txBody>
      </p:sp>
      <p:sp>
        <p:nvSpPr>
          <p:cNvPr id="6" name="Text 4"/>
          <p:cNvSpPr/>
          <p:nvPr/>
        </p:nvSpPr>
        <p:spPr>
          <a:xfrm>
            <a:off x="502920" y="5989320"/>
            <a:ext cx="11155680" cy="411480"/>
          </a:xfrm>
          <a:prstGeom prst="rect">
            <a:avLst/>
          </a:prstGeom>
          <a:noFill/>
          <a:ln/>
        </p:spPr>
        <p:txBody>
          <a:bodyPr wrap="square" rtlCol="0" anchor="ctr"/>
          <a:lstStyle/>
          <a:p>
            <a:pPr indent="0" marL="0">
              <a:buNone/>
            </a:pPr>
            <a:r>
              <a:rPr lang="en-US" sz="1250" b="1" i="1" dirty="0">
                <a:solidFill>
                  <a:srgbClr val="C1571A"/>
                </a:solidFill>
                <a:latin typeface="Calibri" pitchFamily="34" charset="0"/>
                <a:ea typeface="Calibri" pitchFamily="34" charset="-122"/>
                <a:cs typeface="Calibri" pitchFamily="34" charset="-120"/>
              </a:rPr>
              <a:t>Nguyên tắc vàng: Không có phương pháp nào tốt nhất trong mọi hoàn cảnh — kết hợp linh hoạt, có chủ đích là dấu hiệu của GV Tin học giỏi.</a:t>
            </a:r>
            <a:endParaRPr lang="en-US" sz="1250" dirty="0"/>
          </a:p>
        </p:txBody>
      </p:sp>
      <p:sp>
        <p:nvSpPr>
          <p:cNvPr id="7" name="Text 5"/>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8" name="Text 6"/>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3.1.5</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Năm xu hướng đổi mới phương pháp dạy học</a:t>
            </a:r>
            <a:endParaRPr lang="en-US" sz="3000" dirty="0"/>
          </a:p>
        </p:txBody>
      </p:sp>
      <p:sp>
        <p:nvSpPr>
          <p:cNvPr id="5" name="Text 3"/>
          <p:cNvSpPr/>
          <p:nvPr/>
        </p:nvSpPr>
        <p:spPr>
          <a:xfrm>
            <a:off x="502920" y="1828800"/>
            <a:ext cx="5440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650" b="1" dirty="0">
                <a:solidFill>
                  <a:srgbClr val="222B33"/>
                </a:solidFill>
                <a:latin typeface="Calibri" pitchFamily="34" charset="0"/>
                <a:ea typeface="Calibri" pitchFamily="34" charset="-122"/>
                <a:cs typeface="Calibri" pitchFamily="34" charset="-120"/>
              </a:rPr>
              <a:t>(1) Từ lấy GV làm trung tâm sang lấy HS làm trung tâm</a:t>
            </a:r>
            <a:endParaRPr lang="en-US" sz="1650" dirty="0"/>
          </a:p>
          <a:p>
            <a:pPr algn="l" lvl="1" marL="457200" indent="-228600">
              <a:lnSpc>
                <a:spcPct val="108000"/>
              </a:lnSpc>
              <a:spcAft>
                <a:spcPts val="600"/>
              </a:spcAft>
              <a:buSzPct val="100000"/>
              <a:buChar char="–"/>
            </a:pPr>
            <a:r>
              <a:rPr lang="en-US" sz="1450" dirty="0">
                <a:solidFill>
                  <a:srgbClr val="5B6B79"/>
                </a:solidFill>
                <a:latin typeface="Calibri" pitchFamily="34" charset="0"/>
                <a:ea typeface="Calibri" pitchFamily="34" charset="-122"/>
                <a:cs typeface="Calibri" pitchFamily="34" charset="-120"/>
              </a:rPr>
              <a:t>Câu hỏi trung tâm: “Học sinh sẽ làm gì và tư duy như thế nào?”</a:t>
            </a:r>
            <a:endParaRPr lang="en-US" sz="1650" dirty="0"/>
          </a:p>
          <a:p>
            <a:pPr algn="l" marL="203200" indent="-203200">
              <a:lnSpc>
                <a:spcPct val="108000"/>
              </a:lnSpc>
              <a:spcAft>
                <a:spcPts val="1000"/>
              </a:spcAft>
              <a:buSzPct val="100000"/>
              <a:buChar char="▪"/>
            </a:pPr>
            <a:r>
              <a:rPr lang="en-US" sz="1650" b="1" dirty="0">
                <a:solidFill>
                  <a:srgbClr val="222B33"/>
                </a:solidFill>
                <a:latin typeface="Calibri" pitchFamily="34" charset="0"/>
                <a:ea typeface="Calibri" pitchFamily="34" charset="-122"/>
                <a:cs typeface="Calibri" pitchFamily="34" charset="-120"/>
              </a:rPr>
              <a:t>(2) Từ học lý thuyết sang học gắn với thực tiễn</a:t>
            </a:r>
            <a:endParaRPr lang="en-US" sz="1650" dirty="0"/>
          </a:p>
          <a:p>
            <a:pPr algn="l" lvl="1" marL="457200" indent="-228600">
              <a:lnSpc>
                <a:spcPct val="108000"/>
              </a:lnSpc>
              <a:spcAft>
                <a:spcPts val="600"/>
              </a:spcAft>
              <a:buSzPct val="100000"/>
              <a:buChar char="–"/>
            </a:pPr>
            <a:r>
              <a:rPr lang="en-US" sz="1450" dirty="0">
                <a:solidFill>
                  <a:srgbClr val="5B6B79"/>
                </a:solidFill>
                <a:latin typeface="Calibri" pitchFamily="34" charset="0"/>
                <a:ea typeface="Calibri" pitchFamily="34" charset="-122"/>
                <a:cs typeface="Calibri" pitchFamily="34" charset="-120"/>
              </a:rPr>
              <a:t>Kết nối bài toán thực: dữ liệu trường, công cụ phục vụ cộng đồng.</a:t>
            </a:r>
            <a:endParaRPr lang="en-US" sz="1650" dirty="0"/>
          </a:p>
        </p:txBody>
      </p:sp>
      <p:sp>
        <p:nvSpPr>
          <p:cNvPr id="6" name="Text 4"/>
          <p:cNvSpPr/>
          <p:nvPr/>
        </p:nvSpPr>
        <p:spPr>
          <a:xfrm>
            <a:off x="6172200" y="1828800"/>
            <a:ext cx="5440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650" b="1" dirty="0">
                <a:solidFill>
                  <a:srgbClr val="222B33"/>
                </a:solidFill>
                <a:latin typeface="Calibri" pitchFamily="34" charset="0"/>
                <a:ea typeface="Calibri" pitchFamily="34" charset="-122"/>
                <a:cs typeface="Calibri" pitchFamily="34" charset="-120"/>
              </a:rPr>
              <a:t>(3) Từ học cá nhân sang học hợp tác</a:t>
            </a:r>
            <a:endParaRPr lang="en-US" sz="1650" dirty="0"/>
          </a:p>
          <a:p>
            <a:pPr algn="l" lvl="1" marL="457200" indent="-228600">
              <a:lnSpc>
                <a:spcPct val="108000"/>
              </a:lnSpc>
              <a:spcAft>
                <a:spcPts val="600"/>
              </a:spcAft>
              <a:buSzPct val="100000"/>
              <a:buChar char="–"/>
            </a:pPr>
            <a:r>
              <a:rPr lang="en-US" sz="1450" dirty="0">
                <a:solidFill>
                  <a:srgbClr val="5B6B79"/>
                </a:solidFill>
                <a:latin typeface="Calibri" pitchFamily="34" charset="0"/>
                <a:ea typeface="Calibri" pitchFamily="34" charset="-122"/>
                <a:cs typeface="Calibri" pitchFamily="34" charset="-120"/>
              </a:rPr>
              <a:t>Phản ánh bản chất công việc IT: lập trình nhóm, review code, cùng debug.</a:t>
            </a:r>
            <a:endParaRPr lang="en-US" sz="1650" dirty="0"/>
          </a:p>
          <a:p>
            <a:pPr algn="l" marL="203200" indent="-203200">
              <a:lnSpc>
                <a:spcPct val="108000"/>
              </a:lnSpc>
              <a:spcAft>
                <a:spcPts val="1000"/>
              </a:spcAft>
              <a:buSzPct val="100000"/>
              <a:buChar char="▪"/>
            </a:pPr>
            <a:r>
              <a:rPr lang="en-US" sz="1650" b="1" dirty="0">
                <a:solidFill>
                  <a:srgbClr val="222B33"/>
                </a:solidFill>
                <a:latin typeface="Calibri" pitchFamily="34" charset="0"/>
                <a:ea typeface="Calibri" pitchFamily="34" charset="-122"/>
                <a:cs typeface="Calibri" pitchFamily="34" charset="-120"/>
              </a:rPr>
              <a:t>(4) Ứng dụng công nghệ thông tin trong dạy học</a:t>
            </a:r>
            <a:endParaRPr lang="en-US" sz="1650" dirty="0"/>
          </a:p>
          <a:p>
            <a:pPr algn="l" lvl="1" marL="457200" indent="-228600">
              <a:lnSpc>
                <a:spcPct val="108000"/>
              </a:lnSpc>
              <a:spcAft>
                <a:spcPts val="600"/>
              </a:spcAft>
              <a:buSzPct val="100000"/>
              <a:buChar char="–"/>
            </a:pPr>
            <a:r>
              <a:rPr lang="en-US" sz="1450" dirty="0">
                <a:solidFill>
                  <a:srgbClr val="5B6B79"/>
                </a:solidFill>
                <a:latin typeface="Calibri" pitchFamily="34" charset="0"/>
                <a:ea typeface="Calibri" pitchFamily="34" charset="-122"/>
                <a:cs typeface="Calibri" pitchFamily="34" charset="-120"/>
              </a:rPr>
              <a:t>Công nghệ có thể tái định nghĩa cách học (xem mô hình SAMR).</a:t>
            </a:r>
            <a:endParaRPr lang="en-US" sz="1650" dirty="0"/>
          </a:p>
          <a:p>
            <a:pPr algn="l" marL="203200" indent="-203200">
              <a:lnSpc>
                <a:spcPct val="108000"/>
              </a:lnSpc>
              <a:spcAft>
                <a:spcPts val="1000"/>
              </a:spcAft>
              <a:buSzPct val="100000"/>
              <a:buChar char="▪"/>
            </a:pPr>
            <a:r>
              <a:rPr lang="en-US" sz="1650" b="1" dirty="0">
                <a:solidFill>
                  <a:srgbClr val="222B33"/>
                </a:solidFill>
                <a:latin typeface="Calibri" pitchFamily="34" charset="0"/>
                <a:ea typeface="Calibri" pitchFamily="34" charset="-122"/>
                <a:cs typeface="Calibri" pitchFamily="34" charset="-120"/>
              </a:rPr>
              <a:t>(5) Đánh giá toàn diện, đa dạng hình thức</a:t>
            </a:r>
            <a:endParaRPr lang="en-US" sz="1650" dirty="0"/>
          </a:p>
          <a:p>
            <a:pPr algn="l" lvl="1" marL="457200" indent="-228600">
              <a:lnSpc>
                <a:spcPct val="108000"/>
              </a:lnSpc>
              <a:spcAft>
                <a:spcPts val="600"/>
              </a:spcAft>
              <a:buSzPct val="100000"/>
              <a:buChar char="–"/>
            </a:pPr>
            <a:r>
              <a:rPr lang="en-US" sz="1450" dirty="0">
                <a:solidFill>
                  <a:srgbClr val="5B6B79"/>
                </a:solidFill>
                <a:latin typeface="Calibri" pitchFamily="34" charset="0"/>
                <a:ea typeface="Calibri" pitchFamily="34" charset="-122"/>
                <a:cs typeface="Calibri" pitchFamily="34" charset="-120"/>
              </a:rPr>
              <a:t>Từ đánh giá tổng kết sang đánh giá hình thành; bổ sung tự đánh giá, đánh giá đồng đẳng.</a:t>
            </a:r>
            <a:endParaRPr lang="en-US" sz="1650" dirty="0"/>
          </a:p>
        </p:txBody>
      </p:sp>
      <p:sp>
        <p:nvSpPr>
          <p:cNvPr id="7" name="Text 5"/>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8" name="Text 6"/>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3.1.5</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Mô hình SAMR (Puentedura, 2006)</a:t>
            </a:r>
            <a:endParaRPr lang="en-US" sz="3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11155680" cy="914400"/>
        </p:xfrm>
        <a:graphic>
          <a:graphicData uri="http://schemas.openxmlformats.org/drawingml/2006/table">
            <a:tbl>
              <a:tblPr/>
              <a:tblGrid>
                <a:gridCol w="640080"/>
                <a:gridCol w="2743200"/>
                <a:gridCol w="3840480"/>
                <a:gridCol w="3931920"/>
              </a:tblGrid>
              <a:tr h="45720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Mức</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Tên</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Bản chất</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Ví dụ trong Tin học</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971550">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Substitution (Thay thế)</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Công nghệ thay công cụ cũ, không đổi chức năng</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HS nộp bài lập trình qua email thay vì in giấy</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971550">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Augmentation (Tăng cường)</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Công nghệ thay thế kèm cải tiến chức năng</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IDE tự gợi ý lỗi cú pháp giúp sửa nhanh hơn</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971550">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Modification (Biến đổi)</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Cho phép thiết kế lại đáng kể nhiệm vụ học tập</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HS dùng GitHub cộng tác code, xem lịch sử, review</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971550">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Redefinition (Tái định nghĩa)</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Tạo nhiệm vụ học tập hoàn toàn mới</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HS xuất bản ứng dụng lên App Store, nhận phản hồi thực</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bl>
          </a:graphicData>
        </a:graphic>
      </p:graphicFrame>
      <p:sp>
        <p:nvSpPr>
          <p:cNvPr id="6" name="Text 3"/>
          <p:cNvSpPr/>
          <p:nvPr/>
        </p:nvSpPr>
        <p:spPr>
          <a:xfrm>
            <a:off x="502920" y="6291072"/>
            <a:ext cx="11155680" cy="365760"/>
          </a:xfrm>
          <a:prstGeom prst="rect">
            <a:avLst/>
          </a:prstGeom>
          <a:noFill/>
          <a:ln/>
        </p:spPr>
        <p:txBody>
          <a:bodyPr wrap="square" rtlCol="0" anchor="ctr"/>
          <a:lstStyle/>
          <a:p>
            <a:pPr indent="0" marL="0">
              <a:buNone/>
            </a:pPr>
            <a:r>
              <a:rPr lang="en-US" sz="1200" i="1" dirty="0">
                <a:solidFill>
                  <a:srgbClr val="5B6B79"/>
                </a:solidFill>
                <a:latin typeface="Calibri" pitchFamily="34" charset="0"/>
                <a:ea typeface="Calibri" pitchFamily="34" charset="-122"/>
                <a:cs typeface="Calibri" pitchFamily="34" charset="-120"/>
              </a:rPr>
              <a:t>Vùng Cải tiến: mức 1–2 (công nghệ hỗ trợ PP cũ). Vùng Chuyển hóa: mức 3–4 (công nghệ tạo hoạt động học mới). Mục tiêu: có chủ đích tiến dần lên M, R.</a:t>
            </a:r>
            <a:endParaRPr lang="en-US" sz="1200" dirty="0"/>
          </a:p>
        </p:txBody>
      </p:sp>
      <p:sp>
        <p:nvSpPr>
          <p:cNvPr id="7" name="Text 4"/>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8"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3.1.5</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Mô hình tổ chức dạy học hiện đại</a:t>
            </a:r>
            <a:endParaRPr lang="en-US" sz="30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800" b="1" dirty="0">
                <a:solidFill>
                  <a:srgbClr val="222B33"/>
                </a:solidFill>
                <a:latin typeface="Calibri" pitchFamily="34" charset="0"/>
                <a:ea typeface="Calibri" pitchFamily="34" charset="-122"/>
                <a:cs typeface="Calibri" pitchFamily="34" charset="-120"/>
              </a:rPr>
              <a:t>Lớp học đảo ngược (Flipped Classroom)</a:t>
            </a:r>
            <a:endParaRPr lang="en-US" sz="1800" dirty="0"/>
          </a:p>
          <a:p>
            <a:pPr algn="l" lvl="1" marL="457200" indent="-228600">
              <a:lnSpc>
                <a:spcPct val="108000"/>
              </a:lnSpc>
              <a:spcAft>
                <a:spcPts val="600"/>
              </a:spcAft>
              <a:buSzPct val="100000"/>
              <a:buChar char="–"/>
            </a:pPr>
            <a:r>
              <a:rPr lang="en-US" sz="1600" dirty="0">
                <a:solidFill>
                  <a:srgbClr val="5B6B79"/>
                </a:solidFill>
                <a:latin typeface="Calibri" pitchFamily="34" charset="0"/>
                <a:ea typeface="Calibri" pitchFamily="34" charset="-122"/>
                <a:cs typeface="Calibri" pitchFamily="34" charset="-120"/>
              </a:rPr>
              <a:t>HS xem bài giảng/đọc tài liệu ở nhà; trên lớp dành cho thực hành, giải quyết vấn đề, thảo luận.</a:t>
            </a:r>
            <a:endParaRPr lang="en-US" sz="1800" dirty="0"/>
          </a:p>
          <a:p>
            <a:pPr algn="l" marL="203200" indent="-203200">
              <a:lnSpc>
                <a:spcPct val="108000"/>
              </a:lnSpc>
              <a:spcAft>
                <a:spcPts val="1000"/>
              </a:spcAft>
              <a:buSzPct val="100000"/>
              <a:buChar char="▪"/>
            </a:pPr>
            <a:r>
              <a:rPr lang="en-US" sz="1800" b="1" dirty="0">
                <a:solidFill>
                  <a:srgbClr val="222B33"/>
                </a:solidFill>
                <a:latin typeface="Calibri" pitchFamily="34" charset="0"/>
                <a:ea typeface="Calibri" pitchFamily="34" charset="-122"/>
                <a:cs typeface="Calibri" pitchFamily="34" charset="-120"/>
              </a:rPr>
              <a:t>Học tập dựa trên dự án (Project-Based Learning – PjBL)</a:t>
            </a:r>
            <a:endParaRPr lang="en-US" sz="1800" dirty="0"/>
          </a:p>
          <a:p>
            <a:pPr algn="l" lvl="1" marL="457200" indent="-228600">
              <a:lnSpc>
                <a:spcPct val="108000"/>
              </a:lnSpc>
              <a:spcAft>
                <a:spcPts val="600"/>
              </a:spcAft>
              <a:buSzPct val="100000"/>
              <a:buChar char="–"/>
            </a:pPr>
            <a:r>
              <a:rPr lang="en-US" sz="1600" dirty="0">
                <a:solidFill>
                  <a:srgbClr val="5B6B79"/>
                </a:solidFill>
                <a:latin typeface="Calibri" pitchFamily="34" charset="0"/>
                <a:ea typeface="Calibri" pitchFamily="34" charset="-122"/>
                <a:cs typeface="Calibri" pitchFamily="34" charset="-120"/>
              </a:rPr>
              <a:t>HS học qua thực hiện dự án có sản phẩm thực và ý nghĩa thực (website, ứng dụng, game giáo dục).</a:t>
            </a:r>
            <a:endParaRPr lang="en-US" sz="1800" dirty="0"/>
          </a:p>
          <a:p>
            <a:pPr algn="l" marL="203200" indent="-203200">
              <a:lnSpc>
                <a:spcPct val="108000"/>
              </a:lnSpc>
              <a:spcAft>
                <a:spcPts val="1000"/>
              </a:spcAft>
              <a:buSzPct val="100000"/>
              <a:buChar char="▪"/>
            </a:pPr>
            <a:r>
              <a:rPr lang="en-US" sz="1800" b="1" dirty="0">
                <a:solidFill>
                  <a:srgbClr val="222B33"/>
                </a:solidFill>
                <a:latin typeface="Calibri" pitchFamily="34" charset="0"/>
                <a:ea typeface="Calibri" pitchFamily="34" charset="-122"/>
                <a:cs typeface="Calibri" pitchFamily="34" charset="-120"/>
              </a:rPr>
              <a:t>Học tập dựa trên vấn đề (Problem-Based Learning – PBL)</a:t>
            </a:r>
            <a:endParaRPr lang="en-US" sz="1800" dirty="0"/>
          </a:p>
          <a:p>
            <a:pPr algn="l" lvl="1" marL="457200" indent="-228600">
              <a:lnSpc>
                <a:spcPct val="108000"/>
              </a:lnSpc>
              <a:spcAft>
                <a:spcPts val="600"/>
              </a:spcAft>
              <a:buSzPct val="100000"/>
              <a:buChar char="–"/>
            </a:pPr>
            <a:r>
              <a:rPr lang="en-US" sz="1600" dirty="0">
                <a:solidFill>
                  <a:srgbClr val="5B6B79"/>
                </a:solidFill>
                <a:latin typeface="Calibri" pitchFamily="34" charset="0"/>
                <a:ea typeface="Calibri" pitchFamily="34" charset="-122"/>
                <a:cs typeface="Calibri" pitchFamily="34" charset="-120"/>
              </a:rPr>
              <a:t>HS bắt đầu từ vấn đề có thật, chưa có giải pháp rõ ràng — quá trình tìm giải pháp chính là học.</a:t>
            </a:r>
            <a:endParaRPr lang="en-US" sz="1800" dirty="0"/>
          </a:p>
          <a:p>
            <a:pPr algn="l" marL="203200" indent="-203200">
              <a:lnSpc>
                <a:spcPct val="108000"/>
              </a:lnSpc>
              <a:spcAft>
                <a:spcPts val="1000"/>
              </a:spcAft>
              <a:buSzPct val="100000"/>
              <a:buChar char="▪"/>
            </a:pPr>
            <a:r>
              <a:rPr lang="en-US" sz="1800" b="1" dirty="0">
                <a:solidFill>
                  <a:srgbClr val="222B33"/>
                </a:solidFill>
                <a:latin typeface="Calibri" pitchFamily="34" charset="0"/>
                <a:ea typeface="Calibri" pitchFamily="34" charset="-122"/>
                <a:cs typeface="Calibri" pitchFamily="34" charset="-120"/>
              </a:rPr>
              <a:t>Học tập kết hợp (Blended Learning)</a:t>
            </a:r>
            <a:endParaRPr lang="en-US" sz="1800" dirty="0"/>
          </a:p>
          <a:p>
            <a:pPr algn="l" lvl="1" marL="457200" indent="-228600">
              <a:lnSpc>
                <a:spcPct val="108000"/>
              </a:lnSpc>
              <a:spcAft>
                <a:spcPts val="600"/>
              </a:spcAft>
              <a:buSzPct val="100000"/>
              <a:buChar char="–"/>
            </a:pPr>
            <a:r>
              <a:rPr lang="en-US" sz="1600" dirty="0">
                <a:solidFill>
                  <a:srgbClr val="5B6B79"/>
                </a:solidFill>
                <a:latin typeface="Calibri" pitchFamily="34" charset="0"/>
                <a:ea typeface="Calibri" pitchFamily="34" charset="-122"/>
                <a:cs typeface="Calibri" pitchFamily="34" charset="-120"/>
              </a:rPr>
              <a:t>Kết hợp trực tuyến (lý thuyết, kiểm tra nhanh) và trực tiếp (thảo luận sâu, hỗ trợ cá nhân hóa).</a:t>
            </a:r>
            <a:endParaRPr lang="en-US" sz="1800" dirty="0"/>
          </a:p>
        </p:txBody>
      </p:sp>
      <p:sp>
        <p:nvSpPr>
          <p:cNvPr id="6" name="Text 4"/>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B3A5C"/>
        </a:solidFill>
      </p:bgPr>
    </p:bg>
    <p:spTree>
      <p:nvGrpSpPr>
        <p:cNvPr id="1" name=""/>
        <p:cNvGrpSpPr/>
        <p:nvPr/>
      </p:nvGrpSpPr>
      <p:grpSpPr>
        <a:xfrm>
          <a:off x="0" y="0"/>
          <a:ext cx="0" cy="0"/>
          <a:chOff x="0" y="0"/>
          <a:chExt cx="0" cy="0"/>
        </a:xfrm>
      </p:grpSpPr>
      <p:sp>
        <p:nvSpPr>
          <p:cNvPr id="2" name="Text 0"/>
          <p:cNvSpPr/>
          <p:nvPr/>
        </p:nvSpPr>
        <p:spPr>
          <a:xfrm>
            <a:off x="640080" y="2286000"/>
            <a:ext cx="2743200" cy="1463040"/>
          </a:xfrm>
          <a:prstGeom prst="rect">
            <a:avLst/>
          </a:prstGeom>
          <a:noFill/>
          <a:ln/>
        </p:spPr>
        <p:txBody>
          <a:bodyPr wrap="square" rtlCol="0" anchor="ctr"/>
          <a:lstStyle/>
          <a:p>
            <a:pPr algn="l" indent="0" marL="0">
              <a:buNone/>
            </a:pPr>
            <a:r>
              <a:rPr lang="en-US" sz="9000" b="1" dirty="0">
                <a:solidFill>
                  <a:srgbClr val="C1571A"/>
                </a:solidFill>
                <a:latin typeface="Calibri" pitchFamily="34" charset="0"/>
                <a:ea typeface="Calibri" pitchFamily="34" charset="-122"/>
                <a:cs typeface="Calibri" pitchFamily="34" charset="-120"/>
              </a:rPr>
              <a:t>3.2</a:t>
            </a:r>
            <a:endParaRPr lang="en-US" sz="9000" dirty="0"/>
          </a:p>
        </p:txBody>
      </p:sp>
      <p:sp>
        <p:nvSpPr>
          <p:cNvPr id="3" name="Text 1"/>
          <p:cNvSpPr/>
          <p:nvPr/>
        </p:nvSpPr>
        <p:spPr>
          <a:xfrm>
            <a:off x="3566160" y="2331720"/>
            <a:ext cx="8138160" cy="1463040"/>
          </a:xfrm>
          <a:prstGeom prst="rect">
            <a:avLst/>
          </a:prstGeom>
          <a:noFill/>
          <a:ln/>
        </p:spPr>
        <p:txBody>
          <a:bodyPr wrap="square" rtlCol="0" anchor="ctr"/>
          <a:lstStyle/>
          <a:p>
            <a:pPr algn="l" indent="0" marL="0">
              <a:buNone/>
            </a:pPr>
            <a:r>
              <a:rPr lang="en-US" sz="3400" b="1" dirty="0">
                <a:solidFill>
                  <a:srgbClr val="FFFFFF"/>
                </a:solidFill>
                <a:latin typeface="Calibri" pitchFamily="34" charset="0"/>
                <a:ea typeface="Calibri" pitchFamily="34" charset="-122"/>
                <a:cs typeface="Calibri" pitchFamily="34" charset="-120"/>
              </a:rPr>
              <a:t>Những thành tố cơ sở của phương pháp dạy học</a:t>
            </a:r>
            <a:endParaRPr lang="en-US" sz="3400" dirty="0"/>
          </a:p>
        </p:txBody>
      </p:sp>
      <p:sp>
        <p:nvSpPr>
          <p:cNvPr id="4" name="Text 2"/>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5" name="Text 3"/>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3.2</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Nền tảng khoa học &amp; nguyên lý cốt lõi</a:t>
            </a:r>
            <a:endParaRPr lang="en-US" sz="30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750" b="1" dirty="0">
                <a:solidFill>
                  <a:srgbClr val="222B33"/>
                </a:solidFill>
                <a:latin typeface="Calibri" pitchFamily="34" charset="0"/>
                <a:ea typeface="Calibri" pitchFamily="34" charset="-122"/>
                <a:cs typeface="Calibri" pitchFamily="34" charset="-120"/>
              </a:rPr>
              <a:t>Các thành tố cơ sở của PPDH: hoạt động và hoạt động thành phần, gợi động cơ, tri thức trong hoạt động, phân bậc hoạt động.</a:t>
            </a:r>
            <a:endParaRPr lang="en-US" sz="1750" dirty="0"/>
          </a:p>
          <a:p>
            <a:pPr algn="l" lvl="1" marL="457200" indent="-228600">
              <a:lnSpc>
                <a:spcPct val="108000"/>
              </a:lnSpc>
              <a:spcAft>
                <a:spcPts val="600"/>
              </a:spcAft>
              <a:buSzPct val="100000"/>
              <a:buChar char="–"/>
            </a:pPr>
            <a:r>
              <a:rPr lang="en-US" sz="1550" dirty="0">
                <a:solidFill>
                  <a:srgbClr val="5B6B79"/>
                </a:solidFill>
                <a:latin typeface="Calibri" pitchFamily="34" charset="0"/>
                <a:ea typeface="Calibri" pitchFamily="34" charset="-122"/>
                <a:cs typeface="Calibri" pitchFamily="34" charset="-120"/>
              </a:rPr>
              <a:t>Xuất phát từ quan điểm hoạt động (triết học Mác – Lênin) và tâm lý học hoạt động (Leontiev 1978, Vygotsky 1978).</a:t>
            </a:r>
            <a:endParaRPr lang="en-US" sz="1750" dirty="0"/>
          </a:p>
          <a:p>
            <a:pPr algn="l" marL="203200" indent="-203200">
              <a:lnSpc>
                <a:spcPct val="108000"/>
              </a:lnSpc>
              <a:spcAft>
                <a:spcPts val="1000"/>
              </a:spcAft>
              <a:buSzPct val="100000"/>
              <a:buChar char="▪"/>
            </a:pPr>
            <a:r>
              <a:rPr lang="en-US" sz="1750" b="1" i="1" dirty="0">
                <a:solidFill>
                  <a:srgbClr val="222B33"/>
                </a:solidFill>
                <a:latin typeface="Calibri" pitchFamily="34" charset="0"/>
                <a:ea typeface="Calibri" pitchFamily="34" charset="-122"/>
                <a:cs typeface="Calibri" pitchFamily="34" charset="-120"/>
              </a:rPr>
              <a:t>Nguyên lý cốt lõi: “Dạy học là quá trình tổ chức và điều khiển hoạt động nhận thức của học sinh nhằm đạt mục tiêu giáo dục”.</a:t>
            </a:r>
            <a:endParaRPr lang="en-US" sz="1750" dirty="0"/>
          </a:p>
          <a:p>
            <a:pPr algn="l" marL="203200" indent="-203200">
              <a:lnSpc>
                <a:spcPct val="108000"/>
              </a:lnSpc>
              <a:spcAft>
                <a:spcPts val="1000"/>
              </a:spcAft>
              <a:buSzPct val="100000"/>
              <a:buChar char="▪"/>
            </a:pPr>
            <a:r>
              <a:rPr lang="en-US" sz="1750" b="1" dirty="0">
                <a:solidFill>
                  <a:srgbClr val="222B33"/>
                </a:solidFill>
                <a:latin typeface="Calibri" pitchFamily="34" charset="0"/>
                <a:ea typeface="Calibri" pitchFamily="34" charset="-122"/>
                <a:cs typeface="Calibri" pitchFamily="34" charset="-120"/>
              </a:rPr>
              <a:t>Ba trụ cột:</a:t>
            </a:r>
            <a:endParaRPr lang="en-US" sz="1750" dirty="0"/>
          </a:p>
          <a:p>
            <a:pPr algn="l" lvl="1" marL="457200" indent="-228600">
              <a:lnSpc>
                <a:spcPct val="108000"/>
              </a:lnSpc>
              <a:spcAft>
                <a:spcPts val="600"/>
              </a:spcAft>
              <a:buSzPct val="100000"/>
              <a:buChar char="–"/>
            </a:pPr>
            <a:r>
              <a:rPr lang="en-US" sz="1550" dirty="0">
                <a:solidFill>
                  <a:srgbClr val="5B6B79"/>
                </a:solidFill>
                <a:latin typeface="Calibri" pitchFamily="34" charset="0"/>
                <a:ea typeface="Calibri" pitchFamily="34" charset="-122"/>
                <a:cs typeface="Calibri" pitchFamily="34" charset="-120"/>
              </a:rPr>
              <a:t>Bản chất là sự điều khiển hoạt động — GV thiết kế và điều hành hoạt động của HS.</a:t>
            </a:r>
            <a:endParaRPr lang="en-US" sz="1750" dirty="0"/>
          </a:p>
          <a:p>
            <a:pPr algn="l" lvl="1" marL="457200" indent="-228600">
              <a:lnSpc>
                <a:spcPct val="108000"/>
              </a:lnSpc>
              <a:spcAft>
                <a:spcPts val="600"/>
              </a:spcAft>
              <a:buSzPct val="100000"/>
              <a:buChar char="–"/>
            </a:pPr>
            <a:r>
              <a:rPr lang="en-US" sz="1550" dirty="0">
                <a:solidFill>
                  <a:srgbClr val="5B6B79"/>
                </a:solidFill>
                <a:latin typeface="Calibri" pitchFamily="34" charset="0"/>
                <a:ea typeface="Calibri" pitchFamily="34" charset="-122"/>
                <a:cs typeface="Calibri" pitchFamily="34" charset="-120"/>
              </a:rPr>
              <a:t>Tính hướng đích và trí tuệ — PPDH là hệ thống hoạt động có mục đích rõ ràng.</a:t>
            </a:r>
            <a:endParaRPr lang="en-US" sz="1750" dirty="0"/>
          </a:p>
          <a:p>
            <a:pPr algn="l" lvl="1" marL="457200" indent="-228600">
              <a:lnSpc>
                <a:spcPct val="108000"/>
              </a:lnSpc>
              <a:spcAft>
                <a:spcPts val="600"/>
              </a:spcAft>
              <a:buSzPct val="100000"/>
              <a:buChar char="–"/>
            </a:pPr>
            <a:r>
              <a:rPr lang="en-US" sz="1550" dirty="0">
                <a:solidFill>
                  <a:srgbClr val="5B6B79"/>
                </a:solidFill>
                <a:latin typeface="Calibri" pitchFamily="34" charset="0"/>
                <a:ea typeface="Calibri" pitchFamily="34" charset="-122"/>
                <a:cs typeface="Calibri" pitchFamily="34" charset="-120"/>
              </a:rPr>
              <a:t>Vai trò các chủ thể: GV = thiết kế – ủy thác – điều khiển/giám sát – thể thức hóa; HS = chủ thể tự giác.</a:t>
            </a:r>
            <a:endParaRPr lang="en-US" sz="1750" dirty="0"/>
          </a:p>
        </p:txBody>
      </p:sp>
      <p:sp>
        <p:nvSpPr>
          <p:cNvPr id="6" name="Text 4"/>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3.2.1</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Hoạt động &amp; hoạt động thành phần</a:t>
            </a:r>
            <a:endParaRPr lang="en-US" sz="30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800" b="1" dirty="0">
                <a:solidFill>
                  <a:srgbClr val="222B33"/>
                </a:solidFill>
                <a:latin typeface="Calibri" pitchFamily="34" charset="0"/>
                <a:ea typeface="Calibri" pitchFamily="34" charset="-122"/>
                <a:cs typeface="Calibri" pitchFamily="34" charset="-120"/>
              </a:rPr>
              <a:t>Nguyên lý cốt lõi: Đơn vị cơ bản của PPDH không phải tri thức rời rạc mà là HOẠT ĐỘNG.</a:t>
            </a:r>
            <a:endParaRPr lang="en-US" sz="1800" dirty="0"/>
          </a:p>
          <a:p>
            <a:pPr algn="l" lvl="1" marL="457200" indent="-228600">
              <a:lnSpc>
                <a:spcPct val="108000"/>
              </a:lnSpc>
              <a:spcAft>
                <a:spcPts val="600"/>
              </a:spcAft>
              <a:buSzPct val="100000"/>
              <a:buChar char="–"/>
            </a:pPr>
            <a:r>
              <a:rPr lang="en-US" sz="1600" dirty="0">
                <a:solidFill>
                  <a:srgbClr val="5B6B79"/>
                </a:solidFill>
                <a:latin typeface="Calibri" pitchFamily="34" charset="0"/>
                <a:ea typeface="Calibri" pitchFamily="34" charset="-122"/>
                <a:cs typeface="Calibri" pitchFamily="34" charset="-120"/>
              </a:rPr>
              <a:t>Chuỗi hành động có mục đích, có phương tiện hỗ trợ và hướng tới kết quả đầu ra rõ ràng.</a:t>
            </a:r>
            <a:endParaRPr lang="en-US" sz="1800" dirty="0"/>
          </a:p>
          <a:p>
            <a:pPr algn="l" marL="203200" indent="-203200">
              <a:lnSpc>
                <a:spcPct val="108000"/>
              </a:lnSpc>
              <a:spcAft>
                <a:spcPts val="1000"/>
              </a:spcAft>
              <a:buSzPct val="100000"/>
              <a:buChar char="▪"/>
            </a:pPr>
            <a:r>
              <a:rPr lang="en-US" sz="1800" dirty="0">
                <a:solidFill>
                  <a:srgbClr val="222B33"/>
                </a:solidFill>
                <a:latin typeface="Calibri" pitchFamily="34" charset="0"/>
                <a:ea typeface="Calibri" pitchFamily="34" charset="-122"/>
                <a:cs typeface="Calibri" pitchFamily="34" charset="-120"/>
              </a:rPr>
              <a:t>Hành động nhận thức đặc thù trong Tin học: quan sát thuật toán, phân tích dữ liệu, mô phỏng quy trình, lập trình, kiểm tra – phản hồi mã nguồn.</a:t>
            </a:r>
            <a:endParaRPr lang="en-US" sz="1800" dirty="0"/>
          </a:p>
          <a:p>
            <a:pPr algn="l" marL="203200" indent="-203200">
              <a:lnSpc>
                <a:spcPct val="108000"/>
              </a:lnSpc>
              <a:spcAft>
                <a:spcPts val="1000"/>
              </a:spcAft>
              <a:buSzPct val="100000"/>
              <a:buChar char="▪"/>
            </a:pPr>
            <a:r>
              <a:rPr lang="en-US" sz="1800" b="1" dirty="0">
                <a:solidFill>
                  <a:srgbClr val="222B33"/>
                </a:solidFill>
                <a:latin typeface="Calibri" pitchFamily="34" charset="0"/>
                <a:ea typeface="Calibri" pitchFamily="34" charset="-122"/>
                <a:cs typeface="Calibri" pitchFamily="34" charset="-120"/>
              </a:rPr>
              <a:t>Tiêu chí xác định hoạt động tương thích (Nguyễn Bá Kim, 2002):</a:t>
            </a:r>
            <a:endParaRPr lang="en-US" sz="1800" dirty="0"/>
          </a:p>
          <a:p>
            <a:pPr algn="l" lvl="1" marL="457200" indent="-228600">
              <a:lnSpc>
                <a:spcPct val="108000"/>
              </a:lnSpc>
              <a:spcAft>
                <a:spcPts val="600"/>
              </a:spcAft>
              <a:buSzPct val="100000"/>
              <a:buChar char="–"/>
            </a:pPr>
            <a:r>
              <a:rPr lang="en-US" sz="1600" dirty="0">
                <a:solidFill>
                  <a:srgbClr val="5B6B79"/>
                </a:solidFill>
                <a:latin typeface="Calibri" pitchFamily="34" charset="0"/>
                <a:ea typeface="Calibri" pitchFamily="34" charset="-122"/>
                <a:cs typeface="Calibri" pitchFamily="34" charset="-120"/>
              </a:rPr>
              <a:t>Phù hợp bản chất tri thức (khái niệm, quy trình, quy tắc).</a:t>
            </a:r>
            <a:endParaRPr lang="en-US" sz="1800" dirty="0"/>
          </a:p>
          <a:p>
            <a:pPr algn="l" lvl="1" marL="457200" indent="-228600">
              <a:lnSpc>
                <a:spcPct val="108000"/>
              </a:lnSpc>
              <a:spcAft>
                <a:spcPts val="600"/>
              </a:spcAft>
              <a:buSzPct val="100000"/>
              <a:buChar char="–"/>
            </a:pPr>
            <a:r>
              <a:rPr lang="en-US" sz="1600" dirty="0">
                <a:solidFill>
                  <a:srgbClr val="5B6B79"/>
                </a:solidFill>
                <a:latin typeface="Calibri" pitchFamily="34" charset="0"/>
                <a:ea typeface="Calibri" pitchFamily="34" charset="-122"/>
                <a:cs typeface="Calibri" pitchFamily="34" charset="-120"/>
              </a:rPr>
              <a:t>Phù hợp đặc điểm nhận thức — vừa sức, kích thích tư duy.</a:t>
            </a:r>
            <a:endParaRPr lang="en-US" sz="1800" dirty="0"/>
          </a:p>
          <a:p>
            <a:pPr algn="l" lvl="1" marL="457200" indent="-228600">
              <a:lnSpc>
                <a:spcPct val="108000"/>
              </a:lnSpc>
              <a:spcAft>
                <a:spcPts val="600"/>
              </a:spcAft>
              <a:buSzPct val="100000"/>
              <a:buChar char="–"/>
            </a:pPr>
            <a:r>
              <a:rPr lang="en-US" sz="1600" dirty="0">
                <a:solidFill>
                  <a:srgbClr val="5B6B79"/>
                </a:solidFill>
                <a:latin typeface="Calibri" pitchFamily="34" charset="0"/>
                <a:ea typeface="Calibri" pitchFamily="34" charset="-122"/>
                <a:cs typeface="Calibri" pitchFamily="34" charset="-120"/>
              </a:rPr>
              <a:t>Hướng đích — tạo ra kết quả cụ thể về kiến thức, kỹ năng, năng lực.</a:t>
            </a:r>
            <a:endParaRPr lang="en-US" sz="1800" dirty="0"/>
          </a:p>
        </p:txBody>
      </p:sp>
      <p:sp>
        <p:nvSpPr>
          <p:cNvPr id="6" name="Text 4"/>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3.2.1</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Bốn giai đoạn hình thành hành động trí tuệ (Galperin, 1969)</a:t>
            </a:r>
            <a:endParaRPr lang="en-US" sz="30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2000" dirty="0">
                <a:solidFill>
                  <a:srgbClr val="222B33"/>
                </a:solidFill>
                <a:latin typeface="Calibri" pitchFamily="34" charset="0"/>
                <a:ea typeface="Calibri" pitchFamily="34" charset="-122"/>
                <a:cs typeface="Calibri" pitchFamily="34" charset="-120"/>
              </a:rPr>
              <a:t>1. Định hướng hành động: HS hiểu mục đích, điều kiện, cách thức thực hiện nhiệm vụ.</a:t>
            </a:r>
            <a:endParaRPr lang="en-US" sz="2000" dirty="0"/>
          </a:p>
          <a:p>
            <a:pPr algn="l" marL="203200" indent="-203200">
              <a:lnSpc>
                <a:spcPct val="108000"/>
              </a:lnSpc>
              <a:spcAft>
                <a:spcPts val="1000"/>
              </a:spcAft>
              <a:buSzPct val="100000"/>
              <a:buChar char="▪"/>
            </a:pPr>
            <a:r>
              <a:rPr lang="en-US" sz="2000" dirty="0">
                <a:solidFill>
                  <a:srgbClr val="222B33"/>
                </a:solidFill>
                <a:latin typeface="Calibri" pitchFamily="34" charset="0"/>
                <a:ea typeface="Calibri" pitchFamily="34" charset="-122"/>
                <a:cs typeface="Calibri" pitchFamily="34" charset="-120"/>
              </a:rPr>
              <a:t>2. Hành động ngoại hiện: HS thao tác trực tiếp trên công cụ, máy tính.</a:t>
            </a:r>
            <a:endParaRPr lang="en-US" sz="2000" dirty="0"/>
          </a:p>
          <a:p>
            <a:pPr algn="l" marL="203200" indent="-203200">
              <a:lnSpc>
                <a:spcPct val="108000"/>
              </a:lnSpc>
              <a:spcAft>
                <a:spcPts val="1000"/>
              </a:spcAft>
              <a:buSzPct val="100000"/>
              <a:buChar char="▪"/>
            </a:pPr>
            <a:r>
              <a:rPr lang="en-US" sz="2000" dirty="0">
                <a:solidFill>
                  <a:srgbClr val="222B33"/>
                </a:solidFill>
                <a:latin typeface="Calibri" pitchFamily="34" charset="0"/>
                <a:ea typeface="Calibri" pitchFamily="34" charset="-122"/>
                <a:cs typeface="Calibri" pitchFamily="34" charset="-120"/>
              </a:rPr>
              <a:t>3. Hành động ngôn ngữ: HS giải thích, trình bày, viết thuyết minh về quy trình.</a:t>
            </a:r>
            <a:endParaRPr lang="en-US" sz="2000" dirty="0"/>
          </a:p>
          <a:p>
            <a:pPr algn="l" marL="203200" indent="-203200">
              <a:lnSpc>
                <a:spcPct val="108000"/>
              </a:lnSpc>
              <a:spcAft>
                <a:spcPts val="1000"/>
              </a:spcAft>
              <a:buSzPct val="100000"/>
              <a:buChar char="▪"/>
            </a:pPr>
            <a:r>
              <a:rPr lang="en-US" sz="2000" dirty="0">
                <a:solidFill>
                  <a:srgbClr val="222B33"/>
                </a:solidFill>
                <a:latin typeface="Calibri" pitchFamily="34" charset="0"/>
                <a:ea typeface="Calibri" pitchFamily="34" charset="-122"/>
                <a:cs typeface="Calibri" pitchFamily="34" charset="-120"/>
              </a:rPr>
              <a:t>4. Hành động trí tuệ: HS thực hiện trong tư duy (nội tâm hóa), vận dụng linh hoạt vào bài toán mới.</a:t>
            </a:r>
            <a:endParaRPr lang="en-US" sz="2000" dirty="0"/>
          </a:p>
        </p:txBody>
      </p:sp>
      <p:sp>
        <p:nvSpPr>
          <p:cNvPr id="6" name="Text 4"/>
          <p:cNvSpPr/>
          <p:nvPr/>
        </p:nvSpPr>
        <p:spPr>
          <a:xfrm>
            <a:off x="502920" y="5989320"/>
            <a:ext cx="11155680" cy="411480"/>
          </a:xfrm>
          <a:prstGeom prst="rect">
            <a:avLst/>
          </a:prstGeom>
          <a:noFill/>
          <a:ln/>
        </p:spPr>
        <p:txBody>
          <a:bodyPr wrap="square" rtlCol="0" anchor="ctr"/>
          <a:lstStyle/>
          <a:p>
            <a:pPr indent="0" marL="0">
              <a:buNone/>
            </a:pPr>
            <a:r>
              <a:rPr lang="en-US" sz="1250" b="1" i="1" dirty="0">
                <a:solidFill>
                  <a:srgbClr val="C1571A"/>
                </a:solidFill>
                <a:latin typeface="Calibri" pitchFamily="34" charset="0"/>
                <a:ea typeface="Calibri" pitchFamily="34" charset="-122"/>
                <a:cs typeface="Calibri" pitchFamily="34" charset="-120"/>
              </a:rPr>
              <a:t>Ví dụ — “Lập trình tính trung bình cộng dãy số”: Phân tích Input/Output → Thiết kế thuật toán → Chuyển thành mã nguồn → Chạy thử, sửa lỗi, tối ưu.</a:t>
            </a:r>
            <a:endParaRPr lang="en-US" sz="1250" dirty="0"/>
          </a:p>
        </p:txBody>
      </p:sp>
      <p:sp>
        <p:nvSpPr>
          <p:cNvPr id="7" name="Text 5"/>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8" name="Text 6"/>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3.2.2</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Gợi động cơ hoạt động</a:t>
            </a:r>
            <a:endParaRPr lang="en-US" sz="30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800" b="1" dirty="0">
                <a:solidFill>
                  <a:srgbClr val="222B33"/>
                </a:solidFill>
                <a:latin typeface="Calibri" pitchFamily="34" charset="0"/>
                <a:ea typeface="Calibri" pitchFamily="34" charset="-122"/>
                <a:cs typeface="Calibri" pitchFamily="34" charset="-120"/>
              </a:rPr>
              <a:t>Động cơ (Leontiev, Vygotsky) là nguồn năng lượng tâm lý thúc đẩy hành động — không chỉ là hứng thú nhất thời.</a:t>
            </a:r>
            <a:endParaRPr lang="en-US" sz="1800" dirty="0"/>
          </a:p>
          <a:p>
            <a:pPr algn="l" marL="203200" indent="-203200">
              <a:lnSpc>
                <a:spcPct val="108000"/>
              </a:lnSpc>
              <a:spcAft>
                <a:spcPts val="1000"/>
              </a:spcAft>
              <a:buSzPct val="100000"/>
              <a:buChar char="▪"/>
            </a:pPr>
            <a:r>
              <a:rPr lang="en-US" sz="1800" i="1" dirty="0">
                <a:solidFill>
                  <a:srgbClr val="222B33"/>
                </a:solidFill>
                <a:latin typeface="Calibri" pitchFamily="34" charset="0"/>
                <a:ea typeface="Calibri" pitchFamily="34" charset="-122"/>
                <a:cs typeface="Calibri" pitchFamily="34" charset="-120"/>
              </a:rPr>
              <a:t>Nguyên lý: Gợi động cơ chuyển hóa dạy học từ “truyền đạt thụ động” sang “tổ chức hoạt động nhận thức chủ động”.</a:t>
            </a:r>
            <a:endParaRPr lang="en-US" sz="1800" dirty="0"/>
          </a:p>
          <a:p>
            <a:pPr algn="l" marL="203200" indent="-203200">
              <a:lnSpc>
                <a:spcPct val="108000"/>
              </a:lnSpc>
              <a:spcAft>
                <a:spcPts val="1000"/>
              </a:spcAft>
              <a:buSzPct val="100000"/>
              <a:buChar char="▪"/>
            </a:pPr>
            <a:r>
              <a:rPr lang="en-US" sz="1800" b="1" dirty="0">
                <a:solidFill>
                  <a:srgbClr val="222B33"/>
                </a:solidFill>
                <a:latin typeface="Calibri" pitchFamily="34" charset="0"/>
                <a:ea typeface="Calibri" pitchFamily="34" charset="-122"/>
                <a:cs typeface="Calibri" pitchFamily="34" charset="-120"/>
              </a:rPr>
              <a:t>Hai cấp độ:</a:t>
            </a:r>
            <a:endParaRPr lang="en-US" sz="1800" dirty="0"/>
          </a:p>
          <a:p>
            <a:pPr algn="l" lvl="1" marL="457200" indent="-228600">
              <a:lnSpc>
                <a:spcPct val="108000"/>
              </a:lnSpc>
              <a:spcAft>
                <a:spcPts val="600"/>
              </a:spcAft>
              <a:buSzPct val="100000"/>
              <a:buChar char="–"/>
            </a:pPr>
            <a:r>
              <a:rPr lang="en-US" sz="1600" dirty="0">
                <a:solidFill>
                  <a:srgbClr val="5B6B79"/>
                </a:solidFill>
                <a:latin typeface="Calibri" pitchFamily="34" charset="0"/>
                <a:ea typeface="Calibri" pitchFamily="34" charset="-122"/>
                <a:cs typeface="Calibri" pitchFamily="34" charset="-120"/>
              </a:rPr>
              <a:t>Vĩ mô (định hướng xã hội): kết nối với CMCN 4.0, chuyển đổi số, cơ hội nghề nghiệp, STEM.</a:t>
            </a:r>
            <a:endParaRPr lang="en-US" sz="1800" dirty="0"/>
          </a:p>
          <a:p>
            <a:pPr algn="l" lvl="1" marL="457200" indent="-228600">
              <a:lnSpc>
                <a:spcPct val="108000"/>
              </a:lnSpc>
              <a:spcAft>
                <a:spcPts val="600"/>
              </a:spcAft>
              <a:buSzPct val="100000"/>
              <a:buChar char="–"/>
            </a:pPr>
            <a:r>
              <a:rPr lang="en-US" sz="1600" dirty="0">
                <a:solidFill>
                  <a:srgbClr val="5B6B79"/>
                </a:solidFill>
                <a:latin typeface="Calibri" pitchFamily="34" charset="0"/>
                <a:ea typeface="Calibri" pitchFamily="34" charset="-122"/>
                <a:cs typeface="Calibri" pitchFamily="34" charset="-120"/>
              </a:rPr>
              <a:t>Vi mô (trong bài học): nêu ứng dụng thực tế, tạo thách thức vừa sức, khích lệ kịp thời.</a:t>
            </a:r>
            <a:endParaRPr lang="en-US" sz="1800" dirty="0"/>
          </a:p>
          <a:p>
            <a:pPr algn="l" marL="203200" indent="-203200">
              <a:lnSpc>
                <a:spcPct val="108000"/>
              </a:lnSpc>
              <a:spcAft>
                <a:spcPts val="1000"/>
              </a:spcAft>
              <a:buSzPct val="100000"/>
              <a:buChar char="▪"/>
            </a:pPr>
            <a:r>
              <a:rPr lang="en-US" sz="1800" i="1" dirty="0">
                <a:solidFill>
                  <a:srgbClr val="222B33"/>
                </a:solidFill>
                <a:latin typeface="Calibri" pitchFamily="34" charset="0"/>
                <a:ea typeface="Calibri" pitchFamily="34" charset="-122"/>
                <a:cs typeface="Calibri" pitchFamily="34" charset="-120"/>
              </a:rPr>
              <a:t>Ví dụ: dạy “Trí tuệ nhân tạo” — hỏi “Vì sao TikTok luôn hiển thị đúng video em thích?” thay vì định nghĩa khô khan.</a:t>
            </a:r>
            <a:endParaRPr lang="en-US" sz="1800" dirty="0"/>
          </a:p>
        </p:txBody>
      </p:sp>
      <p:sp>
        <p:nvSpPr>
          <p:cNvPr id="6" name="Text 4"/>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3.2.2</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Ba hình thức gợi động cơ</a:t>
            </a:r>
            <a:endParaRPr lang="en-US" sz="30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850" b="1" dirty="0">
                <a:solidFill>
                  <a:srgbClr val="222B33"/>
                </a:solidFill>
                <a:latin typeface="Calibri" pitchFamily="34" charset="0"/>
                <a:ea typeface="Calibri" pitchFamily="34" charset="-122"/>
                <a:cs typeface="Calibri" pitchFamily="34" charset="-120"/>
              </a:rPr>
              <a:t>Gợi động cơ MỞ ĐẦU (khởi phát)</a:t>
            </a:r>
            <a:endParaRPr lang="en-US" sz="1850" dirty="0"/>
          </a:p>
          <a:p>
            <a:pPr algn="l" lvl="1" marL="457200" indent="-228600">
              <a:lnSpc>
                <a:spcPct val="108000"/>
              </a:lnSpc>
              <a:spcAft>
                <a:spcPts val="600"/>
              </a:spcAft>
              <a:buSzPct val="100000"/>
              <a:buChar char="–"/>
            </a:pPr>
            <a:r>
              <a:rPr lang="en-US" sz="1650" dirty="0">
                <a:solidFill>
                  <a:srgbClr val="5B6B79"/>
                </a:solidFill>
                <a:latin typeface="Calibri" pitchFamily="34" charset="0"/>
                <a:ea typeface="Calibri" pitchFamily="34" charset="-122"/>
                <a:cs typeface="Calibri" pitchFamily="34" charset="-120"/>
              </a:rPr>
              <a:t>Từ thực tế đời sống (an ninh mạng, ngân hàng); từ nội bộ môn học; tạo mâu thuẫn nhận thức.</a:t>
            </a:r>
            <a:endParaRPr lang="en-US" sz="1850" dirty="0"/>
          </a:p>
          <a:p>
            <a:pPr algn="l" marL="203200" indent="-203200">
              <a:lnSpc>
                <a:spcPct val="108000"/>
              </a:lnSpc>
              <a:spcAft>
                <a:spcPts val="1000"/>
              </a:spcAft>
              <a:buSzPct val="100000"/>
              <a:buChar char="▪"/>
            </a:pPr>
            <a:r>
              <a:rPr lang="en-US" sz="1850" b="1" dirty="0">
                <a:solidFill>
                  <a:srgbClr val="222B33"/>
                </a:solidFill>
                <a:latin typeface="Calibri" pitchFamily="34" charset="0"/>
                <a:ea typeface="Calibri" pitchFamily="34" charset="-122"/>
                <a:cs typeface="Calibri" pitchFamily="34" charset="-120"/>
              </a:rPr>
              <a:t>Gợi động cơ TRUNG GIAN (duy trì)</a:t>
            </a:r>
            <a:endParaRPr lang="en-US" sz="1850" dirty="0"/>
          </a:p>
          <a:p>
            <a:pPr algn="l" lvl="1" marL="457200" indent="-228600">
              <a:lnSpc>
                <a:spcPct val="108000"/>
              </a:lnSpc>
              <a:spcAft>
                <a:spcPts val="600"/>
              </a:spcAft>
              <a:buSzPct val="100000"/>
              <a:buChar char="–"/>
            </a:pPr>
            <a:r>
              <a:rPr lang="en-US" sz="1650" dirty="0">
                <a:solidFill>
                  <a:srgbClr val="5B6B79"/>
                </a:solidFill>
                <a:latin typeface="Calibri" pitchFamily="34" charset="0"/>
                <a:ea typeface="Calibri" pitchFamily="34" charset="-122"/>
                <a:cs typeface="Calibri" pitchFamily="34" charset="-120"/>
              </a:rPr>
              <a:t>Hướng đích (câu hỏi dẫn dắt từng bước); quy lạ về quen; khái quát hóa.</a:t>
            </a:r>
            <a:endParaRPr lang="en-US" sz="1850" dirty="0"/>
          </a:p>
          <a:p>
            <a:pPr algn="l" marL="203200" indent="-203200">
              <a:lnSpc>
                <a:spcPct val="108000"/>
              </a:lnSpc>
              <a:spcAft>
                <a:spcPts val="1000"/>
              </a:spcAft>
              <a:buSzPct val="100000"/>
              <a:buChar char="▪"/>
            </a:pPr>
            <a:r>
              <a:rPr lang="en-US" sz="1850" b="1" dirty="0">
                <a:solidFill>
                  <a:srgbClr val="222B33"/>
                </a:solidFill>
                <a:latin typeface="Calibri" pitchFamily="34" charset="0"/>
                <a:ea typeface="Calibri" pitchFamily="34" charset="-122"/>
                <a:cs typeface="Calibri" pitchFamily="34" charset="-120"/>
              </a:rPr>
              <a:t>Gợi động cơ KẾT THÚC (củng cố &amp; mở rộng)</a:t>
            </a:r>
            <a:endParaRPr lang="en-US" sz="1850" dirty="0"/>
          </a:p>
          <a:p>
            <a:pPr algn="l" lvl="1" marL="457200" indent="-228600">
              <a:lnSpc>
                <a:spcPct val="108000"/>
              </a:lnSpc>
              <a:spcAft>
                <a:spcPts val="600"/>
              </a:spcAft>
              <a:buSzPct val="100000"/>
              <a:buChar char="–"/>
            </a:pPr>
            <a:r>
              <a:rPr lang="en-US" sz="1650" dirty="0">
                <a:solidFill>
                  <a:srgbClr val="5B6B79"/>
                </a:solidFill>
                <a:latin typeface="Calibri" pitchFamily="34" charset="0"/>
                <a:ea typeface="Calibri" pitchFamily="34" charset="-122"/>
                <a:cs typeface="Calibri" pitchFamily="34" charset="-120"/>
              </a:rPr>
              <a:t>Nhấn mạnh tri thức vừa học là công cụ giải quyết vấn đề thực hoặc nền tảng bài tiếp theo.</a:t>
            </a:r>
            <a:endParaRPr lang="en-US" sz="1850" dirty="0"/>
          </a:p>
        </p:txBody>
      </p:sp>
      <p:sp>
        <p:nvSpPr>
          <p:cNvPr id="6" name="Text 4"/>
          <p:cNvSpPr/>
          <p:nvPr/>
        </p:nvSpPr>
        <p:spPr>
          <a:xfrm>
            <a:off x="502920" y="5989320"/>
            <a:ext cx="11155680" cy="411480"/>
          </a:xfrm>
          <a:prstGeom prst="rect">
            <a:avLst/>
          </a:prstGeom>
          <a:noFill/>
          <a:ln/>
        </p:spPr>
        <p:txBody>
          <a:bodyPr wrap="square" rtlCol="0" anchor="ctr"/>
          <a:lstStyle/>
          <a:p>
            <a:pPr indent="0" marL="0">
              <a:buNone/>
            </a:pPr>
            <a:r>
              <a:rPr lang="en-US" sz="1250" b="1" i="1" dirty="0">
                <a:solidFill>
                  <a:srgbClr val="C1571A"/>
                </a:solidFill>
                <a:latin typeface="Calibri" pitchFamily="34" charset="0"/>
                <a:ea typeface="Calibri" pitchFamily="34" charset="-122"/>
                <a:cs typeface="Calibri" pitchFamily="34" charset="-120"/>
              </a:rPr>
              <a:t>Phối hợp linh hoạt dựa trên: độ phức tạp nội dung, hướng nghiệp, văn hóa số, đam mê cá nhân của học sinh.</a:t>
            </a:r>
            <a:endParaRPr lang="en-US" sz="1250" dirty="0"/>
          </a:p>
        </p:txBody>
      </p:sp>
      <p:sp>
        <p:nvSpPr>
          <p:cNvPr id="7" name="Text 5"/>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8" name="Text 6"/>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3.2.3</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Tri thức trong hoạt động dạy học Tin học</a:t>
            </a:r>
            <a:endParaRPr lang="en-US" sz="3000" dirty="0"/>
          </a:p>
        </p:txBody>
      </p:sp>
      <p:sp>
        <p:nvSpPr>
          <p:cNvPr id="5" name="Text 3"/>
          <p:cNvSpPr/>
          <p:nvPr/>
        </p:nvSpPr>
        <p:spPr>
          <a:xfrm>
            <a:off x="502920" y="1828800"/>
            <a:ext cx="5440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550" b="1" dirty="0">
                <a:solidFill>
                  <a:srgbClr val="222B33"/>
                </a:solidFill>
                <a:latin typeface="Calibri" pitchFamily="34" charset="0"/>
                <a:ea typeface="Calibri" pitchFamily="34" charset="-122"/>
                <a:cs typeface="Calibri" pitchFamily="34" charset="-120"/>
              </a:rPr>
              <a:t>Tri thức không phải “vật thể” có sẵn để truyền đạt, mà là SẢN PHẨM CỦA QUÁ TRÌNH KIẾN TẠO.</a:t>
            </a:r>
            <a:endParaRPr lang="en-US" sz="1550" dirty="0"/>
          </a:p>
          <a:p>
            <a:pPr algn="l" marL="203200" indent="-203200">
              <a:lnSpc>
                <a:spcPct val="108000"/>
              </a:lnSpc>
              <a:spcAft>
                <a:spcPts val="1000"/>
              </a:spcAft>
              <a:buSzPct val="100000"/>
              <a:buChar char="▪"/>
            </a:pPr>
            <a:r>
              <a:rPr lang="en-US" sz="1550" dirty="0">
                <a:solidFill>
                  <a:srgbClr val="222B33"/>
                </a:solidFill>
                <a:latin typeface="Calibri" pitchFamily="34" charset="0"/>
                <a:ea typeface="Calibri" pitchFamily="34" charset="-122"/>
                <a:cs typeface="Calibri" pitchFamily="34" charset="-120"/>
              </a:rPr>
              <a:t>Tri thức là kết quả: HS đạt hiểu biết qua khám phá, giải quyết vấn đề, lập trình.</a:t>
            </a:r>
            <a:endParaRPr lang="en-US" sz="1550" dirty="0"/>
          </a:p>
          <a:p>
            <a:pPr algn="l" marL="203200" indent="-203200">
              <a:lnSpc>
                <a:spcPct val="108000"/>
              </a:lnSpc>
              <a:spcAft>
                <a:spcPts val="1000"/>
              </a:spcAft>
              <a:buSzPct val="100000"/>
              <a:buChar char="▪"/>
            </a:pPr>
            <a:r>
              <a:rPr lang="en-US" sz="1550" dirty="0">
                <a:solidFill>
                  <a:srgbClr val="222B33"/>
                </a:solidFill>
                <a:latin typeface="Calibri" pitchFamily="34" charset="0"/>
                <a:ea typeface="Calibri" pitchFamily="34" charset="-122"/>
                <a:cs typeface="Calibri" pitchFamily="34" charset="-120"/>
              </a:rPr>
              <a:t>Tri thức là phương tiện: tri thức cũ trở thành công cụ cho hoạt động mới phức tạp hơn.</a:t>
            </a:r>
            <a:endParaRPr lang="en-US" sz="1550" dirty="0"/>
          </a:p>
        </p:txBody>
      </p:sp>
      <p:sp>
        <p:nvSpPr>
          <p:cNvPr id="6" name="Text 4"/>
          <p:cNvSpPr/>
          <p:nvPr/>
        </p:nvSpPr>
        <p:spPr>
          <a:xfrm>
            <a:off x="6172200" y="1828800"/>
            <a:ext cx="5440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550" b="1" dirty="0">
                <a:solidFill>
                  <a:srgbClr val="222B33"/>
                </a:solidFill>
                <a:latin typeface="Calibri" pitchFamily="34" charset="0"/>
                <a:ea typeface="Calibri" pitchFamily="34" charset="-122"/>
                <a:cs typeface="Calibri" pitchFamily="34" charset="-120"/>
              </a:rPr>
              <a:t>Tri thức phương pháp (procedural knowledge) — trọng tâm của Tin học:</a:t>
            </a:r>
            <a:endParaRPr lang="en-US" sz="1550" dirty="0"/>
          </a:p>
          <a:p>
            <a:pPr algn="l" lvl="1" marL="457200" indent="-228600">
              <a:lnSpc>
                <a:spcPct val="108000"/>
              </a:lnSpc>
              <a:spcAft>
                <a:spcPts val="600"/>
              </a:spcAft>
              <a:buSzPct val="100000"/>
              <a:buChar char="–"/>
            </a:pPr>
            <a:r>
              <a:rPr lang="en-US" sz="1350" dirty="0">
                <a:solidFill>
                  <a:srgbClr val="5B6B79"/>
                </a:solidFill>
                <a:latin typeface="Calibri" pitchFamily="34" charset="0"/>
                <a:ea typeface="Calibri" pitchFamily="34" charset="-122"/>
                <a:cs typeface="Calibri" pitchFamily="34" charset="-120"/>
              </a:rPr>
              <a:t>Thực hiện nội dung cụ thể: thao tác quy trình (VD: khám phá logic điều kiện qua bài toán phân loại).</a:t>
            </a:r>
            <a:endParaRPr lang="en-US" sz="1550" dirty="0"/>
          </a:p>
          <a:p>
            <a:pPr algn="l" lvl="1" marL="457200" indent="-228600">
              <a:lnSpc>
                <a:spcPct val="108000"/>
              </a:lnSpc>
              <a:spcAft>
                <a:spcPts val="600"/>
              </a:spcAft>
              <a:buSzPct val="100000"/>
              <a:buChar char="–"/>
            </a:pPr>
            <a:r>
              <a:rPr lang="en-US" sz="1350" dirty="0">
                <a:solidFill>
                  <a:srgbClr val="5B6B79"/>
                </a:solidFill>
                <a:latin typeface="Calibri" pitchFamily="34" charset="0"/>
                <a:ea typeface="Calibri" pitchFamily="34" charset="-122"/>
                <a:cs typeface="Calibri" pitchFamily="34" charset="-120"/>
              </a:rPr>
              <a:t>Hoạt động trí tuệ phổ biến (tư duy máy tính): phân rã, trừu tượng hóa, lập kế hoạch thuật toán.</a:t>
            </a:r>
            <a:endParaRPr lang="en-US" sz="1550" dirty="0"/>
          </a:p>
          <a:p>
            <a:pPr algn="l" lvl="1" marL="457200" indent="-228600">
              <a:lnSpc>
                <a:spcPct val="108000"/>
              </a:lnSpc>
              <a:spcAft>
                <a:spcPts val="600"/>
              </a:spcAft>
              <a:buSzPct val="100000"/>
              <a:buChar char="–"/>
            </a:pPr>
            <a:r>
              <a:rPr lang="en-US" sz="1350" dirty="0">
                <a:solidFill>
                  <a:srgbClr val="5B6B79"/>
                </a:solidFill>
                <a:latin typeface="Calibri" pitchFamily="34" charset="0"/>
                <a:ea typeface="Calibri" pitchFamily="34" charset="-122"/>
                <a:cs typeface="Calibri" pitchFamily="34" charset="-120"/>
              </a:rPr>
              <a:t>Hoạt động trí tuệ chung: phân tích, tổng hợp, so sánh, phản biện.</a:t>
            </a:r>
            <a:endParaRPr lang="en-US" sz="1550" dirty="0"/>
          </a:p>
          <a:p>
            <a:pPr algn="l" lvl="1" marL="457200" indent="-228600">
              <a:lnSpc>
                <a:spcPct val="108000"/>
              </a:lnSpc>
              <a:spcAft>
                <a:spcPts val="600"/>
              </a:spcAft>
              <a:buSzPct val="100000"/>
              <a:buChar char="–"/>
            </a:pPr>
            <a:r>
              <a:rPr lang="en-US" sz="1350" dirty="0">
                <a:solidFill>
                  <a:srgbClr val="5B6B79"/>
                </a:solidFill>
                <a:latin typeface="Calibri" pitchFamily="34" charset="0"/>
                <a:ea typeface="Calibri" pitchFamily="34" charset="-122"/>
                <a:cs typeface="Calibri" pitchFamily="34" charset="-120"/>
              </a:rPr>
              <a:t>Hoạt động ngôn ngữ: dùng mã giả, sơ đồ khối để mô tả logic trước khi viết mã.</a:t>
            </a:r>
            <a:endParaRPr lang="en-US" sz="1550" dirty="0"/>
          </a:p>
        </p:txBody>
      </p:sp>
      <p:sp>
        <p:nvSpPr>
          <p:cNvPr id="7" name="Text 5"/>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8" name="Text 6"/>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3.2.3</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Hai loại phương pháp cơ bản &amp; mối quan hệ hệ thống</a:t>
            </a:r>
            <a:endParaRPr lang="en-US" sz="30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800" b="1" dirty="0">
                <a:solidFill>
                  <a:srgbClr val="222B33"/>
                </a:solidFill>
                <a:latin typeface="Calibri" pitchFamily="34" charset="0"/>
                <a:ea typeface="Calibri" pitchFamily="34" charset="-122"/>
                <a:cs typeface="Calibri" pitchFamily="34" charset="-120"/>
              </a:rPr>
              <a:t>Phương pháp có tính thuật toán: quy trình xác định, hữu hạn bước (Wing, 2006) — tư duy tuần tự, logic.</a:t>
            </a:r>
            <a:endParaRPr lang="en-US" sz="1800" dirty="0"/>
          </a:p>
          <a:p>
            <a:pPr algn="l" marL="203200" indent="-203200">
              <a:lnSpc>
                <a:spcPct val="108000"/>
              </a:lnSpc>
              <a:spcAft>
                <a:spcPts val="1000"/>
              </a:spcAft>
              <a:buSzPct val="100000"/>
              <a:buChar char="▪"/>
            </a:pPr>
            <a:r>
              <a:rPr lang="en-US" sz="1800" b="1" dirty="0">
                <a:solidFill>
                  <a:srgbClr val="222B33"/>
                </a:solidFill>
                <a:latin typeface="Calibri" pitchFamily="34" charset="0"/>
                <a:ea typeface="Calibri" pitchFamily="34" charset="-122"/>
                <a:cs typeface="Calibri" pitchFamily="34" charset="-120"/>
              </a:rPr>
              <a:t>Phương pháp có tính tìm đoán (Heuristic): phỏng đoán linh hoạt cho vấn đề chưa có công thức cố định (Polya, 1957).</a:t>
            </a:r>
            <a:endParaRPr lang="en-US" sz="1800" dirty="0"/>
          </a:p>
          <a:p>
            <a:pPr algn="l" marL="203200" indent="-203200">
              <a:lnSpc>
                <a:spcPct val="108000"/>
              </a:lnSpc>
              <a:spcAft>
                <a:spcPts val="1000"/>
              </a:spcAft>
              <a:buSzPct val="100000"/>
              <a:buChar char="▪"/>
            </a:pPr>
            <a:r>
              <a:rPr lang="en-US" sz="1800" b="1" dirty="0">
                <a:solidFill>
                  <a:srgbClr val="222B33"/>
                </a:solidFill>
                <a:latin typeface="Calibri" pitchFamily="34" charset="0"/>
                <a:ea typeface="Calibri" pitchFamily="34" charset="-122"/>
                <a:cs typeface="Calibri" pitchFamily="34" charset="-120"/>
              </a:rPr>
              <a:t>Mối quan hệ Tri thức – Hoạt động – Năng lực:</a:t>
            </a:r>
            <a:endParaRPr lang="en-US" sz="1800" dirty="0"/>
          </a:p>
          <a:p>
            <a:pPr algn="l" lvl="1" marL="457200" indent="-228600">
              <a:lnSpc>
                <a:spcPct val="108000"/>
              </a:lnSpc>
              <a:spcAft>
                <a:spcPts val="600"/>
              </a:spcAft>
              <a:buSzPct val="100000"/>
              <a:buChar char="–"/>
            </a:pPr>
            <a:r>
              <a:rPr lang="en-US" sz="1600" dirty="0">
                <a:solidFill>
                  <a:srgbClr val="5B6B79"/>
                </a:solidFill>
                <a:latin typeface="Calibri" pitchFamily="34" charset="0"/>
                <a:ea typeface="Calibri" pitchFamily="34" charset="-122"/>
                <a:cs typeface="Calibri" pitchFamily="34" charset="-120"/>
              </a:rPr>
              <a:t>Tri thức là kết quả sau hành động nhận thức (VD: HS tự rút ra khái niệm “Sắp xếp chọn”).</a:t>
            </a:r>
            <a:endParaRPr lang="en-US" sz="1800" dirty="0"/>
          </a:p>
          <a:p>
            <a:pPr algn="l" lvl="1" marL="457200" indent="-228600">
              <a:lnSpc>
                <a:spcPct val="108000"/>
              </a:lnSpc>
              <a:spcAft>
                <a:spcPts val="600"/>
              </a:spcAft>
              <a:buSzPct val="100000"/>
              <a:buChar char="–"/>
            </a:pPr>
            <a:r>
              <a:rPr lang="en-US" sz="1600" dirty="0">
                <a:solidFill>
                  <a:srgbClr val="5B6B79"/>
                </a:solidFill>
                <a:latin typeface="Calibri" pitchFamily="34" charset="0"/>
                <a:ea typeface="Calibri" pitchFamily="34" charset="-122"/>
                <a:cs typeface="Calibri" pitchFamily="34" charset="-120"/>
              </a:rPr>
              <a:t>Tri thức là phương tiện cho nhiệm vụ mới (VD: dùng tri thức vòng lặp để tính tổng).</a:t>
            </a:r>
            <a:endParaRPr lang="en-US" sz="1800" dirty="0"/>
          </a:p>
          <a:p>
            <a:pPr algn="l" lvl="1" marL="457200" indent="-228600">
              <a:lnSpc>
                <a:spcPct val="108000"/>
              </a:lnSpc>
              <a:spcAft>
                <a:spcPts val="600"/>
              </a:spcAft>
              <a:buSzPct val="100000"/>
              <a:buChar char="–"/>
            </a:pPr>
            <a:r>
              <a:rPr lang="en-US" sz="1600" dirty="0">
                <a:solidFill>
                  <a:srgbClr val="5B6B79"/>
                </a:solidFill>
                <a:latin typeface="Calibri" pitchFamily="34" charset="0"/>
                <a:ea typeface="Calibri" pitchFamily="34" charset="-122"/>
                <a:cs typeface="Calibri" pitchFamily="34" charset="-120"/>
              </a:rPr>
              <a:t>Tri thức chuyển hóa thành năng lực thực hành (VD: dự án lập trình quản lý thư viện).</a:t>
            </a:r>
            <a:endParaRPr lang="en-US" sz="1800" dirty="0"/>
          </a:p>
        </p:txBody>
      </p:sp>
      <p:sp>
        <p:nvSpPr>
          <p:cNvPr id="6" name="Text 4"/>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3.2.4</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Ba cấp độ dạy học tri thức phương pháp</a:t>
            </a:r>
            <a:endParaRPr lang="en-US" sz="30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11155680" cy="914400"/>
        </p:xfrm>
        <a:graphic>
          <a:graphicData uri="http://schemas.openxmlformats.org/drawingml/2006/table">
            <a:tbl>
              <a:tblPr/>
              <a:tblGrid>
                <a:gridCol w="2377440"/>
                <a:gridCol w="4572000"/>
                <a:gridCol w="4206240"/>
              </a:tblGrid>
              <a:tr h="457200">
                <a:tc>
                  <a:txBody>
                    <a:bodyPr/>
                    <a:lstStyle/>
                    <a:p>
                      <a:pPr algn="l" indent="0" marL="0">
                        <a:buNone/>
                      </a:pPr>
                      <a:r>
                        <a:rPr lang="en-US" sz="1450" b="1" dirty="0">
                          <a:solidFill>
                            <a:srgbClr val="FFFFFF"/>
                          </a:solidFill>
                          <a:latin typeface="Calibri" pitchFamily="34" charset="0"/>
                          <a:ea typeface="Calibri" pitchFamily="34" charset="-122"/>
                          <a:cs typeface="Calibri" pitchFamily="34" charset="-120"/>
                        </a:rPr>
                        <a:t>Cấp độ</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450" b="1" dirty="0">
                          <a:solidFill>
                            <a:srgbClr val="FFFFFF"/>
                          </a:solidFill>
                          <a:latin typeface="Calibri" pitchFamily="34" charset="0"/>
                          <a:ea typeface="Calibri" pitchFamily="34" charset="-122"/>
                          <a:cs typeface="Calibri" pitchFamily="34" charset="-120"/>
                        </a:rPr>
                        <a:t>Đặc điểm</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450" b="1" dirty="0">
                          <a:solidFill>
                            <a:srgbClr val="FFFFFF"/>
                          </a:solidFill>
                          <a:latin typeface="Calibri" pitchFamily="34" charset="0"/>
                          <a:ea typeface="Calibri" pitchFamily="34" charset="-122"/>
                          <a:cs typeface="Calibri" pitchFamily="34" charset="-120"/>
                        </a:rPr>
                        <a:t>Ví dụ trong Tin học</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1295400">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1. Tường minh</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Diễn đạt công khai, có cấu trúc rõ ràng (SGK, hướng dẫn)</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Quy trình 4 bước định dạng văn bản: chọn đoạn → Home → Paragraph → chọn kiểu</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1295400">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2. Thông báo trong hoạt động</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Tri thức “ẩn”, chiến lược, nảy sinh khi giải quyết vấn đề</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GV gợi ý “quy lạ về quen” khi HS lúng túng với bài toán mới</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1295400">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3. Tập luyện</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Chuyển hóa thành kỹ năng và năng lực tự chủ</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HS so sánh thuật toán Chọn và Chèn, tự chọn PP tối ưu</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bl>
          </a:graphicData>
        </a:graphic>
      </p:graphicFrame>
      <p:sp>
        <p:nvSpPr>
          <p:cNvPr id="6" name="Text 3"/>
          <p:cNvSpPr/>
          <p:nvPr/>
        </p:nvSpPr>
        <p:spPr>
          <a:xfrm>
            <a:off x="502920" y="6291072"/>
            <a:ext cx="11155680" cy="365760"/>
          </a:xfrm>
          <a:prstGeom prst="rect">
            <a:avLst/>
          </a:prstGeom>
          <a:noFill/>
          <a:ln/>
        </p:spPr>
        <p:txBody>
          <a:bodyPr wrap="square" rtlCol="0" anchor="ctr"/>
          <a:lstStyle/>
          <a:p>
            <a:pPr indent="0" marL="0">
              <a:buNone/>
            </a:pPr>
            <a:r>
              <a:rPr lang="en-US" sz="1200" i="1" dirty="0">
                <a:solidFill>
                  <a:srgbClr val="5B6B79"/>
                </a:solidFill>
                <a:latin typeface="Calibri" pitchFamily="34" charset="0"/>
                <a:ea typeface="Calibri" pitchFamily="34" charset="-122"/>
                <a:cs typeface="Calibri" pitchFamily="34" charset="-120"/>
              </a:rPr>
              <a:t>Chuỗi tiến trình: Tường minh (Biết làm) → Thông báo (Biết tư duy) → Tập luyện (Có năng lực).</a:t>
            </a:r>
            <a:endParaRPr lang="en-US" sz="1200" dirty="0"/>
          </a:p>
        </p:txBody>
      </p:sp>
      <p:sp>
        <p:nvSpPr>
          <p:cNvPr id="7" name="Text 4"/>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8"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3.2.5</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Phân bậc hoạt động — các căn cứ</a:t>
            </a:r>
            <a:endParaRPr lang="en-US" sz="3000" dirty="0"/>
          </a:p>
        </p:txBody>
      </p:sp>
      <p:sp>
        <p:nvSpPr>
          <p:cNvPr id="5" name="Text 3"/>
          <p:cNvSpPr/>
          <p:nvPr/>
        </p:nvSpPr>
        <p:spPr>
          <a:xfrm>
            <a:off x="502920" y="1828800"/>
            <a:ext cx="5440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550" dirty="0">
                <a:solidFill>
                  <a:srgbClr val="222B33"/>
                </a:solidFill>
                <a:latin typeface="Calibri" pitchFamily="34" charset="0"/>
                <a:ea typeface="Calibri" pitchFamily="34" charset="-122"/>
                <a:cs typeface="Calibri" pitchFamily="34" charset="-120"/>
              </a:rPr>
              <a:t>Sự phức tạp của đối tượng: chia nhỏ thành bước phù hợp (VD: tạo CSDL → tạo bảng → nhập liệu → khóa chính → liên kết).</a:t>
            </a:r>
            <a:endParaRPr lang="en-US" sz="1550" dirty="0"/>
          </a:p>
          <a:p>
            <a:pPr algn="l" marL="203200" indent="-203200">
              <a:lnSpc>
                <a:spcPct val="108000"/>
              </a:lnSpc>
              <a:spcAft>
                <a:spcPts val="1000"/>
              </a:spcAft>
              <a:buSzPct val="100000"/>
              <a:buChar char="▪"/>
            </a:pPr>
            <a:r>
              <a:rPr lang="en-US" sz="1550" dirty="0">
                <a:solidFill>
                  <a:srgbClr val="222B33"/>
                </a:solidFill>
                <a:latin typeface="Calibri" pitchFamily="34" charset="0"/>
                <a:ea typeface="Calibri" pitchFamily="34" charset="-122"/>
                <a:cs typeface="Calibri" pitchFamily="34" charset="-120"/>
              </a:rPr>
              <a:t>Sự trừu tượng và khái quát: chuyển từ trực quan sang tư duy logic (VD: mô phỏng tìm kiếm thủ công → khái quát hóa → mã lệnh).</a:t>
            </a:r>
            <a:endParaRPr lang="en-US" sz="1550" dirty="0"/>
          </a:p>
          <a:p>
            <a:pPr algn="l" marL="203200" indent="-203200">
              <a:lnSpc>
                <a:spcPct val="108000"/>
              </a:lnSpc>
              <a:spcAft>
                <a:spcPts val="1000"/>
              </a:spcAft>
              <a:buSzPct val="100000"/>
              <a:buChar char="▪"/>
            </a:pPr>
            <a:r>
              <a:rPr lang="en-US" sz="1550" dirty="0">
                <a:solidFill>
                  <a:srgbClr val="222B33"/>
                </a:solidFill>
                <a:latin typeface="Calibri" pitchFamily="34" charset="0"/>
                <a:ea typeface="Calibri" pitchFamily="34" charset="-122"/>
                <a:cs typeface="Calibri" pitchFamily="34" charset="-120"/>
              </a:rPr>
              <a:t>Nội dung của hoạt động: tách kỹ năng phức hợp thành chuỗi hành động (phân tích → thiết kế → lập trình → thử nghiệm → sửa lỗi).</a:t>
            </a:r>
            <a:endParaRPr lang="en-US" sz="1550" dirty="0"/>
          </a:p>
        </p:txBody>
      </p:sp>
      <p:sp>
        <p:nvSpPr>
          <p:cNvPr id="6" name="Text 4"/>
          <p:cNvSpPr/>
          <p:nvPr/>
        </p:nvSpPr>
        <p:spPr>
          <a:xfrm>
            <a:off x="6172200" y="1828800"/>
            <a:ext cx="5440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550" dirty="0">
                <a:solidFill>
                  <a:srgbClr val="222B33"/>
                </a:solidFill>
                <a:latin typeface="Calibri" pitchFamily="34" charset="0"/>
                <a:ea typeface="Calibri" pitchFamily="34" charset="-122"/>
                <a:cs typeface="Calibri" pitchFamily="34" charset="-120"/>
              </a:rPr>
              <a:t>Sự phức hợp của hoạt động: dự án lớn (thiết kế → lập trình chức năng → kiểm thử → đánh giá).</a:t>
            </a:r>
            <a:endParaRPr lang="en-US" sz="1550" dirty="0"/>
          </a:p>
          <a:p>
            <a:pPr algn="l" marL="203200" indent="-203200">
              <a:lnSpc>
                <a:spcPct val="108000"/>
              </a:lnSpc>
              <a:spcAft>
                <a:spcPts val="1000"/>
              </a:spcAft>
              <a:buSzPct val="100000"/>
              <a:buChar char="▪"/>
            </a:pPr>
            <a:r>
              <a:rPr lang="en-US" sz="1550" dirty="0">
                <a:solidFill>
                  <a:srgbClr val="222B33"/>
                </a:solidFill>
                <a:latin typeface="Calibri" pitchFamily="34" charset="0"/>
                <a:ea typeface="Calibri" pitchFamily="34" charset="-122"/>
                <a:cs typeface="Calibri" pitchFamily="34" charset="-120"/>
              </a:rPr>
              <a:t>Chất lượng của hoạt động: mức độ làm chủ kỹ năng (VD: Python — lệnh đơn giản → rẽ nhánh → vòng lặp → hàm → dự án mini).</a:t>
            </a:r>
            <a:endParaRPr lang="en-US" sz="1550" dirty="0"/>
          </a:p>
          <a:p>
            <a:pPr algn="l" marL="203200" indent="-203200">
              <a:lnSpc>
                <a:spcPct val="108000"/>
              </a:lnSpc>
              <a:spcAft>
                <a:spcPts val="1000"/>
              </a:spcAft>
              <a:buSzPct val="100000"/>
              <a:buChar char="▪"/>
            </a:pPr>
            <a:r>
              <a:rPr lang="en-US" sz="1550" dirty="0">
                <a:solidFill>
                  <a:srgbClr val="222B33"/>
                </a:solidFill>
                <a:latin typeface="Calibri" pitchFamily="34" charset="0"/>
                <a:ea typeface="Calibri" pitchFamily="34" charset="-122"/>
                <a:cs typeface="Calibri" pitchFamily="34" charset="-120"/>
              </a:rPr>
              <a:t>Phối hợp nhiều phương diện: kiến thức – kỹ năng – thái độ (VD: An toàn số — nhận biết quy tắc → xử lý tình huống → xây dựng quy trình bảo mật).</a:t>
            </a:r>
            <a:endParaRPr lang="en-US" sz="1550" dirty="0"/>
          </a:p>
        </p:txBody>
      </p:sp>
      <p:sp>
        <p:nvSpPr>
          <p:cNvPr id="7" name="Text 5"/>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8" name="Text 6"/>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3.2.5</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Dùng phân bậc để điều khiển quá trình dạy học</a:t>
            </a:r>
            <a:endParaRPr lang="en-US" sz="30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850" dirty="0">
                <a:solidFill>
                  <a:srgbClr val="222B33"/>
                </a:solidFill>
                <a:latin typeface="Calibri" pitchFamily="34" charset="0"/>
                <a:ea typeface="Calibri" pitchFamily="34" charset="-122"/>
                <a:cs typeface="Calibri" pitchFamily="34" charset="-120"/>
              </a:rPr>
              <a:t>Chính xác hóa mục tiêu: Bậc 1 hiểu cú pháp; Bậc 2 viết chương trình cơ bản; Bậc 3 giải bài toán thực tế.</a:t>
            </a:r>
            <a:endParaRPr lang="en-US" sz="1850" dirty="0"/>
          </a:p>
          <a:p>
            <a:pPr algn="l" marL="203200" indent="-203200">
              <a:lnSpc>
                <a:spcPct val="108000"/>
              </a:lnSpc>
              <a:spcAft>
                <a:spcPts val="1000"/>
              </a:spcAft>
              <a:buSzPct val="100000"/>
              <a:buChar char="▪"/>
            </a:pPr>
            <a:r>
              <a:rPr lang="en-US" sz="1850" dirty="0">
                <a:solidFill>
                  <a:srgbClr val="222B33"/>
                </a:solidFill>
                <a:latin typeface="Calibri" pitchFamily="34" charset="0"/>
                <a:ea typeface="Calibri" pitchFamily="34" charset="-122"/>
                <a:cs typeface="Calibri" pitchFamily="34" charset="-120"/>
              </a:rPr>
              <a:t>Tuần tự nâng cao yêu cầu: lớp 10 dùng hàm Excel có sẵn → lớp 11 tự xây công thức → lớp 12 lập trình tự động hóa.</a:t>
            </a:r>
            <a:endParaRPr lang="en-US" sz="1850" dirty="0"/>
          </a:p>
          <a:p>
            <a:pPr algn="l" marL="203200" indent="-203200">
              <a:lnSpc>
                <a:spcPct val="108000"/>
              </a:lnSpc>
              <a:spcAft>
                <a:spcPts val="1000"/>
              </a:spcAft>
              <a:buSzPct val="100000"/>
              <a:buChar char="▪"/>
            </a:pPr>
            <a:r>
              <a:rPr lang="en-US" sz="1850" dirty="0">
                <a:solidFill>
                  <a:srgbClr val="222B33"/>
                </a:solidFill>
                <a:latin typeface="Calibri" pitchFamily="34" charset="0"/>
                <a:ea typeface="Calibri" pitchFamily="34" charset="-122"/>
                <a:cs typeface="Calibri" pitchFamily="34" charset="-120"/>
              </a:rPr>
              <a:t>Tạm thời hạ thấp yêu cầu (hiệu ứng dàn giáo — ZPD Vygotsky): GV làm mẫu, cung cấp code skeleton khi HS quá tải.</a:t>
            </a:r>
            <a:endParaRPr lang="en-US" sz="1850" dirty="0"/>
          </a:p>
          <a:p>
            <a:pPr algn="l" marL="203200" indent="-203200">
              <a:lnSpc>
                <a:spcPct val="108000"/>
              </a:lnSpc>
              <a:spcAft>
                <a:spcPts val="1000"/>
              </a:spcAft>
              <a:buSzPct val="100000"/>
              <a:buChar char="▪"/>
            </a:pPr>
            <a:r>
              <a:rPr lang="en-US" sz="1850" dirty="0">
                <a:solidFill>
                  <a:srgbClr val="222B33"/>
                </a:solidFill>
                <a:latin typeface="Calibri" pitchFamily="34" charset="0"/>
                <a:ea typeface="Calibri" pitchFamily="34" charset="-122"/>
                <a:cs typeface="Calibri" pitchFamily="34" charset="-120"/>
              </a:rPr>
              <a:t>Dạy học phân hóa trong: cùng bài, giao yêu cầu khác nhau theo nhóm.</a:t>
            </a:r>
            <a:endParaRPr lang="en-US" sz="1850" dirty="0"/>
          </a:p>
          <a:p>
            <a:pPr algn="l" marL="203200" indent="-203200">
              <a:lnSpc>
                <a:spcPct val="108000"/>
              </a:lnSpc>
              <a:spcAft>
                <a:spcPts val="1000"/>
              </a:spcAft>
              <a:buSzPct val="100000"/>
              <a:buChar char="▪"/>
            </a:pPr>
            <a:r>
              <a:rPr lang="en-US" sz="1850" dirty="0">
                <a:solidFill>
                  <a:srgbClr val="222B33"/>
                </a:solidFill>
                <a:latin typeface="Calibri" pitchFamily="34" charset="0"/>
                <a:ea typeface="Calibri" pitchFamily="34" charset="-122"/>
                <a:cs typeface="Calibri" pitchFamily="34" charset="-120"/>
              </a:rPr>
              <a:t>Dạy học phân hóa ngoài: giao dự án khác biệt theo sở trường từng nhóm.</a:t>
            </a:r>
            <a:endParaRPr lang="en-US" sz="1850" dirty="0"/>
          </a:p>
        </p:txBody>
      </p:sp>
      <p:sp>
        <p:nvSpPr>
          <p:cNvPr id="6" name="Text 4"/>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3.2.5</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Ma trận phân bậc hoạt động nhận thức trong Tin học</a:t>
            </a:r>
            <a:endParaRPr lang="en-US" sz="30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11155680" cy="914400"/>
        </p:xfrm>
        <a:graphic>
          <a:graphicData uri="http://schemas.openxmlformats.org/drawingml/2006/table">
            <a:tbl>
              <a:tblPr/>
              <a:tblGrid>
                <a:gridCol w="2377440"/>
                <a:gridCol w="4572000"/>
                <a:gridCol w="4206240"/>
              </a:tblGrid>
              <a:tr h="45720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Bậc</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Đặc điểm nhận thức – hành động</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Ví dụ thực tiễn</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832104">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1. Nhận biết, tái hiện</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Quan sát, ghi nhớ, làm theo mẫu máy móc</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Chèn hình ảnh, định dạng văn bản theo video hướng dẫn</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832104">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2. Hiểu và mô phỏng</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Giải thích, diễn đạt lại quy trình</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Trình bày kịch bản thuật toán sắp xếp nổi bọt</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832104">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3. Vận dụng</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Áp dụng tri thức vào tình huống cụ thể</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Viết chương trình tính chu vi, diện tích hình tròn (Python)</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832104">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4. Phân tích, đánh giá</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So sánh, phản tư, tìm ưu/nhược điểm</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So sánh tốc độ tìm kiếm tuần tự và nhị phân</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832104">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5. Sáng tạo</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Thiết kế, tối ưu hóa, tạo sản phẩm số mới</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Tự thiết kế phần mềm quản lý chi tiêu cá nhân</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bl>
          </a:graphicData>
        </a:graphic>
      </p:graphicFrame>
      <p:sp>
        <p:nvSpPr>
          <p:cNvPr id="6" name="Text 3"/>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7" name="Text 4"/>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B3A5C"/>
        </a:solidFill>
      </p:bgPr>
    </p:bg>
    <p:spTree>
      <p:nvGrpSpPr>
        <p:cNvPr id="1" name=""/>
        <p:cNvGrpSpPr/>
        <p:nvPr/>
      </p:nvGrpSpPr>
      <p:grpSpPr>
        <a:xfrm>
          <a:off x="0" y="0"/>
          <a:ext cx="0" cy="0"/>
          <a:chOff x="0" y="0"/>
          <a:chExt cx="0" cy="0"/>
        </a:xfrm>
      </p:grpSpPr>
      <p:sp>
        <p:nvSpPr>
          <p:cNvPr id="2" name="Text 0"/>
          <p:cNvSpPr/>
          <p:nvPr/>
        </p:nvSpPr>
        <p:spPr>
          <a:xfrm>
            <a:off x="640080" y="2286000"/>
            <a:ext cx="2743200" cy="1463040"/>
          </a:xfrm>
          <a:prstGeom prst="rect">
            <a:avLst/>
          </a:prstGeom>
          <a:noFill/>
          <a:ln/>
        </p:spPr>
        <p:txBody>
          <a:bodyPr wrap="square" rtlCol="0" anchor="ctr"/>
          <a:lstStyle/>
          <a:p>
            <a:pPr algn="l" indent="0" marL="0">
              <a:buNone/>
            </a:pPr>
            <a:r>
              <a:rPr lang="en-US" sz="9000" b="1" dirty="0">
                <a:solidFill>
                  <a:srgbClr val="C1571A"/>
                </a:solidFill>
                <a:latin typeface="Calibri" pitchFamily="34" charset="0"/>
                <a:ea typeface="Calibri" pitchFamily="34" charset="-122"/>
                <a:cs typeface="Calibri" pitchFamily="34" charset="-120"/>
              </a:rPr>
              <a:t>3.3</a:t>
            </a:r>
            <a:endParaRPr lang="en-US" sz="9000" dirty="0"/>
          </a:p>
        </p:txBody>
      </p:sp>
      <p:sp>
        <p:nvSpPr>
          <p:cNvPr id="3" name="Text 1"/>
          <p:cNvSpPr/>
          <p:nvPr/>
        </p:nvSpPr>
        <p:spPr>
          <a:xfrm>
            <a:off x="3566160" y="2331720"/>
            <a:ext cx="8138160" cy="1463040"/>
          </a:xfrm>
          <a:prstGeom prst="rect">
            <a:avLst/>
          </a:prstGeom>
          <a:noFill/>
          <a:ln/>
        </p:spPr>
        <p:txBody>
          <a:bodyPr wrap="square" rtlCol="0" anchor="ctr"/>
          <a:lstStyle/>
          <a:p>
            <a:pPr algn="l" indent="0" marL="0">
              <a:buNone/>
            </a:pPr>
            <a:r>
              <a:rPr lang="en-US" sz="3400" b="1" dirty="0">
                <a:solidFill>
                  <a:srgbClr val="FFFFFF"/>
                </a:solidFill>
                <a:latin typeface="Calibri" pitchFamily="34" charset="0"/>
                <a:ea typeface="Calibri" pitchFamily="34" charset="-122"/>
                <a:cs typeface="Calibri" pitchFamily="34" charset="-120"/>
              </a:rPr>
              <a:t>Các phương pháp dạy học cơ bản trong Tin học</a:t>
            </a:r>
            <a:endParaRPr lang="en-US" sz="3400" dirty="0"/>
          </a:p>
        </p:txBody>
      </p:sp>
      <p:sp>
        <p:nvSpPr>
          <p:cNvPr id="4" name="Text 2"/>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5" name="Text 3"/>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3.3.1</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Thuyết trình và giảng giải</a:t>
            </a:r>
            <a:endParaRPr lang="en-US" sz="30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800" dirty="0">
                <a:solidFill>
                  <a:srgbClr val="222B33"/>
                </a:solidFill>
                <a:latin typeface="Calibri" pitchFamily="34" charset="0"/>
                <a:ea typeface="Calibri" pitchFamily="34" charset="-122"/>
                <a:cs typeface="Calibri" pitchFamily="34" charset="-120"/>
              </a:rPr>
              <a:t>Bản chất: GV trình bày có hệ thống dưới dạng độc thoại; HS lắng nghe, quan sát, tiếp thu.</a:t>
            </a:r>
            <a:endParaRPr lang="en-US" sz="1800" dirty="0"/>
          </a:p>
          <a:p>
            <a:pPr algn="l" marL="203200" indent="-203200">
              <a:lnSpc>
                <a:spcPct val="108000"/>
              </a:lnSpc>
              <a:spcAft>
                <a:spcPts val="1000"/>
              </a:spcAft>
              <a:buSzPct val="100000"/>
              <a:buChar char="▪"/>
            </a:pPr>
            <a:r>
              <a:rPr lang="en-US" sz="1800" dirty="0">
                <a:solidFill>
                  <a:srgbClr val="222B33"/>
                </a:solidFill>
                <a:latin typeface="Calibri" pitchFamily="34" charset="0"/>
                <a:ea typeface="Calibri" pitchFamily="34" charset="-122"/>
                <a:cs typeface="Calibri" pitchFamily="34" charset="-120"/>
              </a:rPr>
              <a:t>Giảng giải: dạng thuyết trình tập trung làm rõ khái niệm/quy trình, kèm ví dụ, so sánh, phân tích.</a:t>
            </a:r>
            <a:endParaRPr lang="en-US" sz="1800" dirty="0"/>
          </a:p>
          <a:p>
            <a:pPr algn="l" marL="203200" indent="-203200">
              <a:lnSpc>
                <a:spcPct val="108000"/>
              </a:lnSpc>
              <a:spcAft>
                <a:spcPts val="1000"/>
              </a:spcAft>
              <a:buSzPct val="100000"/>
              <a:buChar char="▪"/>
            </a:pPr>
            <a:r>
              <a:rPr lang="en-US" sz="1800" b="1" dirty="0">
                <a:solidFill>
                  <a:srgbClr val="222B33"/>
                </a:solidFill>
                <a:latin typeface="Calibri" pitchFamily="34" charset="0"/>
                <a:ea typeface="Calibri" pitchFamily="34" charset="-122"/>
                <a:cs typeface="Calibri" pitchFamily="34" charset="-120"/>
              </a:rPr>
              <a:t>Ưu điểm:</a:t>
            </a:r>
            <a:endParaRPr lang="en-US" sz="1800" dirty="0"/>
          </a:p>
          <a:p>
            <a:pPr algn="l" lvl="1" marL="457200" indent="-228600">
              <a:lnSpc>
                <a:spcPct val="108000"/>
              </a:lnSpc>
              <a:spcAft>
                <a:spcPts val="600"/>
              </a:spcAft>
              <a:buSzPct val="100000"/>
              <a:buChar char="–"/>
            </a:pPr>
            <a:r>
              <a:rPr lang="en-US" sz="1600" dirty="0">
                <a:solidFill>
                  <a:srgbClr val="5B6B79"/>
                </a:solidFill>
                <a:latin typeface="Calibri" pitchFamily="34" charset="0"/>
                <a:ea typeface="Calibri" pitchFamily="34" charset="-122"/>
                <a:cs typeface="Calibri" pitchFamily="34" charset="-120"/>
              </a:rPr>
              <a:t>Tiết kiệm thời gian truyền đạt lượng lớn thông tin có cấu trúc; đảm bảo chính xác, logic; phù hợp chủ đề hoàn toàn mới; hiệu quả khi tổng kết.</a:t>
            </a:r>
            <a:endParaRPr lang="en-US" sz="1800" dirty="0"/>
          </a:p>
          <a:p>
            <a:pPr algn="l" marL="203200" indent="-203200">
              <a:lnSpc>
                <a:spcPct val="108000"/>
              </a:lnSpc>
              <a:spcAft>
                <a:spcPts val="1000"/>
              </a:spcAft>
              <a:buSzPct val="100000"/>
              <a:buChar char="▪"/>
            </a:pPr>
            <a:r>
              <a:rPr lang="en-US" sz="1800" b="1" dirty="0">
                <a:solidFill>
                  <a:srgbClr val="222B33"/>
                </a:solidFill>
                <a:latin typeface="Calibri" pitchFamily="34" charset="0"/>
                <a:ea typeface="Calibri" pitchFamily="34" charset="-122"/>
                <a:cs typeface="Calibri" pitchFamily="34" charset="-120"/>
              </a:rPr>
              <a:t>Hạn chế:</a:t>
            </a:r>
            <a:endParaRPr lang="en-US" sz="1800" dirty="0"/>
          </a:p>
          <a:p>
            <a:pPr algn="l" lvl="1" marL="457200" indent="-228600">
              <a:lnSpc>
                <a:spcPct val="108000"/>
              </a:lnSpc>
              <a:spcAft>
                <a:spcPts val="600"/>
              </a:spcAft>
              <a:buSzPct val="100000"/>
              <a:buChar char="–"/>
            </a:pPr>
            <a:r>
              <a:rPr lang="en-US" sz="1600" dirty="0">
                <a:solidFill>
                  <a:srgbClr val="5B6B79"/>
                </a:solidFill>
                <a:latin typeface="Calibri" pitchFamily="34" charset="0"/>
                <a:ea typeface="Calibri" pitchFamily="34" charset="-122"/>
                <a:cs typeface="Calibri" pitchFamily="34" charset="-120"/>
              </a:rPr>
              <a:t>HS thụ động, dễ quên; chú ý giảm sau 10–15 phút (Bligh, 2000); GV khó biết HS có hiểu không; dễ sa vào đọc slide.</a:t>
            </a:r>
            <a:endParaRPr lang="en-US" sz="1800" dirty="0"/>
          </a:p>
        </p:txBody>
      </p:sp>
      <p:sp>
        <p:nvSpPr>
          <p:cNvPr id="6" name="Text 4"/>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3.3.1</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Yêu cầu sử dụng hiệu quả trong Tin học</a:t>
            </a:r>
            <a:endParaRPr lang="en-US" sz="30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800" dirty="0">
                <a:solidFill>
                  <a:srgbClr val="222B33"/>
                </a:solidFill>
                <a:latin typeface="Calibri" pitchFamily="34" charset="0"/>
                <a:ea typeface="Calibri" pitchFamily="34" charset="-122"/>
                <a:cs typeface="Calibri" pitchFamily="34" charset="-120"/>
              </a:rPr>
              <a:t>Chuẩn bị nội dung: một thông điệp cốt lõi; cấu trúc “Nói điều sắp nói → Nói → Nói lại”; ví dụ chạy được trên máy.</a:t>
            </a:r>
            <a:endParaRPr lang="en-US" sz="1800" dirty="0"/>
          </a:p>
          <a:p>
            <a:pPr algn="l" marL="203200" indent="-203200">
              <a:lnSpc>
                <a:spcPct val="108000"/>
              </a:lnSpc>
              <a:spcAft>
                <a:spcPts val="1000"/>
              </a:spcAft>
              <a:buSzPct val="100000"/>
              <a:buChar char="▪"/>
            </a:pPr>
            <a:r>
              <a:rPr lang="en-US" sz="1800" dirty="0">
                <a:solidFill>
                  <a:srgbClr val="222B33"/>
                </a:solidFill>
                <a:latin typeface="Calibri" pitchFamily="34" charset="0"/>
                <a:ea typeface="Calibri" pitchFamily="34" charset="-122"/>
                <a:cs typeface="Calibri" pitchFamily="34" charset="-120"/>
              </a:rPr>
              <a:t>Phương tiện trực quan: minh họa trực tiếp trên máy quan trọng nhất; slide chỉ chứa sơ đồ/từ khóa; vẽ dần trên bảng.</a:t>
            </a:r>
            <a:endParaRPr lang="en-US" sz="1800" dirty="0"/>
          </a:p>
          <a:p>
            <a:pPr algn="l" marL="203200" indent="-203200">
              <a:lnSpc>
                <a:spcPct val="108000"/>
              </a:lnSpc>
              <a:spcAft>
                <a:spcPts val="1000"/>
              </a:spcAft>
              <a:buSzPct val="100000"/>
              <a:buChar char="▪"/>
            </a:pPr>
            <a:r>
              <a:rPr lang="en-US" sz="1800" dirty="0">
                <a:solidFill>
                  <a:srgbClr val="222B33"/>
                </a:solidFill>
                <a:latin typeface="Calibri" pitchFamily="34" charset="0"/>
                <a:ea typeface="Calibri" pitchFamily="34" charset="-122"/>
                <a:cs typeface="Calibri" pitchFamily="34" charset="-120"/>
              </a:rPr>
              <a:t>Tương tác trong thuyết trình: hỏi kiểm tra hiểu biết mỗi 5–7 phút; “Pause and Predict”; đặt tình huống giả định.</a:t>
            </a:r>
            <a:endParaRPr lang="en-US" sz="1800" dirty="0"/>
          </a:p>
          <a:p>
            <a:pPr algn="l" marL="203200" indent="-203200">
              <a:lnSpc>
                <a:spcPct val="108000"/>
              </a:lnSpc>
              <a:spcAft>
                <a:spcPts val="1000"/>
              </a:spcAft>
              <a:buSzPct val="100000"/>
              <a:buChar char="▪"/>
            </a:pPr>
            <a:r>
              <a:rPr lang="en-US" sz="1800" dirty="0">
                <a:solidFill>
                  <a:srgbClr val="222B33"/>
                </a:solidFill>
                <a:latin typeface="Calibri" pitchFamily="34" charset="0"/>
                <a:ea typeface="Calibri" pitchFamily="34" charset="-122"/>
                <a:cs typeface="Calibri" pitchFamily="34" charset="-120"/>
              </a:rPr>
              <a:t>Chuyển tiếp sang hoạt động khác: Thuyết trình → Minh họa trên máy → Thực hành ngay; chu kỳ không quá 20 phút.</a:t>
            </a:r>
            <a:endParaRPr lang="en-US" sz="1800" dirty="0"/>
          </a:p>
        </p:txBody>
      </p:sp>
      <p:sp>
        <p:nvSpPr>
          <p:cNvPr id="6" name="Text 4"/>
          <p:cNvSpPr/>
          <p:nvPr/>
        </p:nvSpPr>
        <p:spPr>
          <a:xfrm>
            <a:off x="502920" y="5989320"/>
            <a:ext cx="11155680" cy="411480"/>
          </a:xfrm>
          <a:prstGeom prst="rect">
            <a:avLst/>
          </a:prstGeom>
          <a:noFill/>
          <a:ln/>
        </p:spPr>
        <p:txBody>
          <a:bodyPr wrap="square" rtlCol="0" anchor="ctr"/>
          <a:lstStyle/>
          <a:p>
            <a:pPr indent="0" marL="0">
              <a:buNone/>
            </a:pPr>
            <a:r>
              <a:rPr lang="en-US" sz="1250" b="1" i="1" dirty="0">
                <a:solidFill>
                  <a:srgbClr val="C1571A"/>
                </a:solidFill>
                <a:latin typeface="Calibri" pitchFamily="34" charset="0"/>
                <a:ea typeface="Calibri" pitchFamily="34" charset="-122"/>
                <a:cs typeface="Calibri" pitchFamily="34" charset="-120"/>
              </a:rPr>
              <a:t>Lỗi sư phạm phổ biến nhất: thuyết trình liên tục cả tiết học lý thuyết Tin học.</a:t>
            </a:r>
            <a:endParaRPr lang="en-US" sz="1250" dirty="0"/>
          </a:p>
        </p:txBody>
      </p:sp>
      <p:sp>
        <p:nvSpPr>
          <p:cNvPr id="7" name="Text 5"/>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8" name="Text 6"/>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3.3.1</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Thuyết trình hiệu quả và không hiệu quả</a:t>
            </a:r>
            <a:endParaRPr lang="en-US" sz="30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11155680" cy="914400"/>
        </p:xfrm>
        <a:graphic>
          <a:graphicData uri="http://schemas.openxmlformats.org/drawingml/2006/table">
            <a:tbl>
              <a:tblPr/>
              <a:tblGrid>
                <a:gridCol w="5577840"/>
                <a:gridCol w="5577840"/>
              </a:tblGrid>
              <a:tr h="457200">
                <a:tc>
                  <a:txBody>
                    <a:bodyPr/>
                    <a:lstStyle/>
                    <a:p>
                      <a:pPr algn="l" indent="0" marL="0">
                        <a:buNone/>
                      </a:pPr>
                      <a:r>
                        <a:rPr lang="en-US" sz="1550" b="1" dirty="0">
                          <a:solidFill>
                            <a:srgbClr val="FFFFFF"/>
                          </a:solidFill>
                          <a:latin typeface="Calibri" pitchFamily="34" charset="0"/>
                          <a:ea typeface="Calibri" pitchFamily="34" charset="-122"/>
                          <a:cs typeface="Calibri" pitchFamily="34" charset="-120"/>
                        </a:rPr>
                        <a:t>Không hiệu quả</a:t>
                      </a:r>
                      <a:endParaRPr lang="en-US" sz="15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550" b="1" dirty="0">
                          <a:solidFill>
                            <a:srgbClr val="FFFFFF"/>
                          </a:solidFill>
                          <a:latin typeface="Calibri" pitchFamily="34" charset="0"/>
                          <a:ea typeface="Calibri" pitchFamily="34" charset="-122"/>
                          <a:cs typeface="Calibri" pitchFamily="34" charset="-120"/>
                        </a:rPr>
                        <a:t>Hiệu quả</a:t>
                      </a:r>
                      <a:endParaRPr lang="en-US" sz="15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832104">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Đọc lại nội dung trên slide</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Slide chỉ là khung; GV giải thích, bổ sung</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832104">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Không có ví dụ minh họa</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Mỗi khái niệm có ít nhất một ví dụ</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832104">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Nói liên tục 30–45 phút</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Dừng đặt câu hỏi sau mỗi 7–10 phút</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832104">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Không kiểm tra HS có hiểu không</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Có điểm kiểm tra nhanh xen kẽ</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832104">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Không kết nối với thực hành</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Kết thúc là có thể thực hành ngay</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bl>
          </a:graphicData>
        </a:graphic>
      </p:graphicFrame>
      <p:sp>
        <p:nvSpPr>
          <p:cNvPr id="6" name="Text 3"/>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7" name="Text 4"/>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3.3.2</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Vấn đáp và đàm thoại — bốn loại theo mục đích</a:t>
            </a:r>
            <a:endParaRPr lang="en-US" sz="30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650" b="1" dirty="0">
                <a:solidFill>
                  <a:srgbClr val="222B33"/>
                </a:solidFill>
                <a:latin typeface="Calibri" pitchFamily="34" charset="0"/>
                <a:ea typeface="Calibri" pitchFamily="34" charset="-122"/>
                <a:cs typeface="Calibri" pitchFamily="34" charset="-120"/>
              </a:rPr>
              <a:t>Vấn đáp kiểm tra (tái hiện): kiểm tra kiến thức cũ, câu hỏi đóng.</a:t>
            </a:r>
            <a:endParaRPr lang="en-US" sz="1650" dirty="0"/>
          </a:p>
          <a:p>
            <a:pPr algn="l" lvl="1" marL="457200" indent="-228600">
              <a:lnSpc>
                <a:spcPct val="108000"/>
              </a:lnSpc>
              <a:spcAft>
                <a:spcPts val="600"/>
              </a:spcAft>
              <a:buSzPct val="100000"/>
              <a:buChar char="–"/>
            </a:pPr>
            <a:r>
              <a:rPr lang="en-US" sz="1450" dirty="0">
                <a:solidFill>
                  <a:srgbClr val="5B6B79"/>
                </a:solidFill>
                <a:latin typeface="Calibri" pitchFamily="34" charset="0"/>
                <a:ea typeface="Calibri" pitchFamily="34" charset="-122"/>
                <a:cs typeface="Calibri" pitchFamily="34" charset="-120"/>
              </a:rPr>
              <a:t>VD: “Cú pháp của lệnh for trong Python là gì?”</a:t>
            </a:r>
            <a:endParaRPr lang="en-US" sz="1650" dirty="0"/>
          </a:p>
          <a:p>
            <a:pPr algn="l" marL="203200" indent="-203200">
              <a:lnSpc>
                <a:spcPct val="108000"/>
              </a:lnSpc>
              <a:spcAft>
                <a:spcPts val="1000"/>
              </a:spcAft>
              <a:buSzPct val="100000"/>
              <a:buChar char="▪"/>
            </a:pPr>
            <a:r>
              <a:rPr lang="en-US" sz="1650" b="1" dirty="0">
                <a:solidFill>
                  <a:srgbClr val="222B33"/>
                </a:solidFill>
                <a:latin typeface="Calibri" pitchFamily="34" charset="0"/>
                <a:ea typeface="Calibri" pitchFamily="34" charset="-122"/>
                <a:cs typeface="Calibri" pitchFamily="34" charset="-120"/>
              </a:rPr>
              <a:t>Vấn đáp dẫn dắt (ơristic): chuỗi câu hỏi từ đơn giản đến phức tạp, giá trị sư phạm cao nhất.</a:t>
            </a:r>
            <a:endParaRPr lang="en-US" sz="1650" dirty="0"/>
          </a:p>
          <a:p>
            <a:pPr algn="l" lvl="1" marL="457200" indent="-228600">
              <a:lnSpc>
                <a:spcPct val="108000"/>
              </a:lnSpc>
              <a:spcAft>
                <a:spcPts val="600"/>
              </a:spcAft>
              <a:buSzPct val="100000"/>
              <a:buChar char="–"/>
            </a:pPr>
            <a:r>
              <a:rPr lang="en-US" sz="1450" dirty="0">
                <a:solidFill>
                  <a:srgbClr val="5B6B79"/>
                </a:solidFill>
                <a:latin typeface="Calibri" pitchFamily="34" charset="0"/>
                <a:ea typeface="Calibri" pitchFamily="34" charset="-122"/>
                <a:cs typeface="Calibri" pitchFamily="34" charset="-120"/>
              </a:rPr>
              <a:t>VD: dẫn dắt khái niệm vòng lặp từ “in 5 lần” đến “in 100 lần — có cách nào viết ít hơn?”</a:t>
            </a:r>
            <a:endParaRPr lang="en-US" sz="1650" dirty="0"/>
          </a:p>
          <a:p>
            <a:pPr algn="l" marL="203200" indent="-203200">
              <a:lnSpc>
                <a:spcPct val="108000"/>
              </a:lnSpc>
              <a:spcAft>
                <a:spcPts val="1000"/>
              </a:spcAft>
              <a:buSzPct val="100000"/>
              <a:buChar char="▪"/>
            </a:pPr>
            <a:r>
              <a:rPr lang="en-US" sz="1650" b="1" dirty="0">
                <a:solidFill>
                  <a:srgbClr val="222B33"/>
                </a:solidFill>
                <a:latin typeface="Calibri" pitchFamily="34" charset="0"/>
                <a:ea typeface="Calibri" pitchFamily="34" charset="-122"/>
                <a:cs typeface="Calibri" pitchFamily="34" charset="-120"/>
              </a:rPr>
              <a:t>Vấn đáp củng cố: tổng kết, kết nối, so sánh, khái quát hóa.</a:t>
            </a:r>
            <a:endParaRPr lang="en-US" sz="1650" dirty="0"/>
          </a:p>
          <a:p>
            <a:pPr algn="l" lvl="1" marL="457200" indent="-228600">
              <a:lnSpc>
                <a:spcPct val="108000"/>
              </a:lnSpc>
              <a:spcAft>
                <a:spcPts val="600"/>
              </a:spcAft>
              <a:buSzPct val="100000"/>
              <a:buChar char="–"/>
            </a:pPr>
            <a:r>
              <a:rPr lang="en-US" sz="1450" dirty="0">
                <a:solidFill>
                  <a:srgbClr val="5B6B79"/>
                </a:solidFill>
                <a:latin typeface="Calibri" pitchFamily="34" charset="0"/>
                <a:ea typeface="Calibri" pitchFamily="34" charset="-122"/>
                <a:cs typeface="Calibri" pitchFamily="34" charset="-120"/>
              </a:rPr>
              <a:t>VD: “Khác biệt giữa for và while? Khi nào dùng cái nào?”</a:t>
            </a:r>
            <a:endParaRPr lang="en-US" sz="1650" dirty="0"/>
          </a:p>
          <a:p>
            <a:pPr algn="l" marL="203200" indent="-203200">
              <a:lnSpc>
                <a:spcPct val="108000"/>
              </a:lnSpc>
              <a:spcAft>
                <a:spcPts val="1000"/>
              </a:spcAft>
              <a:buSzPct val="100000"/>
              <a:buChar char="▪"/>
            </a:pPr>
            <a:r>
              <a:rPr lang="en-US" sz="1650" b="1" dirty="0">
                <a:solidFill>
                  <a:srgbClr val="222B33"/>
                </a:solidFill>
                <a:latin typeface="Calibri" pitchFamily="34" charset="0"/>
                <a:ea typeface="Calibri" pitchFamily="34" charset="-122"/>
                <a:cs typeface="Calibri" pitchFamily="34" charset="-120"/>
              </a:rPr>
              <a:t>Vấn đáp phát triển (Socratic): kích thích tư duy phản biện, yêu cầu lý giải, phản bác.</a:t>
            </a:r>
            <a:endParaRPr lang="en-US" sz="1650" dirty="0"/>
          </a:p>
          <a:p>
            <a:pPr algn="l" lvl="1" marL="457200" indent="-228600">
              <a:lnSpc>
                <a:spcPct val="108000"/>
              </a:lnSpc>
              <a:spcAft>
                <a:spcPts val="600"/>
              </a:spcAft>
              <a:buSzPct val="100000"/>
              <a:buChar char="–"/>
            </a:pPr>
            <a:r>
              <a:rPr lang="en-US" sz="1450" dirty="0">
                <a:solidFill>
                  <a:srgbClr val="5B6B79"/>
                </a:solidFill>
                <a:latin typeface="Calibri" pitchFamily="34" charset="0"/>
                <a:ea typeface="Calibri" pitchFamily="34" charset="-122"/>
                <a:cs typeface="Calibri" pitchFamily="34" charset="-120"/>
              </a:rPr>
              <a:t>VD: “Thử thuật toán đó với danh sách rỗng xem.”</a:t>
            </a:r>
            <a:endParaRPr lang="en-US" sz="1650" dirty="0"/>
          </a:p>
        </p:txBody>
      </p:sp>
      <p:sp>
        <p:nvSpPr>
          <p:cNvPr id="6" name="Text 4"/>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3.3.2</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Kỹ thuật đặt câu hỏi hiệu quả</a:t>
            </a:r>
            <a:endParaRPr lang="en-US" sz="30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800" dirty="0">
                <a:solidFill>
                  <a:srgbClr val="222B33"/>
                </a:solidFill>
                <a:latin typeface="Calibri" pitchFamily="34" charset="0"/>
                <a:ea typeface="Calibri" pitchFamily="34" charset="-122"/>
                <a:cs typeface="Calibri" pitchFamily="34" charset="-120"/>
              </a:rPr>
              <a:t>Chất lượng câu hỏi: rõ ràng, cụ thể; kết hợp câu hỏi đóng và mở; theo các mức Bloom.</a:t>
            </a:r>
            <a:endParaRPr lang="en-US" sz="1800" dirty="0"/>
          </a:p>
          <a:p>
            <a:pPr algn="l" marL="203200" indent="-203200">
              <a:lnSpc>
                <a:spcPct val="108000"/>
              </a:lnSpc>
              <a:spcAft>
                <a:spcPts val="1000"/>
              </a:spcAft>
              <a:buSzPct val="100000"/>
              <a:buChar char="▪"/>
            </a:pPr>
            <a:r>
              <a:rPr lang="en-US" sz="1800" dirty="0">
                <a:solidFill>
                  <a:srgbClr val="222B33"/>
                </a:solidFill>
                <a:latin typeface="Calibri" pitchFamily="34" charset="0"/>
                <a:ea typeface="Calibri" pitchFamily="34" charset="-122"/>
                <a:cs typeface="Calibri" pitchFamily="34" charset="-120"/>
              </a:rPr>
              <a:t>Thời gian chờ (Wait Time): đợi 3–5 giây trước khi gọi — Rowe (1986): tăng từ 1→3 giây cải thiện rõ chất lượng trả lời.</a:t>
            </a:r>
            <a:endParaRPr lang="en-US" sz="1800" dirty="0"/>
          </a:p>
          <a:p>
            <a:pPr algn="l" marL="203200" indent="-203200">
              <a:lnSpc>
                <a:spcPct val="108000"/>
              </a:lnSpc>
              <a:spcAft>
                <a:spcPts val="1000"/>
              </a:spcAft>
              <a:buSzPct val="100000"/>
              <a:buChar char="▪"/>
            </a:pPr>
            <a:r>
              <a:rPr lang="en-US" sz="1800" dirty="0">
                <a:solidFill>
                  <a:srgbClr val="222B33"/>
                </a:solidFill>
                <a:latin typeface="Calibri" pitchFamily="34" charset="0"/>
                <a:ea typeface="Calibri" pitchFamily="34" charset="-122"/>
                <a:cs typeface="Calibri" pitchFamily="34" charset="-120"/>
              </a:rPr>
              <a:t>Gọi đa dạng: không chỉ gọi HS giơ tay nhanh nhất; gọi ngẫu nhiên, gọi HS yếu với câu hỏi phù hợp.</a:t>
            </a:r>
            <a:endParaRPr lang="en-US" sz="1800" dirty="0"/>
          </a:p>
          <a:p>
            <a:pPr algn="l" marL="203200" indent="-203200">
              <a:lnSpc>
                <a:spcPct val="108000"/>
              </a:lnSpc>
              <a:spcAft>
                <a:spcPts val="1000"/>
              </a:spcAft>
              <a:buSzPct val="100000"/>
              <a:buChar char="▪"/>
            </a:pPr>
            <a:r>
              <a:rPr lang="en-US" sz="1800" dirty="0">
                <a:solidFill>
                  <a:srgbClr val="222B33"/>
                </a:solidFill>
                <a:latin typeface="Calibri" pitchFamily="34" charset="0"/>
                <a:ea typeface="Calibri" pitchFamily="34" charset="-122"/>
                <a:cs typeface="Calibri" pitchFamily="34" charset="-120"/>
              </a:rPr>
              <a:t>Phản hồi xây dựng: không nói “Sai!” mà hỏi “Giải thích em nghĩ thế nào?”</a:t>
            </a:r>
            <a:endParaRPr lang="en-US" sz="1800" dirty="0"/>
          </a:p>
          <a:p>
            <a:pPr algn="l" marL="203200" indent="-203200">
              <a:lnSpc>
                <a:spcPct val="108000"/>
              </a:lnSpc>
              <a:spcAft>
                <a:spcPts val="1000"/>
              </a:spcAft>
              <a:buSzPct val="100000"/>
              <a:buChar char="▪"/>
            </a:pPr>
            <a:r>
              <a:rPr lang="en-US" sz="1800" dirty="0">
                <a:solidFill>
                  <a:srgbClr val="222B33"/>
                </a:solidFill>
                <a:latin typeface="Calibri" pitchFamily="34" charset="0"/>
                <a:ea typeface="Calibri" pitchFamily="34" charset="-122"/>
                <a:cs typeface="Calibri" pitchFamily="34" charset="-120"/>
              </a:rPr>
              <a:t>Kỹ thuật “Bouncing”: chuyển câu hỏi sang HS khác thay vì kết luận ngay.</a:t>
            </a:r>
            <a:endParaRPr lang="en-US" sz="1800" dirty="0"/>
          </a:p>
        </p:txBody>
      </p:sp>
      <p:sp>
        <p:nvSpPr>
          <p:cNvPr id="6" name="Text 4"/>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3.3.2</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Câu hỏi theo thang Bloom trong Tin học</a:t>
            </a:r>
            <a:endParaRPr lang="en-US" sz="30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11155680" cy="914400"/>
        </p:xfrm>
        <a:graphic>
          <a:graphicData uri="http://schemas.openxmlformats.org/drawingml/2006/table">
            <a:tbl>
              <a:tblPr/>
              <a:tblGrid>
                <a:gridCol w="2377440"/>
                <a:gridCol w="8778240"/>
              </a:tblGrid>
              <a:tr h="457200">
                <a:tc>
                  <a:txBody>
                    <a:bodyPr/>
                    <a:lstStyle/>
                    <a:p>
                      <a:pPr algn="l" indent="0" marL="0">
                        <a:buNone/>
                      </a:pPr>
                      <a:r>
                        <a:rPr lang="en-US" sz="1550" b="1" dirty="0">
                          <a:solidFill>
                            <a:srgbClr val="FFFFFF"/>
                          </a:solidFill>
                          <a:latin typeface="Calibri" pitchFamily="34" charset="0"/>
                          <a:ea typeface="Calibri" pitchFamily="34" charset="-122"/>
                          <a:cs typeface="Calibri" pitchFamily="34" charset="-120"/>
                        </a:rPr>
                        <a:t>Mức Bloom</a:t>
                      </a:r>
                      <a:endParaRPr lang="en-US" sz="15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550" b="1" dirty="0">
                          <a:solidFill>
                            <a:srgbClr val="FFFFFF"/>
                          </a:solidFill>
                          <a:latin typeface="Calibri" pitchFamily="34" charset="0"/>
                          <a:ea typeface="Calibri" pitchFamily="34" charset="-122"/>
                          <a:cs typeface="Calibri" pitchFamily="34" charset="-120"/>
                        </a:rPr>
                        <a:t>Ví dụ trong Tin học</a:t>
                      </a:r>
                      <a:endParaRPr lang="en-US" sz="15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647700">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Nhớ</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Cú pháp của lệnh if trong Python?</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647700">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Hiểu</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Vòng lặp while hoạt động như thế nào?</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647700">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Vận dụng</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Viết chương trình kiểm tra một số có phải số chẵn</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647700">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Phân tích</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Tại sao đoạn code này chạy vô hạn?</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647700">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Đánh giá</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Thuật toán nào hiệu quả hơn cho dữ liệu lớn?</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647700">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Sáng tạo</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Thiết kế một thuật toán khác giải quyết bài toán này</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bl>
          </a:graphicData>
        </a:graphic>
      </p:graphicFrame>
      <p:sp>
        <p:nvSpPr>
          <p:cNvPr id="6" name="Text 3"/>
          <p:cNvSpPr/>
          <p:nvPr/>
        </p:nvSpPr>
        <p:spPr>
          <a:xfrm>
            <a:off x="502920" y="6291072"/>
            <a:ext cx="11155680" cy="365760"/>
          </a:xfrm>
          <a:prstGeom prst="rect">
            <a:avLst/>
          </a:prstGeom>
          <a:noFill/>
          <a:ln/>
        </p:spPr>
        <p:txBody>
          <a:bodyPr wrap="square" rtlCol="0" anchor="ctr"/>
          <a:lstStyle/>
          <a:p>
            <a:pPr indent="0" marL="0">
              <a:buNone/>
            </a:pPr>
            <a:r>
              <a:rPr lang="en-US" sz="1200" i="1" dirty="0">
                <a:solidFill>
                  <a:srgbClr val="5B6B79"/>
                </a:solidFill>
                <a:latin typeface="Calibri" pitchFamily="34" charset="0"/>
                <a:ea typeface="Calibri" pitchFamily="34" charset="-122"/>
                <a:cs typeface="Calibri" pitchFamily="34" charset="-120"/>
              </a:rPr>
              <a:t>Ứng dụng theo tiết dạy: đầu tiết (tái hiện+vận dụng nhỏ) → hình thành KT mới (dẫn dắt) → thực hành (hỗ trợ lỗi) → cuối tiết (củng cố).</a:t>
            </a:r>
            <a:endParaRPr lang="en-US" sz="1200" dirty="0"/>
          </a:p>
        </p:txBody>
      </p:sp>
      <p:sp>
        <p:nvSpPr>
          <p:cNvPr id="7" name="Text 4"/>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8"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3.3.3</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Minh họa trong dạy học Tin học</a:t>
            </a:r>
            <a:endParaRPr lang="en-US" sz="30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750" dirty="0">
                <a:solidFill>
                  <a:srgbClr val="222B33"/>
                </a:solidFill>
                <a:latin typeface="Calibri" pitchFamily="34" charset="0"/>
                <a:ea typeface="Calibri" pitchFamily="34" charset="-122"/>
                <a:cs typeface="Calibri" pitchFamily="34" charset="-120"/>
              </a:rPr>
              <a:t>Nguyên lý trực quan: HS hiểu và ghi nhớ tốt hơn khi được thấy — nhiều khái niệm (dữ liệu trong bộ nhớ, luồng thực thi, gói tin mạng) vô hình nếu không trực quan hóa.</a:t>
            </a:r>
            <a:endParaRPr lang="en-US" sz="1750" dirty="0"/>
          </a:p>
          <a:p>
            <a:pPr algn="l" marL="203200" indent="-203200">
              <a:lnSpc>
                <a:spcPct val="108000"/>
              </a:lnSpc>
              <a:spcAft>
                <a:spcPts val="1000"/>
              </a:spcAft>
              <a:buSzPct val="100000"/>
              <a:buChar char="▪"/>
            </a:pPr>
            <a:r>
              <a:rPr lang="en-US" sz="1750" dirty="0">
                <a:solidFill>
                  <a:srgbClr val="222B33"/>
                </a:solidFill>
                <a:latin typeface="Calibri" pitchFamily="34" charset="0"/>
                <a:ea typeface="Calibri" pitchFamily="34" charset="-122"/>
                <a:cs typeface="Calibri" pitchFamily="34" charset="-120"/>
              </a:rPr>
              <a:t>Hình ảnh tĩnh: sơ đồ khối thuật toán, sơ đồ mạng/kiến trúc hệ thống, bảng so sánh.</a:t>
            </a:r>
            <a:endParaRPr lang="en-US" sz="1750" dirty="0"/>
          </a:p>
          <a:p>
            <a:pPr algn="l" marL="203200" indent="-203200">
              <a:lnSpc>
                <a:spcPct val="108000"/>
              </a:lnSpc>
              <a:spcAft>
                <a:spcPts val="1000"/>
              </a:spcAft>
              <a:buSzPct val="100000"/>
              <a:buChar char="▪"/>
            </a:pPr>
            <a:r>
              <a:rPr lang="en-US" sz="1750" dirty="0">
                <a:solidFill>
                  <a:srgbClr val="222B33"/>
                </a:solidFill>
                <a:latin typeface="Calibri" pitchFamily="34" charset="0"/>
                <a:ea typeface="Calibri" pitchFamily="34" charset="-122"/>
                <a:cs typeface="Calibri" pitchFamily="34" charset="-120"/>
              </a:rPr>
              <a:t>Animation &amp; mô phỏng: video minh họa thuật toán sắp xếp từng bước (VisuAlgo.net); mô phỏng gói tin qua mạng.</a:t>
            </a:r>
            <a:endParaRPr lang="en-US" sz="1750" dirty="0"/>
          </a:p>
          <a:p>
            <a:pPr algn="l" marL="203200" indent="-203200">
              <a:lnSpc>
                <a:spcPct val="108000"/>
              </a:lnSpc>
              <a:spcAft>
                <a:spcPts val="1000"/>
              </a:spcAft>
              <a:buSzPct val="100000"/>
              <a:buChar char="▪"/>
            </a:pPr>
            <a:r>
              <a:rPr lang="en-US" sz="1750" dirty="0">
                <a:solidFill>
                  <a:srgbClr val="222B33"/>
                </a:solidFill>
                <a:latin typeface="Calibri" pitchFamily="34" charset="0"/>
                <a:ea typeface="Calibri" pitchFamily="34" charset="-122"/>
                <a:cs typeface="Calibri" pitchFamily="34" charset="-120"/>
              </a:rPr>
              <a:t>Mô hình vật lý: dùng thẻ bài, HS xếp hàng mô phỏng sắp xếp (“Tin học không cần máy tính” — CS Unplugged).</a:t>
            </a:r>
            <a:endParaRPr lang="en-US" sz="1750" dirty="0"/>
          </a:p>
          <a:p>
            <a:pPr algn="l" marL="203200" indent="-203200">
              <a:lnSpc>
                <a:spcPct val="108000"/>
              </a:lnSpc>
              <a:spcAft>
                <a:spcPts val="1000"/>
              </a:spcAft>
              <a:buSzPct val="100000"/>
              <a:buChar char="▪"/>
            </a:pPr>
            <a:r>
              <a:rPr lang="en-US" sz="1750" dirty="0">
                <a:solidFill>
                  <a:srgbClr val="222B33"/>
                </a:solidFill>
                <a:latin typeface="Calibri" pitchFamily="34" charset="0"/>
                <a:ea typeface="Calibri" pitchFamily="34" charset="-122"/>
                <a:cs typeface="Calibri" pitchFamily="34" charset="-120"/>
              </a:rPr>
              <a:t>Live Coding: GV viết code trực tiếp, kể cả mắc lỗi và sửa lỗi trước lớp — hình thức đặc trưng nhất.</a:t>
            </a:r>
            <a:endParaRPr lang="en-US" sz="1750" dirty="0"/>
          </a:p>
        </p:txBody>
      </p:sp>
      <p:sp>
        <p:nvSpPr>
          <p:cNvPr id="6" name="Text 4"/>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3.3.3</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Live Coding — giá trị và nguyên tắc</a:t>
            </a:r>
            <a:endParaRPr lang="en-US" sz="30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900" b="1" dirty="0">
                <a:solidFill>
                  <a:srgbClr val="222B33"/>
                </a:solidFill>
                <a:latin typeface="Calibri" pitchFamily="34" charset="0"/>
                <a:ea typeface="Calibri" pitchFamily="34" charset="-122"/>
                <a:cs typeface="Calibri" pitchFamily="34" charset="-120"/>
              </a:rPr>
              <a:t>Giá trị sư phạm:</a:t>
            </a:r>
            <a:endParaRPr lang="en-US" sz="1900" dirty="0"/>
          </a:p>
          <a:p>
            <a:pPr algn="l" lvl="1" marL="457200" indent="-228600">
              <a:lnSpc>
                <a:spcPct val="108000"/>
              </a:lnSpc>
              <a:spcAft>
                <a:spcPts val="600"/>
              </a:spcAft>
              <a:buSzPct val="100000"/>
              <a:buChar char="–"/>
            </a:pPr>
            <a:r>
              <a:rPr lang="en-US" sz="1700" dirty="0">
                <a:solidFill>
                  <a:srgbClr val="5B6B79"/>
                </a:solidFill>
                <a:latin typeface="Calibri" pitchFamily="34" charset="0"/>
                <a:ea typeface="Calibri" pitchFamily="34" charset="-122"/>
                <a:cs typeface="Calibri" pitchFamily="34" charset="-120"/>
              </a:rPr>
              <a:t>HS thấy quá trình tư duy, không chỉ kết quả; học cách debug qua lỗi thật; cảm giác chân thực về lập trình.</a:t>
            </a:r>
            <a:endParaRPr lang="en-US" sz="1900" dirty="0"/>
          </a:p>
          <a:p>
            <a:pPr algn="l" marL="203200" indent="-203200">
              <a:lnSpc>
                <a:spcPct val="108000"/>
              </a:lnSpc>
              <a:spcAft>
                <a:spcPts val="1000"/>
              </a:spcAft>
              <a:buSzPct val="100000"/>
              <a:buChar char="▪"/>
            </a:pPr>
            <a:r>
              <a:rPr lang="en-US" sz="1900" b="1" dirty="0">
                <a:solidFill>
                  <a:srgbClr val="222B33"/>
                </a:solidFill>
                <a:latin typeface="Calibri" pitchFamily="34" charset="0"/>
                <a:ea typeface="Calibri" pitchFamily="34" charset="-122"/>
                <a:cs typeface="Calibri" pitchFamily="34" charset="-120"/>
              </a:rPr>
              <a:t>Nguyên tắc thực hiện hiệu quả:</a:t>
            </a:r>
            <a:endParaRPr lang="en-US" sz="1900" dirty="0"/>
          </a:p>
          <a:p>
            <a:pPr algn="l" lvl="1" marL="457200" indent="-228600">
              <a:lnSpc>
                <a:spcPct val="108000"/>
              </a:lnSpc>
              <a:spcAft>
                <a:spcPts val="600"/>
              </a:spcAft>
              <a:buSzPct val="100000"/>
              <a:buChar char="–"/>
            </a:pPr>
            <a:r>
              <a:rPr lang="en-US" sz="1700" dirty="0">
                <a:solidFill>
                  <a:srgbClr val="5B6B79"/>
                </a:solidFill>
                <a:latin typeface="Calibri" pitchFamily="34" charset="0"/>
                <a:ea typeface="Calibri" pitchFamily="34" charset="-122"/>
                <a:cs typeface="Calibri" pitchFamily="34" charset="-120"/>
              </a:rPr>
              <a:t>Gõ chậm hơn bình thường, giải thích từng dòng.</a:t>
            </a:r>
            <a:endParaRPr lang="en-US" sz="1900" dirty="0"/>
          </a:p>
          <a:p>
            <a:pPr algn="l" lvl="1" marL="457200" indent="-228600">
              <a:lnSpc>
                <a:spcPct val="108000"/>
              </a:lnSpc>
              <a:spcAft>
                <a:spcPts val="600"/>
              </a:spcAft>
              <a:buSzPct val="100000"/>
              <a:buChar char="–"/>
            </a:pPr>
            <a:r>
              <a:rPr lang="en-US" sz="1700" dirty="0">
                <a:solidFill>
                  <a:srgbClr val="5B6B79"/>
                </a:solidFill>
                <a:latin typeface="Calibri" pitchFamily="34" charset="0"/>
                <a:ea typeface="Calibri" pitchFamily="34" charset="-122"/>
                <a:cs typeface="Calibri" pitchFamily="34" charset="-120"/>
              </a:rPr>
              <a:t>Hỏi trước khi gõ: “Theo em, dòng tiếp theo cần làm gì?”</a:t>
            </a:r>
            <a:endParaRPr lang="en-US" sz="1900" dirty="0"/>
          </a:p>
          <a:p>
            <a:pPr algn="l" lvl="1" marL="457200" indent="-228600">
              <a:lnSpc>
                <a:spcPct val="108000"/>
              </a:lnSpc>
              <a:spcAft>
                <a:spcPts val="600"/>
              </a:spcAft>
              <a:buSzPct val="100000"/>
              <a:buChar char="–"/>
            </a:pPr>
            <a:r>
              <a:rPr lang="en-US" sz="1700" dirty="0">
                <a:solidFill>
                  <a:srgbClr val="5B6B79"/>
                </a:solidFill>
                <a:latin typeface="Calibri" pitchFamily="34" charset="0"/>
                <a:ea typeface="Calibri" pitchFamily="34" charset="-122"/>
                <a:cs typeface="Calibri" pitchFamily="34" charset="-120"/>
              </a:rPr>
              <a:t>Không copy-paste — gõ tay để HS thấy cú pháp hình thành.</a:t>
            </a:r>
            <a:endParaRPr lang="en-US" sz="1900" dirty="0"/>
          </a:p>
          <a:p>
            <a:pPr algn="l" lvl="1" marL="457200" indent="-228600">
              <a:lnSpc>
                <a:spcPct val="108000"/>
              </a:lnSpc>
              <a:spcAft>
                <a:spcPts val="600"/>
              </a:spcAft>
              <a:buSzPct val="100000"/>
              <a:buChar char="–"/>
            </a:pPr>
            <a:r>
              <a:rPr lang="en-US" sz="1700" dirty="0">
                <a:solidFill>
                  <a:srgbClr val="5B6B79"/>
                </a:solidFill>
                <a:latin typeface="Calibri" pitchFamily="34" charset="0"/>
                <a:ea typeface="Calibri" pitchFamily="34" charset="-122"/>
                <a:cs typeface="Calibri" pitchFamily="34" charset="-120"/>
              </a:rPr>
              <a:t>Khuyến khích HS “bắt lỗi” giáo viên.</a:t>
            </a:r>
            <a:endParaRPr lang="en-US" sz="1900" dirty="0"/>
          </a:p>
        </p:txBody>
      </p:sp>
      <p:sp>
        <p:nvSpPr>
          <p:cNvPr id="6" name="Text 4"/>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3.3.3</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Ba mức độ thực hành</a:t>
            </a:r>
            <a:endParaRPr lang="en-US" sz="30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900" b="1" dirty="0">
                <a:solidFill>
                  <a:srgbClr val="222B33"/>
                </a:solidFill>
                <a:latin typeface="Calibri" pitchFamily="34" charset="0"/>
                <a:ea typeface="Calibri" pitchFamily="34" charset="-122"/>
                <a:cs typeface="Calibri" pitchFamily="34" charset="-120"/>
              </a:rPr>
              <a:t>Mức 1 — Thực hành bắt chước (Imitative)</a:t>
            </a:r>
            <a:endParaRPr lang="en-US" sz="1900" dirty="0"/>
          </a:p>
          <a:p>
            <a:pPr algn="l" lvl="1" marL="457200" indent="-228600">
              <a:lnSpc>
                <a:spcPct val="108000"/>
              </a:lnSpc>
              <a:spcAft>
                <a:spcPts val="600"/>
              </a:spcAft>
              <a:buSzPct val="100000"/>
              <a:buChar char="–"/>
            </a:pPr>
            <a:r>
              <a:rPr lang="en-US" sz="1700" dirty="0">
                <a:solidFill>
                  <a:srgbClr val="5B6B79"/>
                </a:solidFill>
                <a:latin typeface="Calibri" pitchFamily="34" charset="0"/>
                <a:ea typeface="Calibri" pitchFamily="34" charset="-122"/>
                <a:cs typeface="Calibri" pitchFamily="34" charset="-120"/>
              </a:rPr>
              <a:t>HS làm lại đúng từng bước GV vừa minh họa. Không nên dừng ở đây quá lâu.</a:t>
            </a:r>
            <a:endParaRPr lang="en-US" sz="1900" dirty="0"/>
          </a:p>
          <a:p>
            <a:pPr algn="l" marL="203200" indent="-203200">
              <a:lnSpc>
                <a:spcPct val="108000"/>
              </a:lnSpc>
              <a:spcAft>
                <a:spcPts val="1000"/>
              </a:spcAft>
              <a:buSzPct val="100000"/>
              <a:buChar char="▪"/>
            </a:pPr>
            <a:r>
              <a:rPr lang="en-US" sz="1900" b="1" dirty="0">
                <a:solidFill>
                  <a:srgbClr val="222B33"/>
                </a:solidFill>
                <a:latin typeface="Calibri" pitchFamily="34" charset="0"/>
                <a:ea typeface="Calibri" pitchFamily="34" charset="-122"/>
                <a:cs typeface="Calibri" pitchFamily="34" charset="-120"/>
              </a:rPr>
              <a:t>Mức 2 — Thực hành có hướng dẫn (Guided)</a:t>
            </a:r>
            <a:endParaRPr lang="en-US" sz="1900" dirty="0"/>
          </a:p>
          <a:p>
            <a:pPr algn="l" lvl="1" marL="457200" indent="-228600">
              <a:lnSpc>
                <a:spcPct val="108000"/>
              </a:lnSpc>
              <a:spcAft>
                <a:spcPts val="600"/>
              </a:spcAft>
              <a:buSzPct val="100000"/>
              <a:buChar char="–"/>
            </a:pPr>
            <a:r>
              <a:rPr lang="en-US" sz="1700" dirty="0">
                <a:solidFill>
                  <a:srgbClr val="5B6B79"/>
                </a:solidFill>
                <a:latin typeface="Calibri" pitchFamily="34" charset="0"/>
                <a:ea typeface="Calibri" pitchFamily="34" charset="-122"/>
                <a:cs typeface="Calibri" pitchFamily="34" charset="-120"/>
              </a:rPr>
              <a:t>Yêu cầu rõ ràng nhưng không có mẫu để chép; có phiếu hỗ trợ nhưng HS tự quyết định cách làm.</a:t>
            </a:r>
            <a:endParaRPr lang="en-US" sz="1900" dirty="0"/>
          </a:p>
          <a:p>
            <a:pPr algn="l" marL="203200" indent="-203200">
              <a:lnSpc>
                <a:spcPct val="108000"/>
              </a:lnSpc>
              <a:spcAft>
                <a:spcPts val="1000"/>
              </a:spcAft>
              <a:buSzPct val="100000"/>
              <a:buChar char="▪"/>
            </a:pPr>
            <a:r>
              <a:rPr lang="en-US" sz="1900" b="1" dirty="0">
                <a:solidFill>
                  <a:srgbClr val="222B33"/>
                </a:solidFill>
                <a:latin typeface="Calibri" pitchFamily="34" charset="0"/>
                <a:ea typeface="Calibri" pitchFamily="34" charset="-122"/>
                <a:cs typeface="Calibri" pitchFamily="34" charset="-120"/>
              </a:rPr>
              <a:t>Mức 3 — Thực hành độc lập (Independent)</a:t>
            </a:r>
            <a:endParaRPr lang="en-US" sz="1900" dirty="0"/>
          </a:p>
          <a:p>
            <a:pPr algn="l" lvl="1" marL="457200" indent="-228600">
              <a:lnSpc>
                <a:spcPct val="108000"/>
              </a:lnSpc>
              <a:spcAft>
                <a:spcPts val="600"/>
              </a:spcAft>
              <a:buSzPct val="100000"/>
              <a:buChar char="–"/>
            </a:pPr>
            <a:r>
              <a:rPr lang="en-US" sz="1700" dirty="0">
                <a:solidFill>
                  <a:srgbClr val="5B6B79"/>
                </a:solidFill>
                <a:latin typeface="Calibri" pitchFamily="34" charset="0"/>
                <a:ea typeface="Calibri" pitchFamily="34" charset="-122"/>
                <a:cs typeface="Calibri" pitchFamily="34" charset="-120"/>
              </a:rPr>
              <a:t>HS tự phân tích, thiết kế thuật toán, viết code, kiểm thử — không có hướng dẫn chi tiết.</a:t>
            </a:r>
            <a:endParaRPr lang="en-US" sz="1900" dirty="0"/>
          </a:p>
        </p:txBody>
      </p:sp>
      <p:sp>
        <p:nvSpPr>
          <p:cNvPr id="6" name="Text 4"/>
          <p:cNvSpPr/>
          <p:nvPr/>
        </p:nvSpPr>
        <p:spPr>
          <a:xfrm>
            <a:off x="502920" y="5989320"/>
            <a:ext cx="11155680" cy="411480"/>
          </a:xfrm>
          <a:prstGeom prst="rect">
            <a:avLst/>
          </a:prstGeom>
          <a:noFill/>
          <a:ln/>
        </p:spPr>
        <p:txBody>
          <a:bodyPr wrap="square" rtlCol="0" anchor="ctr"/>
          <a:lstStyle/>
          <a:p>
            <a:pPr indent="0" marL="0">
              <a:buNone/>
            </a:pPr>
            <a:r>
              <a:rPr lang="en-US" sz="1250" b="1" i="1" dirty="0">
                <a:solidFill>
                  <a:srgbClr val="C1571A"/>
                </a:solidFill>
                <a:latin typeface="Calibri" pitchFamily="34" charset="0"/>
                <a:ea typeface="Calibri" pitchFamily="34" charset="-122"/>
                <a:cs typeface="Calibri" pitchFamily="34" charset="-120"/>
              </a:rPr>
              <a:t>“Learning by Doing”: hiểu lý thuyết về vòng lặp không đồng nghĩa biết viết vòng lặp đúng nếu chưa tự tay thực hành.</a:t>
            </a:r>
            <a:endParaRPr lang="en-US" sz="1250" dirty="0"/>
          </a:p>
        </p:txBody>
      </p:sp>
      <p:sp>
        <p:nvSpPr>
          <p:cNvPr id="7" name="Text 5"/>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8" name="Text 6"/>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3.3.3</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Thiết kế bài tập &amp; quản lý lớp thực hành</a:t>
            </a:r>
            <a:endParaRPr lang="en-US" sz="30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800" b="1" dirty="0">
                <a:solidFill>
                  <a:srgbClr val="222B33"/>
                </a:solidFill>
                <a:latin typeface="Calibri" pitchFamily="34" charset="0"/>
                <a:ea typeface="Calibri" pitchFamily="34" charset="-122"/>
                <a:cs typeface="Calibri" pitchFamily="34" charset="-120"/>
              </a:rPr>
              <a:t>Thiết kế bài tập hiệu quả:</a:t>
            </a:r>
            <a:endParaRPr lang="en-US" sz="1800" dirty="0"/>
          </a:p>
          <a:p>
            <a:pPr algn="l" lvl="1" marL="457200" indent="-228600">
              <a:lnSpc>
                <a:spcPct val="108000"/>
              </a:lnSpc>
              <a:spcAft>
                <a:spcPts val="600"/>
              </a:spcAft>
              <a:buSzPct val="100000"/>
              <a:buChar char="–"/>
            </a:pPr>
            <a:r>
              <a:rPr lang="en-US" sz="1600" dirty="0">
                <a:solidFill>
                  <a:srgbClr val="5B6B79"/>
                </a:solidFill>
                <a:latin typeface="Calibri" pitchFamily="34" charset="0"/>
                <a:ea typeface="Calibri" pitchFamily="34" charset="-122"/>
                <a:cs typeface="Calibri" pitchFamily="34" charset="-120"/>
              </a:rPr>
              <a:t>Độ khó tăng dần có hệ thống; gắn bối cảnh thực tế; có bộ test rõ ràng; đủ thời gian; có phản hồi sau thực hành.</a:t>
            </a:r>
            <a:endParaRPr lang="en-US" sz="1800" dirty="0"/>
          </a:p>
          <a:p>
            <a:pPr algn="l" marL="203200" indent="-203200">
              <a:lnSpc>
                <a:spcPct val="108000"/>
              </a:lnSpc>
              <a:spcAft>
                <a:spcPts val="1000"/>
              </a:spcAft>
              <a:buSzPct val="100000"/>
              <a:buChar char="▪"/>
            </a:pPr>
            <a:r>
              <a:rPr lang="en-US" sz="1800" b="1" dirty="0">
                <a:solidFill>
                  <a:srgbClr val="222B33"/>
                </a:solidFill>
                <a:latin typeface="Calibri" pitchFamily="34" charset="0"/>
                <a:ea typeface="Calibri" pitchFamily="34" charset="-122"/>
                <a:cs typeface="Calibri" pitchFamily="34" charset="-120"/>
              </a:rPr>
              <a:t>Quản lý lớp học phòng máy:</a:t>
            </a:r>
            <a:endParaRPr lang="en-US" sz="1800" dirty="0"/>
          </a:p>
          <a:p>
            <a:pPr algn="l" lvl="1" marL="457200" indent="-228600">
              <a:lnSpc>
                <a:spcPct val="108000"/>
              </a:lnSpc>
              <a:spcAft>
                <a:spcPts val="600"/>
              </a:spcAft>
              <a:buSzPct val="100000"/>
              <a:buChar char="–"/>
            </a:pPr>
            <a:r>
              <a:rPr lang="en-US" sz="1600" dirty="0">
                <a:solidFill>
                  <a:srgbClr val="5B6B79"/>
                </a:solidFill>
                <a:latin typeface="Calibri" pitchFamily="34" charset="0"/>
                <a:ea typeface="Calibri" pitchFamily="34" charset="-122"/>
                <a:cs typeface="Calibri" pitchFamily="34" charset="-120"/>
              </a:rPr>
              <a:t>Dùng phần mềm quản lý phòng máy (NetSupport, iTALC) quan sát màn hình HS.</a:t>
            </a:r>
            <a:endParaRPr lang="en-US" sz="1800" dirty="0"/>
          </a:p>
          <a:p>
            <a:pPr algn="l" lvl="1" marL="457200" indent="-228600">
              <a:lnSpc>
                <a:spcPct val="108000"/>
              </a:lnSpc>
              <a:spcAft>
                <a:spcPts val="600"/>
              </a:spcAft>
              <a:buSzPct val="100000"/>
              <a:buChar char="–"/>
            </a:pPr>
            <a:r>
              <a:rPr lang="en-US" sz="1600" dirty="0">
                <a:solidFill>
                  <a:srgbClr val="5B6B79"/>
                </a:solidFill>
                <a:latin typeface="Calibri" pitchFamily="34" charset="0"/>
                <a:ea typeface="Calibri" pitchFamily="34" charset="-122"/>
                <a:cs typeface="Calibri" pitchFamily="34" charset="-120"/>
              </a:rPr>
              <a:t>Chia nhóm theo trình độ, giao bài mức độ khác nhau.</a:t>
            </a:r>
            <a:endParaRPr lang="en-US" sz="1800" dirty="0"/>
          </a:p>
          <a:p>
            <a:pPr algn="l" lvl="1" marL="457200" indent="-228600">
              <a:lnSpc>
                <a:spcPct val="108000"/>
              </a:lnSpc>
              <a:spcAft>
                <a:spcPts val="600"/>
              </a:spcAft>
              <a:buSzPct val="100000"/>
              <a:buChar char="–"/>
            </a:pPr>
            <a:r>
              <a:rPr lang="en-US" sz="1600" dirty="0">
                <a:solidFill>
                  <a:srgbClr val="5B6B79"/>
                </a:solidFill>
                <a:latin typeface="Calibri" pitchFamily="34" charset="0"/>
                <a:ea typeface="Calibri" pitchFamily="34" charset="-122"/>
                <a:cs typeface="Calibri" pitchFamily="34" charset="-120"/>
              </a:rPr>
              <a:t>Quy trình khi gặp lỗi: (1) đọc lại thông báo lỗi, (2) tự tìm hiểu 3 phút, (3) hỏi bạn cạnh — trước khi gọi GV.</a:t>
            </a:r>
            <a:endParaRPr lang="en-US" sz="1800" dirty="0"/>
          </a:p>
        </p:txBody>
      </p:sp>
      <p:sp>
        <p:nvSpPr>
          <p:cNvPr id="6" name="Text 4"/>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3.3.4</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Phân biệt Thực hành và Luyện tập</a:t>
            </a:r>
            <a:endParaRPr lang="en-US" sz="30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11155680" cy="914400"/>
        </p:xfrm>
        <a:graphic>
          <a:graphicData uri="http://schemas.openxmlformats.org/drawingml/2006/table">
            <a:tbl>
              <a:tblPr/>
              <a:tblGrid>
                <a:gridCol w="2011680"/>
                <a:gridCol w="4572000"/>
                <a:gridCol w="4572000"/>
              </a:tblGrid>
              <a:tr h="45720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Tiêu chí</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Thực hành</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Luyện tập</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1040130">
                <a:tc>
                  <a:txBody>
                    <a:bodyPr/>
                    <a:lstStyle/>
                    <a:p>
                      <a:pPr algn="l" indent="0" marL="0">
                        <a:buNone/>
                      </a:pPr>
                      <a:r>
                        <a:rPr lang="en-US" sz="1400" dirty="0">
                          <a:solidFill>
                            <a:srgbClr val="222B33"/>
                          </a:solidFill>
                          <a:latin typeface="Calibri" pitchFamily="34" charset="0"/>
                          <a:ea typeface="Calibri" pitchFamily="34" charset="-122"/>
                          <a:cs typeface="Calibri" pitchFamily="34" charset="-120"/>
                        </a:rPr>
                        <a:t>Mục tiêu</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B33"/>
                          </a:solidFill>
                          <a:latin typeface="Calibri" pitchFamily="34" charset="0"/>
                          <a:ea typeface="Calibri" pitchFamily="34" charset="-122"/>
                          <a:cs typeface="Calibri" pitchFamily="34" charset="-120"/>
                        </a:rPr>
                        <a:t>Làm quen, khám phá kỹ năng mới</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B33"/>
                          </a:solidFill>
                          <a:latin typeface="Calibri" pitchFamily="34" charset="0"/>
                          <a:ea typeface="Calibri" pitchFamily="34" charset="-122"/>
                          <a:cs typeface="Calibri" pitchFamily="34" charset="-120"/>
                        </a:rPr>
                        <a:t>Củng cố, nâng cao độ thành thạo</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1040130">
                <a:tc>
                  <a:txBody>
                    <a:bodyPr/>
                    <a:lstStyle/>
                    <a:p>
                      <a:pPr algn="l" indent="0" marL="0">
                        <a:buNone/>
                      </a:pPr>
                      <a:r>
                        <a:rPr lang="en-US" sz="1400" dirty="0">
                          <a:solidFill>
                            <a:srgbClr val="222B33"/>
                          </a:solidFill>
                          <a:latin typeface="Calibri" pitchFamily="34" charset="0"/>
                          <a:ea typeface="Calibri" pitchFamily="34" charset="-122"/>
                          <a:cs typeface="Calibri" pitchFamily="34" charset="-120"/>
                        </a:rPr>
                        <a:t>Giai đoạn</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400" dirty="0">
                          <a:solidFill>
                            <a:srgbClr val="222B33"/>
                          </a:solidFill>
                          <a:latin typeface="Calibri" pitchFamily="34" charset="0"/>
                          <a:ea typeface="Calibri" pitchFamily="34" charset="-122"/>
                          <a:cs typeface="Calibri" pitchFamily="34" charset="-120"/>
                        </a:rPr>
                        <a:t>Ngay sau khi học khái niệm mới</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400" dirty="0">
                          <a:solidFill>
                            <a:srgbClr val="222B33"/>
                          </a:solidFill>
                          <a:latin typeface="Calibri" pitchFamily="34" charset="0"/>
                          <a:ea typeface="Calibri" pitchFamily="34" charset="-122"/>
                          <a:cs typeface="Calibri" pitchFamily="34" charset="-120"/>
                        </a:rPr>
                        <a:t>Sau khi đã thực hành, cần tự động hóa</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1040130">
                <a:tc>
                  <a:txBody>
                    <a:bodyPr/>
                    <a:lstStyle/>
                    <a:p>
                      <a:pPr algn="l" indent="0" marL="0">
                        <a:buNone/>
                      </a:pPr>
                      <a:r>
                        <a:rPr lang="en-US" sz="1400" dirty="0">
                          <a:solidFill>
                            <a:srgbClr val="222B33"/>
                          </a:solidFill>
                          <a:latin typeface="Calibri" pitchFamily="34" charset="0"/>
                          <a:ea typeface="Calibri" pitchFamily="34" charset="-122"/>
                          <a:cs typeface="Calibri" pitchFamily="34" charset="-120"/>
                        </a:rPr>
                        <a:t>Tính mới</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B33"/>
                          </a:solidFill>
                          <a:latin typeface="Calibri" pitchFamily="34" charset="0"/>
                          <a:ea typeface="Calibri" pitchFamily="34" charset="-122"/>
                          <a:cs typeface="Calibri" pitchFamily="34" charset="-120"/>
                        </a:rPr>
                        <a:t>Kỹ năng còn mới, còn phải suy nghĩ nhiều</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B33"/>
                          </a:solidFill>
                          <a:latin typeface="Calibri" pitchFamily="34" charset="0"/>
                          <a:ea typeface="Calibri" pitchFamily="34" charset="-122"/>
                          <a:cs typeface="Calibri" pitchFamily="34" charset="-120"/>
                        </a:rPr>
                        <a:t>Kỹ năng đã quen, luyện để nhanh và chính xác hơn</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1040130">
                <a:tc>
                  <a:txBody>
                    <a:bodyPr/>
                    <a:lstStyle/>
                    <a:p>
                      <a:pPr algn="l" indent="0" marL="0">
                        <a:buNone/>
                      </a:pPr>
                      <a:r>
                        <a:rPr lang="en-US" sz="1400" dirty="0">
                          <a:solidFill>
                            <a:srgbClr val="222B33"/>
                          </a:solidFill>
                          <a:latin typeface="Calibri" pitchFamily="34" charset="0"/>
                          <a:ea typeface="Calibri" pitchFamily="34" charset="-122"/>
                          <a:cs typeface="Calibri" pitchFamily="34" charset="-120"/>
                        </a:rPr>
                        <a:t>Ví dụ</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400" dirty="0">
                          <a:solidFill>
                            <a:srgbClr val="222B33"/>
                          </a:solidFill>
                          <a:latin typeface="Calibri" pitchFamily="34" charset="0"/>
                          <a:ea typeface="Calibri" pitchFamily="34" charset="-122"/>
                          <a:cs typeface="Calibri" pitchFamily="34" charset="-120"/>
                        </a:rPr>
                        <a:t>Lần đầu viết vòng lặp for</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400" dirty="0">
                          <a:solidFill>
                            <a:srgbClr val="222B33"/>
                          </a:solidFill>
                          <a:latin typeface="Calibri" pitchFamily="34" charset="0"/>
                          <a:ea typeface="Calibri" pitchFamily="34" charset="-122"/>
                          <a:cs typeface="Calibri" pitchFamily="34" charset="-120"/>
                        </a:rPr>
                        <a:t>Viết nhiều chương trình khác nhau dùng for</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bl>
          </a:graphicData>
        </a:graphic>
      </p:graphicFrame>
      <p:sp>
        <p:nvSpPr>
          <p:cNvPr id="6" name="Text 3"/>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7" name="Text 4"/>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3.3.4</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Nguyên tắc tổ chức luyện tập hiệu quả</a:t>
            </a:r>
            <a:endParaRPr lang="en-US" sz="30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850" dirty="0">
                <a:solidFill>
                  <a:srgbClr val="222B33"/>
                </a:solidFill>
                <a:latin typeface="Calibri" pitchFamily="34" charset="0"/>
                <a:ea typeface="Calibri" pitchFamily="34" charset="-122"/>
                <a:cs typeface="Calibri" pitchFamily="34" charset="-120"/>
              </a:rPr>
              <a:t>Đa dạng hóa bài tập, không lặp lại máy móc — mỗi bài thay đổi một yếu tố (ngữ cảnh, dữ liệu, yêu cầu).</a:t>
            </a:r>
            <a:endParaRPr lang="en-US" sz="1850" dirty="0"/>
          </a:p>
          <a:p>
            <a:pPr algn="l" marL="203200" indent="-203200">
              <a:lnSpc>
                <a:spcPct val="108000"/>
              </a:lnSpc>
              <a:spcAft>
                <a:spcPts val="1000"/>
              </a:spcAft>
              <a:buSzPct val="100000"/>
              <a:buChar char="▪"/>
            </a:pPr>
            <a:r>
              <a:rPr lang="en-US" sz="1850" dirty="0">
                <a:solidFill>
                  <a:srgbClr val="222B33"/>
                </a:solidFill>
                <a:latin typeface="Calibri" pitchFamily="34" charset="0"/>
                <a:ea typeface="Calibri" pitchFamily="34" charset="-122"/>
                <a:cs typeface="Calibri" pitchFamily="34" charset="-120"/>
              </a:rPr>
              <a:t>Phân bậc độ khó có hệ thống — từ đơn giản đến phức tạp, có bài tập mở rộng cho HS hoàn thành sớm.</a:t>
            </a:r>
            <a:endParaRPr lang="en-US" sz="1850" dirty="0"/>
          </a:p>
          <a:p>
            <a:pPr algn="l" marL="203200" indent="-203200">
              <a:lnSpc>
                <a:spcPct val="108000"/>
              </a:lnSpc>
              <a:spcAft>
                <a:spcPts val="1000"/>
              </a:spcAft>
              <a:buSzPct val="100000"/>
              <a:buChar char="▪"/>
            </a:pPr>
            <a:r>
              <a:rPr lang="en-US" sz="1850" dirty="0">
                <a:solidFill>
                  <a:srgbClr val="222B33"/>
                </a:solidFill>
                <a:latin typeface="Calibri" pitchFamily="34" charset="0"/>
                <a:ea typeface="Calibri" pitchFamily="34" charset="-122"/>
                <a:cs typeface="Calibri" pitchFamily="34" charset="-120"/>
              </a:rPr>
              <a:t>Chất lượng hơn số lượng — một bài làm kỹ có giá trị hơn mười bài làm qua loa.</a:t>
            </a:r>
            <a:endParaRPr lang="en-US" sz="1850" dirty="0"/>
          </a:p>
          <a:p>
            <a:pPr algn="l" marL="203200" indent="-203200">
              <a:lnSpc>
                <a:spcPct val="108000"/>
              </a:lnSpc>
              <a:spcAft>
                <a:spcPts val="1000"/>
              </a:spcAft>
              <a:buSzPct val="100000"/>
              <a:buChar char="▪"/>
            </a:pPr>
            <a:r>
              <a:rPr lang="en-US" sz="1850" dirty="0">
                <a:solidFill>
                  <a:srgbClr val="222B33"/>
                </a:solidFill>
                <a:latin typeface="Calibri" pitchFamily="34" charset="0"/>
                <a:ea typeface="Calibri" pitchFamily="34" charset="-122"/>
                <a:cs typeface="Calibri" pitchFamily="34" charset="-120"/>
              </a:rPr>
              <a:t>Phản hồi kịp thời, chất lượng — hệ thống chấm tự động (CSES, HackerRank) + GV bổ sung phản hồi về chất lượng code.</a:t>
            </a:r>
            <a:endParaRPr lang="en-US" sz="1850" dirty="0"/>
          </a:p>
          <a:p>
            <a:pPr algn="l" marL="203200" indent="-203200">
              <a:lnSpc>
                <a:spcPct val="108000"/>
              </a:lnSpc>
              <a:spcAft>
                <a:spcPts val="1000"/>
              </a:spcAft>
              <a:buSzPct val="100000"/>
              <a:buChar char="▪"/>
            </a:pPr>
            <a:r>
              <a:rPr lang="en-US" sz="1850" dirty="0">
                <a:solidFill>
                  <a:srgbClr val="222B33"/>
                </a:solidFill>
                <a:latin typeface="Calibri" pitchFamily="34" charset="0"/>
                <a:ea typeface="Calibri" pitchFamily="34" charset="-122"/>
                <a:cs typeface="Calibri" pitchFamily="34" charset="-120"/>
              </a:rPr>
              <a:t>Kết hợp luyện tập cá nhân và cộng tác (Pair Programming) — hình thức hiệu quả nhất theo Tháp học tập.</a:t>
            </a:r>
            <a:endParaRPr lang="en-US" sz="1850" dirty="0"/>
          </a:p>
        </p:txBody>
      </p:sp>
      <p:sp>
        <p:nvSpPr>
          <p:cNvPr id="6" name="Text 4"/>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B3A5C"/>
        </a:solidFill>
      </p:bgPr>
    </p:bg>
    <p:spTree>
      <p:nvGrpSpPr>
        <p:cNvPr id="1" name=""/>
        <p:cNvGrpSpPr/>
        <p:nvPr/>
      </p:nvGrpSpPr>
      <p:grpSpPr>
        <a:xfrm>
          <a:off x="0" y="0"/>
          <a:ext cx="0" cy="0"/>
          <a:chOff x="0" y="0"/>
          <a:chExt cx="0" cy="0"/>
        </a:xfrm>
      </p:grpSpPr>
      <p:sp>
        <p:nvSpPr>
          <p:cNvPr id="2" name="Text 0"/>
          <p:cNvSpPr/>
          <p:nvPr/>
        </p:nvSpPr>
        <p:spPr>
          <a:xfrm>
            <a:off x="640080" y="2286000"/>
            <a:ext cx="2743200" cy="1463040"/>
          </a:xfrm>
          <a:prstGeom prst="rect">
            <a:avLst/>
          </a:prstGeom>
          <a:noFill/>
          <a:ln/>
        </p:spPr>
        <p:txBody>
          <a:bodyPr wrap="square" rtlCol="0" anchor="ctr"/>
          <a:lstStyle/>
          <a:p>
            <a:pPr algn="l" indent="0" marL="0">
              <a:buNone/>
            </a:pPr>
            <a:r>
              <a:rPr lang="en-US" sz="9000" b="1" dirty="0">
                <a:solidFill>
                  <a:srgbClr val="C1571A"/>
                </a:solidFill>
                <a:latin typeface="Calibri" pitchFamily="34" charset="0"/>
                <a:ea typeface="Calibri" pitchFamily="34" charset="-122"/>
                <a:cs typeface="Calibri" pitchFamily="34" charset="-120"/>
              </a:rPr>
              <a:t>3.4</a:t>
            </a:r>
            <a:endParaRPr lang="en-US" sz="9000" dirty="0"/>
          </a:p>
        </p:txBody>
      </p:sp>
      <p:sp>
        <p:nvSpPr>
          <p:cNvPr id="3" name="Text 1"/>
          <p:cNvSpPr/>
          <p:nvPr/>
        </p:nvSpPr>
        <p:spPr>
          <a:xfrm>
            <a:off x="3566160" y="2331720"/>
            <a:ext cx="8138160" cy="1463040"/>
          </a:xfrm>
          <a:prstGeom prst="rect">
            <a:avLst/>
          </a:prstGeom>
          <a:noFill/>
          <a:ln/>
        </p:spPr>
        <p:txBody>
          <a:bodyPr wrap="square" rtlCol="0" anchor="ctr"/>
          <a:lstStyle/>
          <a:p>
            <a:pPr algn="l" indent="0" marL="0">
              <a:buNone/>
            </a:pPr>
            <a:r>
              <a:rPr lang="en-US" sz="3400" b="1" dirty="0">
                <a:solidFill>
                  <a:srgbClr val="FFFFFF"/>
                </a:solidFill>
                <a:latin typeface="Calibri" pitchFamily="34" charset="0"/>
                <a:ea typeface="Calibri" pitchFamily="34" charset="-122"/>
                <a:cs typeface="Calibri" pitchFamily="34" charset="-120"/>
              </a:rPr>
              <a:t>Các phương pháp dạy học tích cực trong Tin học</a:t>
            </a:r>
            <a:endParaRPr lang="en-US" sz="3400" dirty="0"/>
          </a:p>
        </p:txBody>
      </p:sp>
      <p:sp>
        <p:nvSpPr>
          <p:cNvPr id="4" name="Text 2"/>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5" name="Text 3"/>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3.4.1</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Dạy học giải quyết vấn đề (PBL) — bản chất</a:t>
            </a:r>
            <a:endParaRPr lang="en-US" sz="30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700" b="1" dirty="0">
                <a:solidFill>
                  <a:srgbClr val="222B33"/>
                </a:solidFill>
                <a:latin typeface="Calibri" pitchFamily="34" charset="0"/>
                <a:ea typeface="Calibri" pitchFamily="34" charset="-122"/>
                <a:cs typeface="Calibri" pitchFamily="34" charset="-120"/>
              </a:rPr>
              <a:t>HS được đặt vào tình huống có vấn đề — câu trả lời không thể có sẵn bằng áp dụng máy móc kiến thức cũ (Barrows, 1986).</a:t>
            </a:r>
            <a:endParaRPr lang="en-US" sz="1700" dirty="0"/>
          </a:p>
          <a:p>
            <a:pPr algn="l" marL="203200" indent="-203200">
              <a:lnSpc>
                <a:spcPct val="108000"/>
              </a:lnSpc>
              <a:spcAft>
                <a:spcPts val="1000"/>
              </a:spcAft>
              <a:buSzPct val="100000"/>
              <a:buChar char="▪"/>
            </a:pPr>
            <a:r>
              <a:rPr lang="en-US" sz="1700" dirty="0">
                <a:solidFill>
                  <a:srgbClr val="222B33"/>
                </a:solidFill>
                <a:latin typeface="Calibri" pitchFamily="34" charset="0"/>
                <a:ea typeface="Calibri" pitchFamily="34" charset="-122"/>
                <a:cs typeface="Calibri" pitchFamily="34" charset="-120"/>
              </a:rPr>
              <a:t>Nền tảng: quan điểm kiến tạo (Dewey, Piaget, Vygotsky) — học hiệu quả nhất khi có mâu thuẫn nhận thức.</a:t>
            </a:r>
            <a:endParaRPr lang="en-US" sz="1700" dirty="0"/>
          </a:p>
          <a:p>
            <a:pPr algn="l" marL="203200" indent="-203200">
              <a:lnSpc>
                <a:spcPct val="108000"/>
              </a:lnSpc>
              <a:spcAft>
                <a:spcPts val="1000"/>
              </a:spcAft>
              <a:buSzPct val="100000"/>
              <a:buChar char="▪"/>
            </a:pPr>
            <a:r>
              <a:rPr lang="en-US" sz="1700" b="1" dirty="0">
                <a:solidFill>
                  <a:srgbClr val="222B33"/>
                </a:solidFill>
                <a:latin typeface="Calibri" pitchFamily="34" charset="0"/>
                <a:ea typeface="Calibri" pitchFamily="34" charset="-122"/>
                <a:cs typeface="Calibri" pitchFamily="34" charset="-120"/>
              </a:rPr>
              <a:t>Đặc điểm của tình huống có vấn đề TỐT:</a:t>
            </a:r>
            <a:endParaRPr lang="en-US" sz="1700" dirty="0"/>
          </a:p>
          <a:p>
            <a:pPr algn="l" lvl="1" marL="457200" indent="-228600">
              <a:lnSpc>
                <a:spcPct val="108000"/>
              </a:lnSpc>
              <a:spcAft>
                <a:spcPts val="600"/>
              </a:spcAft>
              <a:buSzPct val="100000"/>
              <a:buChar char="–"/>
            </a:pPr>
            <a:r>
              <a:rPr lang="en-US" sz="1500" dirty="0">
                <a:solidFill>
                  <a:srgbClr val="5B6B79"/>
                </a:solidFill>
                <a:latin typeface="Calibri" pitchFamily="34" charset="0"/>
                <a:ea typeface="Calibri" pitchFamily="34" charset="-122"/>
                <a:cs typeface="Calibri" pitchFamily="34" charset="-120"/>
              </a:rPr>
              <a:t>Gây mâu thuẫn nhận thức (VD: code không lỗi nhưng kết quả sai).</a:t>
            </a:r>
            <a:endParaRPr lang="en-US" sz="1700" dirty="0"/>
          </a:p>
          <a:p>
            <a:pPr algn="l" lvl="1" marL="457200" indent="-228600">
              <a:lnSpc>
                <a:spcPct val="108000"/>
              </a:lnSpc>
              <a:spcAft>
                <a:spcPts val="600"/>
              </a:spcAft>
              <a:buSzPct val="100000"/>
              <a:buChar char="–"/>
            </a:pPr>
            <a:r>
              <a:rPr lang="en-US" sz="1500" dirty="0">
                <a:solidFill>
                  <a:srgbClr val="5B6B79"/>
                </a:solidFill>
                <a:latin typeface="Calibri" pitchFamily="34" charset="0"/>
                <a:ea typeface="Calibri" pitchFamily="34" charset="-122"/>
                <a:cs typeface="Calibri" pitchFamily="34" charset="-120"/>
              </a:rPr>
              <a:t>Có ý nghĩa thực tiễn (VD: sắp xếp 10.000 HS trong chưa đầy 1 giây).</a:t>
            </a:r>
            <a:endParaRPr lang="en-US" sz="1700" dirty="0"/>
          </a:p>
          <a:p>
            <a:pPr algn="l" lvl="1" marL="457200" indent="-228600">
              <a:lnSpc>
                <a:spcPct val="108000"/>
              </a:lnSpc>
              <a:spcAft>
                <a:spcPts val="600"/>
              </a:spcAft>
              <a:buSzPct val="100000"/>
              <a:buChar char="–"/>
            </a:pPr>
            <a:r>
              <a:rPr lang="en-US" sz="1500" dirty="0">
                <a:solidFill>
                  <a:srgbClr val="5B6B79"/>
                </a:solidFill>
                <a:latin typeface="Calibri" pitchFamily="34" charset="0"/>
                <a:ea typeface="Calibri" pitchFamily="34" charset="-122"/>
                <a:cs typeface="Calibri" pitchFamily="34" charset="-120"/>
              </a:rPr>
              <a:t>Vừa sức — nằm trong Vùng phát triển gần (ZPD).</a:t>
            </a:r>
            <a:endParaRPr lang="en-US" sz="1700" dirty="0"/>
          </a:p>
          <a:p>
            <a:pPr algn="l" lvl="1" marL="457200" indent="-228600">
              <a:lnSpc>
                <a:spcPct val="108000"/>
              </a:lnSpc>
              <a:spcAft>
                <a:spcPts val="600"/>
              </a:spcAft>
              <a:buSzPct val="100000"/>
              <a:buChar char="–"/>
            </a:pPr>
            <a:r>
              <a:rPr lang="en-US" sz="1500" dirty="0">
                <a:solidFill>
                  <a:srgbClr val="5B6B79"/>
                </a:solidFill>
                <a:latin typeface="Calibri" pitchFamily="34" charset="0"/>
                <a:ea typeface="Calibri" pitchFamily="34" charset="-122"/>
                <a:cs typeface="Calibri" pitchFamily="34" charset="-120"/>
              </a:rPr>
              <a:t>Có nhiều hướng tiếp cận; yêu cầu tích hợp kiến thức.</a:t>
            </a:r>
            <a:endParaRPr lang="en-US" sz="1700" dirty="0"/>
          </a:p>
        </p:txBody>
      </p:sp>
      <p:sp>
        <p:nvSpPr>
          <p:cNvPr id="6" name="Text 4"/>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48</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3.4.1</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Bốn giai đoạn của PBL</a:t>
            </a:r>
            <a:endParaRPr lang="en-US" sz="30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850" dirty="0">
                <a:solidFill>
                  <a:srgbClr val="222B33"/>
                </a:solidFill>
                <a:latin typeface="Calibri" pitchFamily="34" charset="0"/>
                <a:ea typeface="Calibri" pitchFamily="34" charset="-122"/>
                <a:cs typeface="Calibri" pitchFamily="34" charset="-120"/>
              </a:rPr>
              <a:t>1. Đặt vấn đề: tạo tình huống (câu chuyện thực tế, code lỗi, câu hỏi ngạc nhiên) để kích hoạt nhu cầu tìm hiểu.</a:t>
            </a:r>
            <a:endParaRPr lang="en-US" sz="1850" dirty="0"/>
          </a:p>
          <a:p>
            <a:pPr algn="l" marL="203200" indent="-203200">
              <a:lnSpc>
                <a:spcPct val="108000"/>
              </a:lnSpc>
              <a:spcAft>
                <a:spcPts val="1000"/>
              </a:spcAft>
              <a:buSzPct val="100000"/>
              <a:buChar char="▪"/>
            </a:pPr>
            <a:r>
              <a:rPr lang="en-US" sz="1850" dirty="0">
                <a:solidFill>
                  <a:srgbClr val="222B33"/>
                </a:solidFill>
                <a:latin typeface="Calibri" pitchFamily="34" charset="0"/>
                <a:ea typeface="Calibri" pitchFamily="34" charset="-122"/>
                <a:cs typeface="Calibri" pitchFamily="34" charset="-120"/>
              </a:rPr>
              <a:t>2. Nghiên cứu &amp; đề xuất giải pháp: HS phân tích, huy động kiến thức, đề xuất hướng giải quyết — GV chỉ đặt câu hỏi.</a:t>
            </a:r>
            <a:endParaRPr lang="en-US" sz="1850" dirty="0"/>
          </a:p>
          <a:p>
            <a:pPr algn="l" marL="203200" indent="-203200">
              <a:lnSpc>
                <a:spcPct val="108000"/>
              </a:lnSpc>
              <a:spcAft>
                <a:spcPts val="1000"/>
              </a:spcAft>
              <a:buSzPct val="100000"/>
              <a:buChar char="▪"/>
            </a:pPr>
            <a:r>
              <a:rPr lang="en-US" sz="1850" dirty="0">
                <a:solidFill>
                  <a:srgbClr val="222B33"/>
                </a:solidFill>
                <a:latin typeface="Calibri" pitchFamily="34" charset="0"/>
                <a:ea typeface="Calibri" pitchFamily="34" charset="-122"/>
                <a:cs typeface="Calibri" pitchFamily="34" charset="-120"/>
              </a:rPr>
              <a:t>3. Thực hiện &amp; kiểm tra giải pháp: viết code, chạy test, debug — GV kháng cự việc chỉ lỗi ngay, hỏi thay vì trả lời.</a:t>
            </a:r>
            <a:endParaRPr lang="en-US" sz="1850" dirty="0"/>
          </a:p>
          <a:p>
            <a:pPr algn="l" marL="203200" indent="-203200">
              <a:lnSpc>
                <a:spcPct val="108000"/>
              </a:lnSpc>
              <a:spcAft>
                <a:spcPts val="1000"/>
              </a:spcAft>
              <a:buSzPct val="100000"/>
              <a:buChar char="▪"/>
            </a:pPr>
            <a:r>
              <a:rPr lang="en-US" sz="1850" dirty="0">
                <a:solidFill>
                  <a:srgbClr val="222B33"/>
                </a:solidFill>
                <a:latin typeface="Calibri" pitchFamily="34" charset="0"/>
                <a:ea typeface="Calibri" pitchFamily="34" charset="-122"/>
                <a:cs typeface="Calibri" pitchFamily="34" charset="-120"/>
              </a:rPr>
              <a:t>4. Kết luận &amp; mở rộng: nhìn lại quá trình, hệ thống hóa kiến thức — KHÔNG được cắt bỏ vì hết giờ.</a:t>
            </a:r>
            <a:endParaRPr lang="en-US" sz="1850" dirty="0"/>
          </a:p>
        </p:txBody>
      </p:sp>
      <p:sp>
        <p:nvSpPr>
          <p:cNvPr id="6" name="Text 4"/>
          <p:cNvSpPr/>
          <p:nvPr/>
        </p:nvSpPr>
        <p:spPr>
          <a:xfrm>
            <a:off x="502920" y="5989320"/>
            <a:ext cx="11155680" cy="411480"/>
          </a:xfrm>
          <a:prstGeom prst="rect">
            <a:avLst/>
          </a:prstGeom>
          <a:noFill/>
          <a:ln/>
        </p:spPr>
        <p:txBody>
          <a:bodyPr wrap="square" rtlCol="0" anchor="ctr"/>
          <a:lstStyle/>
          <a:p>
            <a:pPr indent="0" marL="0">
              <a:buNone/>
            </a:pPr>
            <a:r>
              <a:rPr lang="en-US" sz="1250" b="1" i="1" dirty="0">
                <a:solidFill>
                  <a:srgbClr val="C1571A"/>
                </a:solidFill>
                <a:latin typeface="Calibri" pitchFamily="34" charset="0"/>
                <a:ea typeface="Calibri" pitchFamily="34" charset="-122"/>
                <a:cs typeface="Calibri" pitchFamily="34" charset="-120"/>
              </a:rPr>
              <a:t>Ví dụ: so sánh tìm kiếm tuần tự (5 giây) và nhị phân (tức thì) trên 1 triệu phần tử — “Tại sao lại khác biệt đến vậy?”</a:t>
            </a:r>
            <a:endParaRPr lang="en-US" sz="1250" dirty="0"/>
          </a:p>
        </p:txBody>
      </p:sp>
      <p:sp>
        <p:nvSpPr>
          <p:cNvPr id="7" name="Text 5"/>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8" name="Text 6"/>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49</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3.4.1</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Các dạng tình huống đặc thù &amp; lưu ý sư phạm</a:t>
            </a:r>
            <a:endParaRPr lang="en-US" sz="30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700" dirty="0">
                <a:solidFill>
                  <a:srgbClr val="222B33"/>
                </a:solidFill>
                <a:latin typeface="Calibri" pitchFamily="34" charset="0"/>
                <a:ea typeface="Calibri" pitchFamily="34" charset="-122"/>
                <a:cs typeface="Calibri" pitchFamily="34" charset="-120"/>
              </a:rPr>
              <a:t>Tình huống từ cuộc sống cần tin học hóa (VD: tìm sách trong thư viện 5.000 cuốn).</a:t>
            </a:r>
            <a:endParaRPr lang="en-US" sz="1700" dirty="0"/>
          </a:p>
          <a:p>
            <a:pPr algn="l" marL="203200" indent="-203200">
              <a:lnSpc>
                <a:spcPct val="108000"/>
              </a:lnSpc>
              <a:spcAft>
                <a:spcPts val="1000"/>
              </a:spcAft>
              <a:buSzPct val="100000"/>
              <a:buChar char="▪"/>
            </a:pPr>
            <a:r>
              <a:rPr lang="en-US" sz="1700" dirty="0">
                <a:solidFill>
                  <a:srgbClr val="222B33"/>
                </a:solidFill>
                <a:latin typeface="Calibri" pitchFamily="34" charset="0"/>
                <a:ea typeface="Calibri" pitchFamily="34" charset="-122"/>
                <a:cs typeface="Calibri" pitchFamily="34" charset="-120"/>
              </a:rPr>
              <a:t>Debugging as Learning: code có lỗi logic cần phân tích, tìm nguyên nhân.</a:t>
            </a:r>
            <a:endParaRPr lang="en-US" sz="1700" dirty="0"/>
          </a:p>
          <a:p>
            <a:pPr algn="l" marL="203200" indent="-203200">
              <a:lnSpc>
                <a:spcPct val="108000"/>
              </a:lnSpc>
              <a:spcAft>
                <a:spcPts val="1000"/>
              </a:spcAft>
              <a:buSzPct val="100000"/>
              <a:buChar char="▪"/>
            </a:pPr>
            <a:r>
              <a:rPr lang="en-US" sz="1700" dirty="0">
                <a:solidFill>
                  <a:srgbClr val="222B33"/>
                </a:solidFill>
                <a:latin typeface="Calibri" pitchFamily="34" charset="0"/>
                <a:ea typeface="Calibri" pitchFamily="34" charset="-122"/>
                <a:cs typeface="Calibri" pitchFamily="34" charset="-120"/>
              </a:rPr>
              <a:t>Tình huống so sánh và lựa chọn giữa nhiều cách viết chương trình.</a:t>
            </a:r>
            <a:endParaRPr lang="en-US" sz="1700" dirty="0"/>
          </a:p>
          <a:p>
            <a:pPr algn="l" marL="203200" indent="-203200">
              <a:lnSpc>
                <a:spcPct val="108000"/>
              </a:lnSpc>
              <a:spcAft>
                <a:spcPts val="1000"/>
              </a:spcAft>
              <a:buSzPct val="100000"/>
              <a:buChar char="▪"/>
            </a:pPr>
            <a:r>
              <a:rPr lang="en-US" sz="1700" dirty="0">
                <a:solidFill>
                  <a:srgbClr val="222B33"/>
                </a:solidFill>
                <a:latin typeface="Calibri" pitchFamily="34" charset="0"/>
                <a:ea typeface="Calibri" pitchFamily="34" charset="-122"/>
                <a:cs typeface="Calibri" pitchFamily="34" charset="-120"/>
              </a:rPr>
              <a:t>Tình huống tối ưu hóa: “chương trình đúng nhưng quá chậm”.</a:t>
            </a:r>
            <a:endParaRPr lang="en-US" sz="1700" dirty="0"/>
          </a:p>
          <a:p>
            <a:pPr algn="l" marL="203200" indent="-203200">
              <a:lnSpc>
                <a:spcPct val="108000"/>
              </a:lnSpc>
              <a:spcAft>
                <a:spcPts val="1000"/>
              </a:spcAft>
              <a:buSzPct val="100000"/>
              <a:buChar char="▪"/>
            </a:pPr>
            <a:r>
              <a:rPr lang="en-US" sz="1700" dirty="0">
                <a:solidFill>
                  <a:srgbClr val="222B33"/>
                </a:solidFill>
                <a:latin typeface="Calibri" pitchFamily="34" charset="0"/>
                <a:ea typeface="Calibri" pitchFamily="34" charset="-122"/>
                <a:cs typeface="Calibri" pitchFamily="34" charset="-120"/>
              </a:rPr>
              <a:t>Tình huống thiếu thông tin, cần tự xác định yêu cầu (mô phỏng phân tích yêu cầu thực tế).</a:t>
            </a:r>
            <a:endParaRPr lang="en-US" sz="1700" dirty="0"/>
          </a:p>
          <a:p>
            <a:pPr algn="l" marL="203200" indent="-203200">
              <a:lnSpc>
                <a:spcPct val="108000"/>
              </a:lnSpc>
              <a:spcAft>
                <a:spcPts val="1000"/>
              </a:spcAft>
              <a:buSzPct val="100000"/>
              <a:buChar char="▪"/>
            </a:pPr>
            <a:r>
              <a:rPr lang="en-US" sz="1700" dirty="0">
                <a:solidFill>
                  <a:srgbClr val="222B33"/>
                </a:solidFill>
                <a:latin typeface="Calibri" pitchFamily="34" charset="0"/>
                <a:ea typeface="Calibri" pitchFamily="34" charset="-122"/>
                <a:cs typeface="Calibri" pitchFamily="34" charset="-120"/>
              </a:rPr>
              <a:t>Lưu ý: không đặt vấn đề quá khó; tôn trọng sai lầm; GV là người đặt câu hỏi; luôn có giai đoạn hệ thống hóa; bắt đầu nhỏ.</a:t>
            </a:r>
            <a:endParaRPr lang="en-US" sz="1700" dirty="0"/>
          </a:p>
        </p:txBody>
      </p:sp>
      <p:sp>
        <p:nvSpPr>
          <p:cNvPr id="6" name="Text 4"/>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50</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3.4.2</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PBL và PjBL — điểm khác biệt</a:t>
            </a:r>
            <a:endParaRPr lang="en-US" sz="30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11155680" cy="914400"/>
        </p:xfrm>
        <a:graphic>
          <a:graphicData uri="http://schemas.openxmlformats.org/drawingml/2006/table">
            <a:tbl>
              <a:tblPr/>
              <a:tblGrid>
                <a:gridCol w="2377440"/>
                <a:gridCol w="4206240"/>
                <a:gridCol w="4572000"/>
              </a:tblGrid>
              <a:tr h="457200">
                <a:tc>
                  <a:txBody>
                    <a:bodyPr/>
                    <a:lstStyle/>
                    <a:p>
                      <a:pPr algn="l" indent="0" marL="0">
                        <a:buNone/>
                      </a:pPr>
                      <a:r>
                        <a:rPr lang="en-US" sz="1450" b="1" dirty="0">
                          <a:solidFill>
                            <a:srgbClr val="FFFFFF"/>
                          </a:solidFill>
                          <a:latin typeface="Calibri" pitchFamily="34" charset="0"/>
                          <a:ea typeface="Calibri" pitchFamily="34" charset="-122"/>
                          <a:cs typeface="Calibri" pitchFamily="34" charset="-120"/>
                        </a:rPr>
                        <a:t>Tiêu chí</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450" b="1" dirty="0">
                          <a:solidFill>
                            <a:srgbClr val="FFFFFF"/>
                          </a:solidFill>
                          <a:latin typeface="Calibri" pitchFamily="34" charset="0"/>
                          <a:ea typeface="Calibri" pitchFamily="34" charset="-122"/>
                          <a:cs typeface="Calibri" pitchFamily="34" charset="-120"/>
                        </a:rPr>
                        <a:t>PBL</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450" b="1" dirty="0">
                          <a:solidFill>
                            <a:srgbClr val="FFFFFF"/>
                          </a:solidFill>
                          <a:latin typeface="Calibri" pitchFamily="34" charset="0"/>
                          <a:ea typeface="Calibri" pitchFamily="34" charset="-122"/>
                          <a:cs typeface="Calibri" pitchFamily="34" charset="-120"/>
                        </a:rPr>
                        <a:t>PjBL</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832104">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Điểm khởi đầu</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Vấn đề cần giải quyết</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Sản phẩm cần tạo ra</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832104">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Thời gian</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Từ một tiết đến vài tiết</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Nhiều tuần</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832104">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Kết quả</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Giải pháp / hiểu biết</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Sản phẩm cụ thể có thể dùng được</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832104">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Phạm vi kiến thức</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Thường tập trung một chủ đề</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Tích hợp nhiều bài, nhiều kỹ năng</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832104">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Đánh giá</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Quá trình giải quyết và kết luận</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22B33"/>
                          </a:solidFill>
                          <a:latin typeface="Calibri" pitchFamily="34" charset="0"/>
                          <a:ea typeface="Calibri" pitchFamily="34" charset="-122"/>
                          <a:cs typeface="Calibri" pitchFamily="34" charset="-120"/>
                        </a:rPr>
                        <a:t>Sản phẩm + quá trình + trình bày</a:t>
                      </a:r>
                      <a:endParaRPr lang="en-US" sz="13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bl>
          </a:graphicData>
        </a:graphic>
      </p:graphicFrame>
      <p:sp>
        <p:nvSpPr>
          <p:cNvPr id="6" name="Text 3"/>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7" name="Text 4"/>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51</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3.4.2</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Bảy yếu tố vàng của dự án học tập tốt</a:t>
            </a:r>
            <a:endParaRPr lang="en-US" sz="30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800" dirty="0">
                <a:solidFill>
                  <a:srgbClr val="222B33"/>
                </a:solidFill>
                <a:latin typeface="Calibri" pitchFamily="34" charset="0"/>
                <a:ea typeface="Calibri" pitchFamily="34" charset="-122"/>
                <a:cs typeface="Calibri" pitchFamily="34" charset="-120"/>
              </a:rPr>
              <a:t>Câu hỏi định hướng (Driving Question) — tạo bối cảnh, ý nghĩa cho toàn dự án.</a:t>
            </a:r>
            <a:endParaRPr lang="en-US" sz="1800" dirty="0"/>
          </a:p>
          <a:p>
            <a:pPr algn="l" marL="203200" indent="-203200">
              <a:lnSpc>
                <a:spcPct val="108000"/>
              </a:lnSpc>
              <a:spcAft>
                <a:spcPts val="1000"/>
              </a:spcAft>
              <a:buSzPct val="100000"/>
              <a:buChar char="▪"/>
            </a:pPr>
            <a:r>
              <a:rPr lang="en-US" sz="1800" dirty="0">
                <a:solidFill>
                  <a:srgbClr val="222B33"/>
                </a:solidFill>
                <a:latin typeface="Calibri" pitchFamily="34" charset="0"/>
                <a:ea typeface="Calibri" pitchFamily="34" charset="-122"/>
                <a:cs typeface="Calibri" pitchFamily="34" charset="-120"/>
              </a:rPr>
              <a:t>Bối cảnh thực tế, có ý nghĩa — sản phẩm có người dùng thực.</a:t>
            </a:r>
            <a:endParaRPr lang="en-US" sz="1800" dirty="0"/>
          </a:p>
          <a:p>
            <a:pPr algn="l" marL="203200" indent="-203200">
              <a:lnSpc>
                <a:spcPct val="108000"/>
              </a:lnSpc>
              <a:spcAft>
                <a:spcPts val="1000"/>
              </a:spcAft>
              <a:buSzPct val="100000"/>
              <a:buChar char="▪"/>
            </a:pPr>
            <a:r>
              <a:rPr lang="en-US" sz="1800" dirty="0">
                <a:solidFill>
                  <a:srgbClr val="222B33"/>
                </a:solidFill>
                <a:latin typeface="Calibri" pitchFamily="34" charset="0"/>
                <a:ea typeface="Calibri" pitchFamily="34" charset="-122"/>
                <a:cs typeface="Calibri" pitchFamily="34" charset="-120"/>
              </a:rPr>
              <a:t>Yêu cầu tìm tòi, khám phá — HS gặp vấn đề chưa học.</a:t>
            </a:r>
            <a:endParaRPr lang="en-US" sz="1800" dirty="0"/>
          </a:p>
          <a:p>
            <a:pPr algn="l" marL="203200" indent="-203200">
              <a:lnSpc>
                <a:spcPct val="108000"/>
              </a:lnSpc>
              <a:spcAft>
                <a:spcPts val="1000"/>
              </a:spcAft>
              <a:buSzPct val="100000"/>
              <a:buChar char="▪"/>
            </a:pPr>
            <a:r>
              <a:rPr lang="en-US" sz="1800" dirty="0">
                <a:solidFill>
                  <a:srgbClr val="222B33"/>
                </a:solidFill>
                <a:latin typeface="Calibri" pitchFamily="34" charset="0"/>
                <a:ea typeface="Calibri" pitchFamily="34" charset="-122"/>
                <a:cs typeface="Calibri" pitchFamily="34" charset="-120"/>
              </a:rPr>
              <a:t>Phản hồi và chỉnh sửa (Critique &amp; Revision) — mô phỏng quy trình Agile.</a:t>
            </a:r>
            <a:endParaRPr lang="en-US" sz="1800" dirty="0"/>
          </a:p>
          <a:p>
            <a:pPr algn="l" marL="203200" indent="-203200">
              <a:lnSpc>
                <a:spcPct val="108000"/>
              </a:lnSpc>
              <a:spcAft>
                <a:spcPts val="1000"/>
              </a:spcAft>
              <a:buSzPct val="100000"/>
              <a:buChar char="▪"/>
            </a:pPr>
            <a:r>
              <a:rPr lang="en-US" sz="1800" dirty="0">
                <a:solidFill>
                  <a:srgbClr val="222B33"/>
                </a:solidFill>
                <a:latin typeface="Calibri" pitchFamily="34" charset="0"/>
                <a:ea typeface="Calibri" pitchFamily="34" charset="-122"/>
                <a:cs typeface="Calibri" pitchFamily="34" charset="-120"/>
              </a:rPr>
              <a:t>Công bố sản phẩm cho đối tượng thực sự.</a:t>
            </a:r>
            <a:endParaRPr lang="en-US" sz="1800" dirty="0"/>
          </a:p>
          <a:p>
            <a:pPr algn="l" marL="203200" indent="-203200">
              <a:lnSpc>
                <a:spcPct val="108000"/>
              </a:lnSpc>
              <a:spcAft>
                <a:spcPts val="1000"/>
              </a:spcAft>
              <a:buSzPct val="100000"/>
              <a:buChar char="▪"/>
            </a:pPr>
            <a:r>
              <a:rPr lang="en-US" sz="1800" dirty="0">
                <a:solidFill>
                  <a:srgbClr val="222B33"/>
                </a:solidFill>
                <a:latin typeface="Calibri" pitchFamily="34" charset="0"/>
                <a:ea typeface="Calibri" pitchFamily="34" charset="-122"/>
                <a:cs typeface="Calibri" pitchFamily="34" charset="-120"/>
              </a:rPr>
              <a:t>Làm việc nhóm có phân công rõ ràng.</a:t>
            </a:r>
            <a:endParaRPr lang="en-US" sz="1800" dirty="0"/>
          </a:p>
          <a:p>
            <a:pPr algn="l" marL="203200" indent="-203200">
              <a:lnSpc>
                <a:spcPct val="108000"/>
              </a:lnSpc>
              <a:spcAft>
                <a:spcPts val="1000"/>
              </a:spcAft>
              <a:buSzPct val="100000"/>
              <a:buChar char="▪"/>
            </a:pPr>
            <a:r>
              <a:rPr lang="en-US" sz="1800" dirty="0">
                <a:solidFill>
                  <a:srgbClr val="222B33"/>
                </a:solidFill>
                <a:latin typeface="Calibri" pitchFamily="34" charset="0"/>
                <a:ea typeface="Calibri" pitchFamily="34" charset="-122"/>
                <a:cs typeface="Calibri" pitchFamily="34" charset="-120"/>
              </a:rPr>
              <a:t>Phản tư (Reflection) — suy ngẫm về quá trình học.</a:t>
            </a:r>
            <a:endParaRPr lang="en-US" sz="1800" dirty="0"/>
          </a:p>
        </p:txBody>
      </p:sp>
      <p:sp>
        <p:nvSpPr>
          <p:cNvPr id="6" name="Text 4"/>
          <p:cNvSpPr/>
          <p:nvPr/>
        </p:nvSpPr>
        <p:spPr>
          <a:xfrm>
            <a:off x="502920" y="5989320"/>
            <a:ext cx="11155680" cy="411480"/>
          </a:xfrm>
          <a:prstGeom prst="rect">
            <a:avLst/>
          </a:prstGeom>
          <a:noFill/>
          <a:ln/>
        </p:spPr>
        <p:txBody>
          <a:bodyPr wrap="square" rtlCol="0" anchor="ctr"/>
          <a:lstStyle/>
          <a:p>
            <a:pPr indent="0" marL="0">
              <a:buNone/>
            </a:pPr>
            <a:r>
              <a:rPr lang="en-US" sz="1250" b="1" i="1" dirty="0">
                <a:solidFill>
                  <a:srgbClr val="C1571A"/>
                </a:solidFill>
                <a:latin typeface="Calibri" pitchFamily="34" charset="0"/>
                <a:ea typeface="Calibri" pitchFamily="34" charset="-122"/>
                <a:cs typeface="Calibri" pitchFamily="34" charset="-120"/>
              </a:rPr>
              <a:t>Theo Buck Institute for Education (2019), điều chỉnh cho môn Tin học.</a:t>
            </a:r>
            <a:endParaRPr lang="en-US" sz="1250" dirty="0"/>
          </a:p>
        </p:txBody>
      </p:sp>
      <p:sp>
        <p:nvSpPr>
          <p:cNvPr id="7" name="Text 5"/>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8" name="Text 6"/>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52</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3.4.2</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Bốn giai đoạn triển khai PjBL</a:t>
            </a:r>
            <a:endParaRPr lang="en-US" sz="30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850" dirty="0">
                <a:solidFill>
                  <a:srgbClr val="222B33"/>
                </a:solidFill>
                <a:latin typeface="Calibri" pitchFamily="34" charset="0"/>
                <a:ea typeface="Calibri" pitchFamily="34" charset="-122"/>
                <a:cs typeface="Calibri" pitchFamily="34" charset="-120"/>
              </a:rPr>
              <a:t>1. Khởi động &amp; xác định dự án (1 tiết): giới thiệu câu hỏi định hướng, chia nhóm phân vai, lập kế hoạch, công bố rubric.</a:t>
            </a:r>
            <a:endParaRPr lang="en-US" sz="1850" dirty="0"/>
          </a:p>
          <a:p>
            <a:pPr algn="l" marL="203200" indent="-203200">
              <a:lnSpc>
                <a:spcPct val="108000"/>
              </a:lnSpc>
              <a:spcAft>
                <a:spcPts val="1000"/>
              </a:spcAft>
              <a:buSzPct val="100000"/>
              <a:buChar char="▪"/>
            </a:pPr>
            <a:r>
              <a:rPr lang="en-US" sz="1850" dirty="0">
                <a:solidFill>
                  <a:srgbClr val="222B33"/>
                </a:solidFill>
                <a:latin typeface="Calibri" pitchFamily="34" charset="0"/>
                <a:ea typeface="Calibri" pitchFamily="34" charset="-122"/>
                <a:cs typeface="Calibri" pitchFamily="34" charset="-120"/>
              </a:rPr>
              <a:t>2. Thực hiện dự án (3–5 tuần): làm theo kế hoạch; check-in định kỳ; phản hồi chéo (Peer Review); GV quan sát.</a:t>
            </a:r>
            <a:endParaRPr lang="en-US" sz="1850" dirty="0"/>
          </a:p>
          <a:p>
            <a:pPr algn="l" marL="203200" indent="-203200">
              <a:lnSpc>
                <a:spcPct val="108000"/>
              </a:lnSpc>
              <a:spcAft>
                <a:spcPts val="1000"/>
              </a:spcAft>
              <a:buSzPct val="100000"/>
              <a:buChar char="▪"/>
            </a:pPr>
            <a:r>
              <a:rPr lang="en-US" sz="1850" dirty="0">
                <a:solidFill>
                  <a:srgbClr val="222B33"/>
                </a:solidFill>
                <a:latin typeface="Calibri" pitchFamily="34" charset="0"/>
                <a:ea typeface="Calibri" pitchFamily="34" charset="-122"/>
                <a:cs typeface="Calibri" pitchFamily="34" charset="-120"/>
              </a:rPr>
              <a:t>3. Hoàn thiện &amp; trình bày (1–2 tiết): hoàn thiện sản phẩm; demo thực sự; trả lời câu hỏi từ khán giả.</a:t>
            </a:r>
            <a:endParaRPr lang="en-US" sz="1850" dirty="0"/>
          </a:p>
          <a:p>
            <a:pPr algn="l" marL="203200" indent="-203200">
              <a:lnSpc>
                <a:spcPct val="108000"/>
              </a:lnSpc>
              <a:spcAft>
                <a:spcPts val="1000"/>
              </a:spcAft>
              <a:buSzPct val="100000"/>
              <a:buChar char="▪"/>
            </a:pPr>
            <a:r>
              <a:rPr lang="en-US" sz="1850" dirty="0">
                <a:solidFill>
                  <a:srgbClr val="222B33"/>
                </a:solidFill>
                <a:latin typeface="Calibri" pitchFamily="34" charset="0"/>
                <a:ea typeface="Calibri" pitchFamily="34" charset="-122"/>
                <a:cs typeface="Calibri" pitchFamily="34" charset="-120"/>
              </a:rPr>
              <a:t>4. Đánh giá &amp; phản tư (1 tiết): đánh giá theo rubric đa chiều; HS viết nhật ký phản tư; GV tổng kết kiến thức.</a:t>
            </a:r>
            <a:endParaRPr lang="en-US" sz="1850" dirty="0"/>
          </a:p>
        </p:txBody>
      </p:sp>
      <p:sp>
        <p:nvSpPr>
          <p:cNvPr id="6" name="Text 4"/>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53</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3.4.2</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Đánh giá dự án Tin học (trọng số)</a:t>
            </a:r>
            <a:endParaRPr lang="en-US" sz="30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11155680" cy="914400"/>
        </p:xfrm>
        <a:graphic>
          <a:graphicData uri="http://schemas.openxmlformats.org/drawingml/2006/table">
            <a:tbl>
              <a:tblPr/>
              <a:tblGrid>
                <a:gridCol w="3474720"/>
                <a:gridCol w="1463040"/>
                <a:gridCol w="6217920"/>
              </a:tblGrid>
              <a:tr h="45720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Tiêu chí</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Trọng số</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Mô tả</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693420">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Chất lượng sản phẩm</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30%</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Đáp ứng mục tiêu, hoạt động ổn định, có giá trị sử dụng</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693420">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Mức độ đáp ứng yêu cầu</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Hoàn thành đầy đủ tiêu chí và sản phẩm đầu ra</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693420">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Thiết kế &amp; thực hiện</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15%</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Bố cục rõ ràng, tổ chức khoa học, thuận tiện sử dụng</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693420">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Trình bày &amp; bảo vệ</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15%</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Trình bày logic, giải thích và bảo vệ được quyết định</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693420">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Hợp tác trong nhóm</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Phối hợp hiệu quả, phân công hỗ trợ lẫn nhau</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693420">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Đánh giá &amp; phát triển</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300" dirty="0">
                          <a:solidFill>
                            <a:srgbClr val="222B33"/>
                          </a:solidFill>
                          <a:latin typeface="Calibri" pitchFamily="34" charset="0"/>
                          <a:ea typeface="Calibri" pitchFamily="34" charset="-122"/>
                          <a:cs typeface="Calibri" pitchFamily="34" charset="-120"/>
                        </a:rPr>
                        <a:t>Tự đánh giá, nhận diện hạn chế, đề xuất cải tiến</a:t>
                      </a:r>
                      <a:endParaRPr lang="en-US" sz="13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bl>
          </a:graphicData>
        </a:graphic>
      </p:graphicFrame>
      <p:sp>
        <p:nvSpPr>
          <p:cNvPr id="6" name="Text 3"/>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7" name="Text 4"/>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54</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3.4.2</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Ví dụ dự án theo cấp học</a:t>
            </a:r>
            <a:endParaRPr lang="en-US" sz="30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900" b="1" dirty="0">
                <a:solidFill>
                  <a:srgbClr val="222B33"/>
                </a:solidFill>
                <a:latin typeface="Calibri" pitchFamily="34" charset="0"/>
                <a:ea typeface="Calibri" pitchFamily="34" charset="-122"/>
                <a:cs typeface="Calibri" pitchFamily="34" charset="-120"/>
              </a:rPr>
              <a:t>THCS (Lớp 8–9)</a:t>
            </a:r>
            <a:endParaRPr lang="en-US" sz="1900" dirty="0"/>
          </a:p>
          <a:p>
            <a:pPr algn="l" lvl="1" marL="457200" indent="-228600">
              <a:lnSpc>
                <a:spcPct val="108000"/>
              </a:lnSpc>
              <a:spcAft>
                <a:spcPts val="600"/>
              </a:spcAft>
              <a:buSzPct val="100000"/>
              <a:buChar char="–"/>
            </a:pPr>
            <a:r>
              <a:rPr lang="en-US" sz="1700" dirty="0">
                <a:solidFill>
                  <a:srgbClr val="5B6B79"/>
                </a:solidFill>
                <a:latin typeface="Calibri" pitchFamily="34" charset="0"/>
                <a:ea typeface="Calibri" pitchFamily="34" charset="-122"/>
                <a:cs typeface="Calibri" pitchFamily="34" charset="-120"/>
              </a:rPr>
              <a:t>Ứng dụng quản lý thư viện lớp học (Python, 3–4 tuần) — thêm/mượn/trả/tìm sách.</a:t>
            </a:r>
            <a:endParaRPr lang="en-US" sz="1900" dirty="0"/>
          </a:p>
          <a:p>
            <a:pPr algn="l" lvl="1" marL="457200" indent="-228600">
              <a:lnSpc>
                <a:spcPct val="108000"/>
              </a:lnSpc>
              <a:spcAft>
                <a:spcPts val="600"/>
              </a:spcAft>
              <a:buSzPct val="100000"/>
              <a:buChar char="–"/>
            </a:pPr>
            <a:r>
              <a:rPr lang="en-US" sz="1700" dirty="0">
                <a:solidFill>
                  <a:srgbClr val="5B6B79"/>
                </a:solidFill>
                <a:latin typeface="Calibri" pitchFamily="34" charset="0"/>
                <a:ea typeface="Calibri" pitchFamily="34" charset="-122"/>
                <a:cs typeface="Calibri" pitchFamily="34" charset="-120"/>
              </a:rPr>
              <a:t>Trò chơi câu đố kiến thức (Scratch/Python, 2–3 tuần) — quiz có tính điểm.</a:t>
            </a:r>
            <a:endParaRPr lang="en-US" sz="1900" dirty="0"/>
          </a:p>
          <a:p>
            <a:pPr algn="l" marL="203200" indent="-203200">
              <a:lnSpc>
                <a:spcPct val="108000"/>
              </a:lnSpc>
              <a:spcAft>
                <a:spcPts val="1000"/>
              </a:spcAft>
              <a:buSzPct val="100000"/>
              <a:buChar char="▪"/>
            </a:pPr>
            <a:r>
              <a:rPr lang="en-US" sz="1900" b="1" dirty="0">
                <a:solidFill>
                  <a:srgbClr val="222B33"/>
                </a:solidFill>
                <a:latin typeface="Calibri" pitchFamily="34" charset="0"/>
                <a:ea typeface="Calibri" pitchFamily="34" charset="-122"/>
                <a:cs typeface="Calibri" pitchFamily="34" charset="-120"/>
              </a:rPr>
              <a:t>THPT (Lớp 10–12)</a:t>
            </a:r>
            <a:endParaRPr lang="en-US" sz="1900" dirty="0"/>
          </a:p>
          <a:p>
            <a:pPr algn="l" lvl="1" marL="457200" indent="-228600">
              <a:lnSpc>
                <a:spcPct val="108000"/>
              </a:lnSpc>
              <a:spcAft>
                <a:spcPts val="600"/>
              </a:spcAft>
              <a:buSzPct val="100000"/>
              <a:buChar char="–"/>
            </a:pPr>
            <a:r>
              <a:rPr lang="en-US" sz="1700" dirty="0">
                <a:solidFill>
                  <a:srgbClr val="5B6B79"/>
                </a:solidFill>
                <a:latin typeface="Calibri" pitchFamily="34" charset="0"/>
                <a:ea typeface="Calibri" pitchFamily="34" charset="-122"/>
                <a:cs typeface="Calibri" pitchFamily="34" charset="-120"/>
              </a:rPr>
              <a:t>Phân tích dữ liệu thực bằng Python (4–6 tuần) — dữ liệu thi THPT, khí hậu, dịch bệnh.</a:t>
            </a:r>
            <a:endParaRPr lang="en-US" sz="1900" dirty="0"/>
          </a:p>
          <a:p>
            <a:pPr algn="l" lvl="1" marL="457200" indent="-228600">
              <a:lnSpc>
                <a:spcPct val="108000"/>
              </a:lnSpc>
              <a:spcAft>
                <a:spcPts val="600"/>
              </a:spcAft>
              <a:buSzPct val="100000"/>
              <a:buChar char="–"/>
            </a:pPr>
            <a:r>
              <a:rPr lang="en-US" sz="1700" dirty="0">
                <a:solidFill>
                  <a:srgbClr val="5B6B79"/>
                </a:solidFill>
                <a:latin typeface="Calibri" pitchFamily="34" charset="0"/>
                <a:ea typeface="Calibri" pitchFamily="34" charset="-122"/>
                <a:cs typeface="Calibri" pitchFamily="34" charset="-120"/>
              </a:rPr>
              <a:t>Trang web giới thiệu trường học (HTML/CSS/JS, 3–4 tuần).</a:t>
            </a:r>
            <a:endParaRPr lang="en-US" sz="1900" dirty="0"/>
          </a:p>
        </p:txBody>
      </p:sp>
      <p:sp>
        <p:nvSpPr>
          <p:cNvPr id="6" name="Text 4"/>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55</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3.4.3</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Dạy học hợp tác — 5 nguyên tắc (Johnson &amp; Johnson, 1994)</a:t>
            </a:r>
            <a:endParaRPr lang="en-US" sz="30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850" dirty="0">
                <a:solidFill>
                  <a:srgbClr val="222B33"/>
                </a:solidFill>
                <a:latin typeface="Calibri" pitchFamily="34" charset="0"/>
                <a:ea typeface="Calibri" pitchFamily="34" charset="-122"/>
                <a:cs typeface="Calibri" pitchFamily="34" charset="-120"/>
              </a:rPr>
              <a:t>Phụ thuộc tích cực: nhiệm vụ cấu trúc sao cho không ai hoàn thành một mình được.</a:t>
            </a:r>
            <a:endParaRPr lang="en-US" sz="1850" dirty="0"/>
          </a:p>
          <a:p>
            <a:pPr algn="l" marL="203200" indent="-203200">
              <a:lnSpc>
                <a:spcPct val="108000"/>
              </a:lnSpc>
              <a:spcAft>
                <a:spcPts val="1000"/>
              </a:spcAft>
              <a:buSzPct val="100000"/>
              <a:buChar char="▪"/>
            </a:pPr>
            <a:r>
              <a:rPr lang="en-US" sz="1850" dirty="0">
                <a:solidFill>
                  <a:srgbClr val="222B33"/>
                </a:solidFill>
                <a:latin typeface="Calibri" pitchFamily="34" charset="0"/>
                <a:ea typeface="Calibri" pitchFamily="34" charset="-122"/>
                <a:cs typeface="Calibri" pitchFamily="34" charset="-120"/>
              </a:rPr>
              <a:t>Trách nhiệm cá nhân: mỗi thành viên chứng minh đóng góp — VD: giải thích một phần code nhóm đã viết.</a:t>
            </a:r>
            <a:endParaRPr lang="en-US" sz="1850" dirty="0"/>
          </a:p>
          <a:p>
            <a:pPr algn="l" marL="203200" indent="-203200">
              <a:lnSpc>
                <a:spcPct val="108000"/>
              </a:lnSpc>
              <a:spcAft>
                <a:spcPts val="1000"/>
              </a:spcAft>
              <a:buSzPct val="100000"/>
              <a:buChar char="▪"/>
            </a:pPr>
            <a:r>
              <a:rPr lang="en-US" sz="1850" dirty="0">
                <a:solidFill>
                  <a:srgbClr val="222B33"/>
                </a:solidFill>
                <a:latin typeface="Calibri" pitchFamily="34" charset="0"/>
                <a:ea typeface="Calibri" pitchFamily="34" charset="-122"/>
                <a:cs typeface="Calibri" pitchFamily="34" charset="-120"/>
              </a:rPr>
              <a:t>Tương tác thúc đẩy: thành viên khuyến khích, giải thích cho nhau.</a:t>
            </a:r>
            <a:endParaRPr lang="en-US" sz="1850" dirty="0"/>
          </a:p>
          <a:p>
            <a:pPr algn="l" marL="203200" indent="-203200">
              <a:lnSpc>
                <a:spcPct val="108000"/>
              </a:lnSpc>
              <a:spcAft>
                <a:spcPts val="1000"/>
              </a:spcAft>
              <a:buSzPct val="100000"/>
              <a:buChar char="▪"/>
            </a:pPr>
            <a:r>
              <a:rPr lang="en-US" sz="1850" dirty="0">
                <a:solidFill>
                  <a:srgbClr val="222B33"/>
                </a:solidFill>
                <a:latin typeface="Calibri" pitchFamily="34" charset="0"/>
                <a:ea typeface="Calibri" pitchFamily="34" charset="-122"/>
                <a:cs typeface="Calibri" pitchFamily="34" charset="-120"/>
              </a:rPr>
              <a:t>Kỹ năng xã hội: lắng nghe, bất đồng xây dựng, phân công hợp lý.</a:t>
            </a:r>
            <a:endParaRPr lang="en-US" sz="1850" dirty="0"/>
          </a:p>
          <a:p>
            <a:pPr algn="l" marL="203200" indent="-203200">
              <a:lnSpc>
                <a:spcPct val="108000"/>
              </a:lnSpc>
              <a:spcAft>
                <a:spcPts val="1000"/>
              </a:spcAft>
              <a:buSzPct val="100000"/>
              <a:buChar char="▪"/>
            </a:pPr>
            <a:r>
              <a:rPr lang="en-US" sz="1850" dirty="0">
                <a:solidFill>
                  <a:srgbClr val="222B33"/>
                </a:solidFill>
                <a:latin typeface="Calibri" pitchFamily="34" charset="0"/>
                <a:ea typeface="Calibri" pitchFamily="34" charset="-122"/>
                <a:cs typeface="Calibri" pitchFamily="34" charset="-120"/>
              </a:rPr>
              <a:t>Xử lý nhóm: định kỳ tự đánh giá “Chúng ta làm việc cùng nhau tốt không?”</a:t>
            </a:r>
            <a:endParaRPr lang="en-US" sz="1850" dirty="0"/>
          </a:p>
        </p:txBody>
      </p:sp>
      <p:sp>
        <p:nvSpPr>
          <p:cNvPr id="6" name="Text 4"/>
          <p:cNvSpPr/>
          <p:nvPr/>
        </p:nvSpPr>
        <p:spPr>
          <a:xfrm>
            <a:off x="502920" y="5989320"/>
            <a:ext cx="11155680" cy="411480"/>
          </a:xfrm>
          <a:prstGeom prst="rect">
            <a:avLst/>
          </a:prstGeom>
          <a:noFill/>
          <a:ln/>
        </p:spPr>
        <p:txBody>
          <a:bodyPr wrap="square" rtlCol="0" anchor="ctr"/>
          <a:lstStyle/>
          <a:p>
            <a:pPr indent="0" marL="0">
              <a:buNone/>
            </a:pPr>
            <a:r>
              <a:rPr lang="en-US" sz="1250" b="1" i="1" dirty="0">
                <a:solidFill>
                  <a:srgbClr val="C1571A"/>
                </a:solidFill>
                <a:latin typeface="Calibri" pitchFamily="34" charset="0"/>
                <a:ea typeface="Calibri" pitchFamily="34" charset="-122"/>
                <a:cs typeface="Calibri" pitchFamily="34" charset="-120"/>
              </a:rPr>
              <a:t>Không phải mọi hoạt động nhóm đều là dạy học hợp tác — chỉ khi đủ 5 điều kiện trên.</a:t>
            </a:r>
            <a:endParaRPr lang="en-US" sz="1250" dirty="0"/>
          </a:p>
        </p:txBody>
      </p:sp>
      <p:sp>
        <p:nvSpPr>
          <p:cNvPr id="7" name="Text 5"/>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8" name="Text 6"/>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56</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3.4.3</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Think–Pair–Share &amp; Pair Programming</a:t>
            </a:r>
            <a:endParaRPr lang="en-US" sz="30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750" b="1" dirty="0">
                <a:solidFill>
                  <a:srgbClr val="222B33"/>
                </a:solidFill>
                <a:latin typeface="Calibri" pitchFamily="34" charset="0"/>
                <a:ea typeface="Calibri" pitchFamily="34" charset="-122"/>
                <a:cs typeface="Calibri" pitchFamily="34" charset="-120"/>
              </a:rPr>
              <a:t>Think – Pair – Share:</a:t>
            </a:r>
            <a:endParaRPr lang="en-US" sz="1750" dirty="0"/>
          </a:p>
          <a:p>
            <a:pPr algn="l" lvl="1" marL="457200" indent="-228600">
              <a:lnSpc>
                <a:spcPct val="108000"/>
              </a:lnSpc>
              <a:spcAft>
                <a:spcPts val="600"/>
              </a:spcAft>
              <a:buSzPct val="100000"/>
              <a:buChar char="–"/>
            </a:pPr>
            <a:r>
              <a:rPr lang="en-US" sz="1550" dirty="0">
                <a:solidFill>
                  <a:srgbClr val="5B6B79"/>
                </a:solidFill>
                <a:latin typeface="Calibri" pitchFamily="34" charset="0"/>
                <a:ea typeface="Calibri" pitchFamily="34" charset="-122"/>
                <a:cs typeface="Calibri" pitchFamily="34" charset="-120"/>
              </a:rPr>
              <a:t>Think (2–3 phút): suy nghĩ độc lập.</a:t>
            </a:r>
            <a:endParaRPr lang="en-US" sz="1750" dirty="0"/>
          </a:p>
          <a:p>
            <a:pPr algn="l" lvl="1" marL="457200" indent="-228600">
              <a:lnSpc>
                <a:spcPct val="108000"/>
              </a:lnSpc>
              <a:spcAft>
                <a:spcPts val="600"/>
              </a:spcAft>
              <a:buSzPct val="100000"/>
              <a:buChar char="–"/>
            </a:pPr>
            <a:r>
              <a:rPr lang="en-US" sz="1550" dirty="0">
                <a:solidFill>
                  <a:srgbClr val="5B6B79"/>
                </a:solidFill>
                <a:latin typeface="Calibri" pitchFamily="34" charset="0"/>
                <a:ea typeface="Calibri" pitchFamily="34" charset="-122"/>
                <a:cs typeface="Calibri" pitchFamily="34" charset="-120"/>
              </a:rPr>
              <a:t>Pair (3–5 phút): thảo luận với bạn cạnh.</a:t>
            </a:r>
            <a:endParaRPr lang="en-US" sz="1750" dirty="0"/>
          </a:p>
          <a:p>
            <a:pPr algn="l" lvl="1" marL="457200" indent="-228600">
              <a:lnSpc>
                <a:spcPct val="108000"/>
              </a:lnSpc>
              <a:spcAft>
                <a:spcPts val="600"/>
              </a:spcAft>
              <a:buSzPct val="100000"/>
              <a:buChar char="–"/>
            </a:pPr>
            <a:r>
              <a:rPr lang="en-US" sz="1550" dirty="0">
                <a:solidFill>
                  <a:srgbClr val="5B6B79"/>
                </a:solidFill>
                <a:latin typeface="Calibri" pitchFamily="34" charset="0"/>
                <a:ea typeface="Calibri" pitchFamily="34" charset="-122"/>
                <a:cs typeface="Calibri" pitchFamily="34" charset="-120"/>
              </a:rPr>
              <a:t>Share (3–5 phút): chia sẻ với cả lớp.</a:t>
            </a:r>
            <a:endParaRPr lang="en-US" sz="1750" dirty="0"/>
          </a:p>
          <a:p>
            <a:pPr algn="l" marL="203200" indent="-203200">
              <a:lnSpc>
                <a:spcPct val="108000"/>
              </a:lnSpc>
              <a:spcAft>
                <a:spcPts val="1000"/>
              </a:spcAft>
              <a:buSzPct val="100000"/>
              <a:buChar char="▪"/>
            </a:pPr>
            <a:r>
              <a:rPr lang="en-US" sz="1750" b="1" dirty="0">
                <a:solidFill>
                  <a:srgbClr val="222B33"/>
                </a:solidFill>
                <a:latin typeface="Calibri" pitchFamily="34" charset="0"/>
                <a:ea typeface="Calibri" pitchFamily="34" charset="-122"/>
                <a:cs typeface="Calibri" pitchFamily="34" charset="-120"/>
              </a:rPr>
              <a:t>Pair Programming:</a:t>
            </a:r>
            <a:endParaRPr lang="en-US" sz="1750" dirty="0"/>
          </a:p>
          <a:p>
            <a:pPr algn="l" lvl="1" marL="457200" indent="-228600">
              <a:lnSpc>
                <a:spcPct val="108000"/>
              </a:lnSpc>
              <a:spcAft>
                <a:spcPts val="600"/>
              </a:spcAft>
              <a:buSzPct val="100000"/>
              <a:buChar char="–"/>
            </a:pPr>
            <a:r>
              <a:rPr lang="en-US" sz="1550" dirty="0">
                <a:solidFill>
                  <a:srgbClr val="5B6B79"/>
                </a:solidFill>
                <a:latin typeface="Calibri" pitchFamily="34" charset="0"/>
                <a:ea typeface="Calibri" pitchFamily="34" charset="-122"/>
                <a:cs typeface="Calibri" pitchFamily="34" charset="-120"/>
              </a:rPr>
              <a:t>Driver: gõ code, tập trung từng dòng lệnh.</a:t>
            </a:r>
            <a:endParaRPr lang="en-US" sz="1750" dirty="0"/>
          </a:p>
          <a:p>
            <a:pPr algn="l" lvl="1" marL="457200" indent="-228600">
              <a:lnSpc>
                <a:spcPct val="108000"/>
              </a:lnSpc>
              <a:spcAft>
                <a:spcPts val="600"/>
              </a:spcAft>
              <a:buSzPct val="100000"/>
              <a:buChar char="–"/>
            </a:pPr>
            <a:r>
              <a:rPr lang="en-US" sz="1550" dirty="0">
                <a:solidFill>
                  <a:srgbClr val="5B6B79"/>
                </a:solidFill>
                <a:latin typeface="Calibri" pitchFamily="34" charset="0"/>
                <a:ea typeface="Calibri" pitchFamily="34" charset="-122"/>
                <a:cs typeface="Calibri" pitchFamily="34" charset="-120"/>
              </a:rPr>
              <a:t>Navigator: quan sát tổng thể, kiểm tra logic, đề xuất cải tiến — không cầm bàn phím.</a:t>
            </a:r>
            <a:endParaRPr lang="en-US" sz="1750" dirty="0"/>
          </a:p>
          <a:p>
            <a:pPr algn="l" lvl="1" marL="457200" indent="-228600">
              <a:lnSpc>
                <a:spcPct val="108000"/>
              </a:lnSpc>
              <a:spcAft>
                <a:spcPts val="600"/>
              </a:spcAft>
              <a:buSzPct val="100000"/>
              <a:buChar char="–"/>
            </a:pPr>
            <a:r>
              <a:rPr lang="en-US" sz="1550" dirty="0">
                <a:solidFill>
                  <a:srgbClr val="5B6B79"/>
                </a:solidFill>
                <a:latin typeface="Calibri" pitchFamily="34" charset="0"/>
                <a:ea typeface="Calibri" pitchFamily="34" charset="-122"/>
                <a:cs typeface="Calibri" pitchFamily="34" charset="-120"/>
              </a:rPr>
              <a:t>Luân chuyển vai trò sau 10–15 phút; không dùng cho bài kiểm tra.</a:t>
            </a:r>
            <a:endParaRPr lang="en-US" sz="1750" dirty="0"/>
          </a:p>
        </p:txBody>
      </p:sp>
      <p:sp>
        <p:nvSpPr>
          <p:cNvPr id="6" name="Text 4"/>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57</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3.4.3</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Phân công vai trò trong nhóm học tập</a:t>
            </a:r>
            <a:endParaRPr lang="en-US" sz="30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11155680" cy="914400"/>
        </p:xfrm>
        <a:graphic>
          <a:graphicData uri="http://schemas.openxmlformats.org/drawingml/2006/table">
            <a:tbl>
              <a:tblPr/>
              <a:tblGrid>
                <a:gridCol w="2926080"/>
                <a:gridCol w="8046720"/>
              </a:tblGrid>
              <a:tr h="457200">
                <a:tc>
                  <a:txBody>
                    <a:bodyPr/>
                    <a:lstStyle/>
                    <a:p>
                      <a:pPr algn="l" indent="0" marL="0">
                        <a:buNone/>
                      </a:pPr>
                      <a:r>
                        <a:rPr lang="en-US" sz="1550" b="1" dirty="0">
                          <a:solidFill>
                            <a:srgbClr val="FFFFFF"/>
                          </a:solidFill>
                          <a:latin typeface="Calibri" pitchFamily="34" charset="0"/>
                          <a:ea typeface="Calibri" pitchFamily="34" charset="-122"/>
                          <a:cs typeface="Calibri" pitchFamily="34" charset="-120"/>
                        </a:rPr>
                        <a:t>Vai trò</a:t>
                      </a:r>
                      <a:endParaRPr lang="en-US" sz="15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550" b="1" dirty="0">
                          <a:solidFill>
                            <a:srgbClr val="FFFFFF"/>
                          </a:solidFill>
                          <a:latin typeface="Calibri" pitchFamily="34" charset="0"/>
                          <a:ea typeface="Calibri" pitchFamily="34" charset="-122"/>
                          <a:cs typeface="Calibri" pitchFamily="34" charset="-120"/>
                        </a:rPr>
                        <a:t>Trách nhiệm</a:t>
                      </a:r>
                      <a:endParaRPr lang="en-US" sz="15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971550">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Nhóm trưởng</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Lập kế hoạch, phân công, theo dõi tiến độ, tổng hợp kết quả</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971550">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Lập trình viên chính</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Thiết kế cấu trúc chương trình, viết chức năng cốt lõi</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971550">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Người kiểm thử</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Xây dựng test case, kiểm tra chức năng, phát hiện lỗi</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971550">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Người viết tài liệu</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450" dirty="0">
                          <a:solidFill>
                            <a:srgbClr val="222B33"/>
                          </a:solidFill>
                          <a:latin typeface="Calibri" pitchFamily="34" charset="0"/>
                          <a:ea typeface="Calibri" pitchFamily="34" charset="-122"/>
                          <a:cs typeface="Calibri" pitchFamily="34" charset="-120"/>
                        </a:rPr>
                        <a:t>Viết báo cáo, mô tả thuật toán, chuẩn bị slide trình bày</a:t>
                      </a:r>
                      <a:endParaRPr lang="en-US" sz="145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bl>
          </a:graphicData>
        </a:graphic>
      </p:graphicFrame>
      <p:sp>
        <p:nvSpPr>
          <p:cNvPr id="6" name="Text 3"/>
          <p:cNvSpPr/>
          <p:nvPr/>
        </p:nvSpPr>
        <p:spPr>
          <a:xfrm>
            <a:off x="502920" y="6291072"/>
            <a:ext cx="11155680" cy="365760"/>
          </a:xfrm>
          <a:prstGeom prst="rect">
            <a:avLst/>
          </a:prstGeom>
          <a:noFill/>
          <a:ln/>
        </p:spPr>
        <p:txBody>
          <a:bodyPr wrap="square" rtlCol="0" anchor="ctr"/>
          <a:lstStyle/>
          <a:p>
            <a:pPr indent="0" marL="0">
              <a:buNone/>
            </a:pPr>
            <a:r>
              <a:rPr lang="en-US" sz="1200" i="1" dirty="0">
                <a:solidFill>
                  <a:srgbClr val="5B6B79"/>
                </a:solidFill>
                <a:latin typeface="Calibri" pitchFamily="34" charset="0"/>
                <a:ea typeface="Calibri" pitchFamily="34" charset="-122"/>
                <a:cs typeface="Calibri" pitchFamily="34" charset="-120"/>
              </a:rPr>
              <a:t>Vai trò nên luân chuyển giữa các dự án. Chia nhóm 3–4 người; phòng ngừa “lười biếng xã hội” bằng phân công cụ thể và yêu cầu mỗi HS giải thích được phần việc của mình.</a:t>
            </a:r>
            <a:endParaRPr lang="en-US" sz="1200" dirty="0"/>
          </a:p>
        </p:txBody>
      </p:sp>
      <p:sp>
        <p:nvSpPr>
          <p:cNvPr id="7" name="Text 4"/>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8"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58</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3.4.4</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Dạy học khám phá — ba mức độ</a:t>
            </a:r>
            <a:endParaRPr lang="en-US" sz="30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2000" dirty="0">
                <a:solidFill>
                  <a:srgbClr val="222B33"/>
                </a:solidFill>
                <a:latin typeface="Calibri" pitchFamily="34" charset="0"/>
                <a:ea typeface="Calibri" pitchFamily="34" charset="-122"/>
                <a:cs typeface="Calibri" pitchFamily="34" charset="-120"/>
              </a:rPr>
              <a:t>Mức 1 — Khám phá có hướng dẫn (Structured): GV cung cấp vấn đề VÀ phương pháp; HS thực hiện theo quy trình.</a:t>
            </a:r>
            <a:endParaRPr lang="en-US" sz="2000" dirty="0"/>
          </a:p>
          <a:p>
            <a:pPr algn="l" marL="203200" indent="-203200">
              <a:lnSpc>
                <a:spcPct val="108000"/>
              </a:lnSpc>
              <a:spcAft>
                <a:spcPts val="1000"/>
              </a:spcAft>
              <a:buSzPct val="100000"/>
              <a:buChar char="▪"/>
            </a:pPr>
            <a:r>
              <a:rPr lang="en-US" sz="2000" dirty="0">
                <a:solidFill>
                  <a:srgbClr val="222B33"/>
                </a:solidFill>
                <a:latin typeface="Calibri" pitchFamily="34" charset="0"/>
                <a:ea typeface="Calibri" pitchFamily="34" charset="-122"/>
                <a:cs typeface="Calibri" pitchFamily="34" charset="-120"/>
              </a:rPr>
              <a:t>Mức 2 — Khám phá một phần (Guided): GV cung cấp vấn đề; HS tự xác định phương pháp tiếp cận.</a:t>
            </a:r>
            <a:endParaRPr lang="en-US" sz="2000" dirty="0"/>
          </a:p>
          <a:p>
            <a:pPr algn="l" marL="203200" indent="-203200">
              <a:lnSpc>
                <a:spcPct val="108000"/>
              </a:lnSpc>
              <a:spcAft>
                <a:spcPts val="1000"/>
              </a:spcAft>
              <a:buSzPct val="100000"/>
              <a:buChar char="▪"/>
            </a:pPr>
            <a:r>
              <a:rPr lang="en-US" sz="2000" dirty="0">
                <a:solidFill>
                  <a:srgbClr val="222B33"/>
                </a:solidFill>
                <a:latin typeface="Calibri" pitchFamily="34" charset="0"/>
                <a:ea typeface="Calibri" pitchFamily="34" charset="-122"/>
                <a:cs typeface="Calibri" pitchFamily="34" charset="-120"/>
              </a:rPr>
              <a:t>Mức 3 — Khám phá tự do (Open): HS tự đặt câu hỏi, tự xác định phương pháp và tìm câu trả lời.</a:t>
            </a:r>
            <a:endParaRPr lang="en-US" sz="2000" dirty="0"/>
          </a:p>
        </p:txBody>
      </p:sp>
      <p:sp>
        <p:nvSpPr>
          <p:cNvPr id="6" name="Text 4"/>
          <p:cNvSpPr/>
          <p:nvPr/>
        </p:nvSpPr>
        <p:spPr>
          <a:xfrm>
            <a:off x="502920" y="5989320"/>
            <a:ext cx="11155680" cy="411480"/>
          </a:xfrm>
          <a:prstGeom prst="rect">
            <a:avLst/>
          </a:prstGeom>
          <a:noFill/>
          <a:ln/>
        </p:spPr>
        <p:txBody>
          <a:bodyPr wrap="square" rtlCol="0" anchor="ctr"/>
          <a:lstStyle/>
          <a:p>
            <a:pPr indent="0" marL="0">
              <a:buNone/>
            </a:pPr>
            <a:r>
              <a:rPr lang="en-US" sz="1250" b="1" i="1" dirty="0">
                <a:solidFill>
                  <a:srgbClr val="C1571A"/>
                </a:solidFill>
                <a:latin typeface="Calibri" pitchFamily="34" charset="0"/>
                <a:ea typeface="Calibri" pitchFamily="34" charset="-122"/>
                <a:cs typeface="Calibri" pitchFamily="34" charset="-120"/>
              </a:rPr>
              <a:t>Khuyến nghị: bắt đầu từ Mức 1, tăng dần lên Mức 2; Mức 3 phù hợp dự án cuối kỳ hoặc HS năng khiếu.</a:t>
            </a:r>
            <a:endParaRPr lang="en-US" sz="1250" dirty="0"/>
          </a:p>
        </p:txBody>
      </p:sp>
      <p:sp>
        <p:nvSpPr>
          <p:cNvPr id="7" name="Text 5"/>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8" name="Text 6"/>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59</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3.4.4</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Tiến trình khám phá trong Tin học</a:t>
            </a:r>
            <a:endParaRPr lang="en-US" sz="30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900" dirty="0">
                <a:solidFill>
                  <a:srgbClr val="222B33"/>
                </a:solidFill>
                <a:latin typeface="Calibri" pitchFamily="34" charset="0"/>
                <a:ea typeface="Calibri" pitchFamily="34" charset="-122"/>
                <a:cs typeface="Calibri" pitchFamily="34" charset="-120"/>
              </a:rPr>
              <a:t>1. Quan sát và đặt câu hỏi (VD: hai cách giải cùng đúng nhưng tốc độ khác nhau).</a:t>
            </a:r>
            <a:endParaRPr lang="en-US" sz="1900" dirty="0"/>
          </a:p>
          <a:p>
            <a:pPr algn="l" marL="203200" indent="-203200">
              <a:lnSpc>
                <a:spcPct val="108000"/>
              </a:lnSpc>
              <a:spcAft>
                <a:spcPts val="1000"/>
              </a:spcAft>
              <a:buSzPct val="100000"/>
              <a:buChar char="▪"/>
            </a:pPr>
            <a:r>
              <a:rPr lang="en-US" sz="1900" dirty="0">
                <a:solidFill>
                  <a:srgbClr val="222B33"/>
                </a:solidFill>
                <a:latin typeface="Calibri" pitchFamily="34" charset="0"/>
                <a:ea typeface="Calibri" pitchFamily="34" charset="-122"/>
                <a:cs typeface="Calibri" pitchFamily="34" charset="-120"/>
              </a:rPr>
              <a:t>2. Đề xuất giả thuyết (“Em cho rằng cách A nhanh hơn vì...”).</a:t>
            </a:r>
            <a:endParaRPr lang="en-US" sz="1900" dirty="0"/>
          </a:p>
          <a:p>
            <a:pPr algn="l" marL="203200" indent="-203200">
              <a:lnSpc>
                <a:spcPct val="108000"/>
              </a:lnSpc>
              <a:spcAft>
                <a:spcPts val="1000"/>
              </a:spcAft>
              <a:buSzPct val="100000"/>
              <a:buChar char="▪"/>
            </a:pPr>
            <a:r>
              <a:rPr lang="en-US" sz="1900" dirty="0">
                <a:solidFill>
                  <a:srgbClr val="222B33"/>
                </a:solidFill>
                <a:latin typeface="Calibri" pitchFamily="34" charset="0"/>
                <a:ea typeface="Calibri" pitchFamily="34" charset="-122"/>
                <a:cs typeface="Calibri" pitchFamily="34" charset="-120"/>
              </a:rPr>
              <a:t>3. Thiết kế thực nghiệm — viết code đo thời gian thực thi.</a:t>
            </a:r>
            <a:endParaRPr lang="en-US" sz="1900" dirty="0"/>
          </a:p>
          <a:p>
            <a:pPr algn="l" marL="203200" indent="-203200">
              <a:lnSpc>
                <a:spcPct val="108000"/>
              </a:lnSpc>
              <a:spcAft>
                <a:spcPts val="1000"/>
              </a:spcAft>
              <a:buSzPct val="100000"/>
              <a:buChar char="▪"/>
            </a:pPr>
            <a:r>
              <a:rPr lang="en-US" sz="1900" dirty="0">
                <a:solidFill>
                  <a:srgbClr val="222B33"/>
                </a:solidFill>
                <a:latin typeface="Calibri" pitchFamily="34" charset="0"/>
                <a:ea typeface="Calibri" pitchFamily="34" charset="-122"/>
                <a:cs typeface="Calibri" pitchFamily="34" charset="-120"/>
              </a:rPr>
              <a:t>4. Thu thập dữ liệu — chạy code, ghi lại kết quả.</a:t>
            </a:r>
            <a:endParaRPr lang="en-US" sz="1900" dirty="0"/>
          </a:p>
          <a:p>
            <a:pPr algn="l" marL="203200" indent="-203200">
              <a:lnSpc>
                <a:spcPct val="108000"/>
              </a:lnSpc>
              <a:spcAft>
                <a:spcPts val="1000"/>
              </a:spcAft>
              <a:buSzPct val="100000"/>
              <a:buChar char="▪"/>
            </a:pPr>
            <a:r>
              <a:rPr lang="en-US" sz="1900" dirty="0">
                <a:solidFill>
                  <a:srgbClr val="222B33"/>
                </a:solidFill>
                <a:latin typeface="Calibri" pitchFamily="34" charset="0"/>
                <a:ea typeface="Calibri" pitchFamily="34" charset="-122"/>
                <a:cs typeface="Calibri" pitchFamily="34" charset="-120"/>
              </a:rPr>
              <a:t>5. Phân tích và kết luận.</a:t>
            </a:r>
            <a:endParaRPr lang="en-US" sz="1900" dirty="0"/>
          </a:p>
          <a:p>
            <a:pPr algn="l" marL="203200" indent="-203200">
              <a:lnSpc>
                <a:spcPct val="108000"/>
              </a:lnSpc>
              <a:spcAft>
                <a:spcPts val="1000"/>
              </a:spcAft>
              <a:buSzPct val="100000"/>
              <a:buChar char="▪"/>
            </a:pPr>
            <a:r>
              <a:rPr lang="en-US" sz="1900" dirty="0">
                <a:solidFill>
                  <a:srgbClr val="222B33"/>
                </a:solidFill>
                <a:latin typeface="Calibri" pitchFamily="34" charset="0"/>
                <a:ea typeface="Calibri" pitchFamily="34" charset="-122"/>
                <a:cs typeface="Calibri" pitchFamily="34" charset="-120"/>
              </a:rPr>
              <a:t>6. Truyền đạt — chia sẻ phát hiện với lớp.</a:t>
            </a:r>
            <a:endParaRPr lang="en-US" sz="1900" dirty="0"/>
          </a:p>
        </p:txBody>
      </p:sp>
      <p:sp>
        <p:nvSpPr>
          <p:cNvPr id="6" name="Text 4"/>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60</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3.4.4</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Dạy học phân hóa — ba chiều</a:t>
            </a:r>
            <a:endParaRPr lang="en-US" sz="30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1650" dirty="0">
                <a:solidFill>
                  <a:srgbClr val="222B33"/>
                </a:solidFill>
                <a:latin typeface="Calibri" pitchFamily="34" charset="0"/>
                <a:ea typeface="Calibri" pitchFamily="34" charset="-122"/>
                <a:cs typeface="Calibri" pitchFamily="34" charset="-120"/>
              </a:rPr>
              <a:t>Phân hóa nội dung: cùng chủ đề, mức độ sâu/rộng khác nhau.</a:t>
            </a:r>
            <a:endParaRPr lang="en-US" sz="1650" dirty="0"/>
          </a:p>
          <a:p>
            <a:pPr algn="l" lvl="1" marL="457200" indent="-228600">
              <a:lnSpc>
                <a:spcPct val="108000"/>
              </a:lnSpc>
              <a:spcAft>
                <a:spcPts val="600"/>
              </a:spcAft>
              <a:buSzPct val="100000"/>
              <a:buChar char="–"/>
            </a:pPr>
            <a:r>
              <a:rPr lang="en-US" sz="1450" dirty="0">
                <a:solidFill>
                  <a:srgbClr val="5B6B79"/>
                </a:solidFill>
                <a:latin typeface="Calibri" pitchFamily="34" charset="0"/>
                <a:ea typeface="Calibri" pitchFamily="34" charset="-122"/>
                <a:cs typeface="Calibri" pitchFamily="34" charset="-120"/>
              </a:rPr>
              <a:t>VD chủ đề “Hàm trong Python” — Cơ bản: định nghĩa, gọi hàm; Trung bình: trả về nhiều giá trị, scope; Nâng cao: lambda, decorator.</a:t>
            </a:r>
            <a:endParaRPr lang="en-US" sz="1650" dirty="0"/>
          </a:p>
          <a:p>
            <a:pPr algn="l" marL="203200" indent="-203200">
              <a:lnSpc>
                <a:spcPct val="108000"/>
              </a:lnSpc>
              <a:spcAft>
                <a:spcPts val="1000"/>
              </a:spcAft>
              <a:buSzPct val="100000"/>
              <a:buChar char="▪"/>
            </a:pPr>
            <a:r>
              <a:rPr lang="en-US" sz="1650" dirty="0">
                <a:solidFill>
                  <a:srgbClr val="222B33"/>
                </a:solidFill>
                <a:latin typeface="Calibri" pitchFamily="34" charset="0"/>
                <a:ea typeface="Calibri" pitchFamily="34" charset="-122"/>
                <a:cs typeface="Calibri" pitchFamily="34" charset="-120"/>
              </a:rPr>
              <a:t>Phân hóa quá trình: cùng mục tiêu, hỗ trợ và con đường khác nhau.</a:t>
            </a:r>
            <a:endParaRPr lang="en-US" sz="1650" dirty="0"/>
          </a:p>
          <a:p>
            <a:pPr algn="l" lvl="1" marL="457200" indent="-228600">
              <a:lnSpc>
                <a:spcPct val="108000"/>
              </a:lnSpc>
              <a:spcAft>
                <a:spcPts val="600"/>
              </a:spcAft>
              <a:buSzPct val="100000"/>
              <a:buChar char="–"/>
            </a:pPr>
            <a:r>
              <a:rPr lang="en-US" sz="1450" dirty="0">
                <a:solidFill>
                  <a:srgbClr val="5B6B79"/>
                </a:solidFill>
                <a:latin typeface="Calibri" pitchFamily="34" charset="0"/>
                <a:ea typeface="Calibri" pitchFamily="34" charset="-122"/>
                <a:cs typeface="Calibri" pitchFamily="34" charset="-120"/>
              </a:rPr>
              <a:t>Nhóm cần hỗ trợ: phiếu gợi ý từng bước; Nhóm nâng cao: làm việc độc lập, tự mở rộng bài toán.</a:t>
            </a:r>
            <a:endParaRPr lang="en-US" sz="1650" dirty="0"/>
          </a:p>
          <a:p>
            <a:pPr algn="l" marL="203200" indent="-203200">
              <a:lnSpc>
                <a:spcPct val="108000"/>
              </a:lnSpc>
              <a:spcAft>
                <a:spcPts val="1000"/>
              </a:spcAft>
              <a:buSzPct val="100000"/>
              <a:buChar char="▪"/>
            </a:pPr>
            <a:r>
              <a:rPr lang="en-US" sz="1650" dirty="0">
                <a:solidFill>
                  <a:srgbClr val="222B33"/>
                </a:solidFill>
                <a:latin typeface="Calibri" pitchFamily="34" charset="0"/>
                <a:ea typeface="Calibri" pitchFamily="34" charset="-122"/>
                <a:cs typeface="Calibri" pitchFamily="34" charset="-120"/>
              </a:rPr>
              <a:t>Phân hóa sản phẩm: nhiều hình thức thể hiện năng lực.</a:t>
            </a:r>
            <a:endParaRPr lang="en-US" sz="1650" dirty="0"/>
          </a:p>
          <a:p>
            <a:pPr algn="l" lvl="1" marL="457200" indent="-228600">
              <a:lnSpc>
                <a:spcPct val="108000"/>
              </a:lnSpc>
              <a:spcAft>
                <a:spcPts val="600"/>
              </a:spcAft>
              <a:buSzPct val="100000"/>
              <a:buChar char="–"/>
            </a:pPr>
            <a:r>
              <a:rPr lang="en-US" sz="1450" dirty="0">
                <a:solidFill>
                  <a:srgbClr val="5B6B79"/>
                </a:solidFill>
                <a:latin typeface="Calibri" pitchFamily="34" charset="0"/>
                <a:ea typeface="Calibri" pitchFamily="34" charset="-122"/>
                <a:cs typeface="Calibri" pitchFamily="34" charset="-120"/>
              </a:rPr>
              <a:t>HS thiên trực quan: video giải thích thuật toán; HS thiên phân tích: báo cáo so sánh thuật toán.</a:t>
            </a:r>
            <a:endParaRPr lang="en-US" sz="1650" dirty="0"/>
          </a:p>
        </p:txBody>
      </p:sp>
      <p:sp>
        <p:nvSpPr>
          <p:cNvPr id="6" name="Text 4"/>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61</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3.4.4</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Ví dụ Trạm học tập — chủ đề “Thuật toán sắp xếp”</a:t>
            </a:r>
            <a:endParaRPr lang="en-US" sz="30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11155680" cy="914400"/>
        </p:xfrm>
        <a:graphic>
          <a:graphicData uri="http://schemas.openxmlformats.org/drawingml/2006/table">
            <a:tbl>
              <a:tblPr/>
              <a:tblGrid>
                <a:gridCol w="2743200"/>
                <a:gridCol w="6583680"/>
                <a:gridCol w="1645920"/>
              </a:tblGrid>
              <a:tr h="45720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Trạm</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Hoạt động</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Thời gian</a:t>
                      </a:r>
                      <a:endParaRPr lang="en-US" sz="15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1B3A5C"/>
                    </a:solidFill>
                  </a:tcPr>
                </a:tc>
              </a:tr>
              <a:tr h="971550">
                <a:tc>
                  <a:txBody>
                    <a:bodyPr/>
                    <a:lstStyle/>
                    <a:p>
                      <a:pPr algn="l" indent="0" marL="0">
                        <a:buNone/>
                      </a:pPr>
                      <a:r>
                        <a:rPr lang="en-US" sz="1400" dirty="0">
                          <a:solidFill>
                            <a:srgbClr val="222B33"/>
                          </a:solidFill>
                          <a:latin typeface="Calibri" pitchFamily="34" charset="0"/>
                          <a:ea typeface="Calibri" pitchFamily="34" charset="-122"/>
                          <a:cs typeface="Calibri" pitchFamily="34" charset="-120"/>
                        </a:rPr>
                        <a:t>1. Trạm Khám phá</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B33"/>
                          </a:solidFill>
                          <a:latin typeface="Calibri" pitchFamily="34" charset="0"/>
                          <a:ea typeface="Calibri" pitchFamily="34" charset="-122"/>
                          <a:cs typeface="Calibri" pitchFamily="34" charset="-120"/>
                        </a:rPr>
                        <a:t>Xem animation Bubble Sort trên VisuAlgo, điền phiếu mô tả</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B33"/>
                          </a:solidFill>
                          <a:latin typeface="Calibri" pitchFamily="34" charset="0"/>
                          <a:ea typeface="Calibri" pitchFamily="34" charset="-122"/>
                          <a:cs typeface="Calibri" pitchFamily="34" charset="-120"/>
                        </a:rPr>
                        <a:t>10 phút</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971550">
                <a:tc>
                  <a:txBody>
                    <a:bodyPr/>
                    <a:lstStyle/>
                    <a:p>
                      <a:pPr algn="l" indent="0" marL="0">
                        <a:buNone/>
                      </a:pPr>
                      <a:r>
                        <a:rPr lang="en-US" sz="1400" dirty="0">
                          <a:solidFill>
                            <a:srgbClr val="222B33"/>
                          </a:solidFill>
                          <a:latin typeface="Calibri" pitchFamily="34" charset="0"/>
                          <a:ea typeface="Calibri" pitchFamily="34" charset="-122"/>
                          <a:cs typeface="Calibri" pitchFamily="34" charset="-120"/>
                        </a:rPr>
                        <a:t>2. Trạm Code</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400" dirty="0">
                          <a:solidFill>
                            <a:srgbClr val="222B33"/>
                          </a:solidFill>
                          <a:latin typeface="Calibri" pitchFamily="34" charset="0"/>
                          <a:ea typeface="Calibri" pitchFamily="34" charset="-122"/>
                          <a:cs typeface="Calibri" pitchFamily="34" charset="-120"/>
                        </a:rPr>
                        <a:t>Hoàn thiện đoạn code Bubble Sort còn thiếu</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400" dirty="0">
                          <a:solidFill>
                            <a:srgbClr val="222B33"/>
                          </a:solidFill>
                          <a:latin typeface="Calibri" pitchFamily="34" charset="0"/>
                          <a:ea typeface="Calibri" pitchFamily="34" charset="-122"/>
                          <a:cs typeface="Calibri" pitchFamily="34" charset="-120"/>
                        </a:rPr>
                        <a:t>12 phút</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r h="971550">
                <a:tc>
                  <a:txBody>
                    <a:bodyPr/>
                    <a:lstStyle/>
                    <a:p>
                      <a:pPr algn="l" indent="0" marL="0">
                        <a:buNone/>
                      </a:pPr>
                      <a:r>
                        <a:rPr lang="en-US" sz="1400" dirty="0">
                          <a:solidFill>
                            <a:srgbClr val="222B33"/>
                          </a:solidFill>
                          <a:latin typeface="Calibri" pitchFamily="34" charset="0"/>
                          <a:ea typeface="Calibri" pitchFamily="34" charset="-122"/>
                          <a:cs typeface="Calibri" pitchFamily="34" charset="-120"/>
                        </a:rPr>
                        <a:t>3. Trạm Debug</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B33"/>
                          </a:solidFill>
                          <a:latin typeface="Calibri" pitchFamily="34" charset="0"/>
                          <a:ea typeface="Calibri" pitchFamily="34" charset="-122"/>
                          <a:cs typeface="Calibri" pitchFamily="34" charset="-120"/>
                        </a:rPr>
                        <a:t>Tìm và sửa lỗi trong code Selection Sort</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B33"/>
                          </a:solidFill>
                          <a:latin typeface="Calibri" pitchFamily="34" charset="0"/>
                          <a:ea typeface="Calibri" pitchFamily="34" charset="-122"/>
                          <a:cs typeface="Calibri" pitchFamily="34" charset="-120"/>
                        </a:rPr>
                        <a:t>12 phút</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FFFFF"/>
                    </a:solidFill>
                  </a:tcPr>
                </a:tc>
              </a:tr>
              <a:tr h="971550">
                <a:tc>
                  <a:txBody>
                    <a:bodyPr/>
                    <a:lstStyle/>
                    <a:p>
                      <a:pPr algn="l" indent="0" marL="0">
                        <a:buNone/>
                      </a:pPr>
                      <a:r>
                        <a:rPr lang="en-US" sz="1400" dirty="0">
                          <a:solidFill>
                            <a:srgbClr val="222B33"/>
                          </a:solidFill>
                          <a:latin typeface="Calibri" pitchFamily="34" charset="0"/>
                          <a:ea typeface="Calibri" pitchFamily="34" charset="-122"/>
                          <a:cs typeface="Calibri" pitchFamily="34" charset="-120"/>
                        </a:rPr>
                        <a:t>4. Trạm Sáng tạo</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400" dirty="0">
                          <a:solidFill>
                            <a:srgbClr val="222B33"/>
                          </a:solidFill>
                          <a:latin typeface="Calibri" pitchFamily="34" charset="0"/>
                          <a:ea typeface="Calibri" pitchFamily="34" charset="-122"/>
                          <a:cs typeface="Calibri" pitchFamily="34" charset="-120"/>
                        </a:rPr>
                        <a:t>Tự thiết kế thuật toán sắp xếp riêng và viết code</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c>
                  <a:txBody>
                    <a:bodyPr/>
                    <a:lstStyle/>
                    <a:p>
                      <a:pPr algn="l" indent="0" marL="0">
                        <a:buNone/>
                      </a:pPr>
                      <a:r>
                        <a:rPr lang="en-US" sz="1400" dirty="0">
                          <a:solidFill>
                            <a:srgbClr val="222B33"/>
                          </a:solidFill>
                          <a:latin typeface="Calibri" pitchFamily="34" charset="0"/>
                          <a:ea typeface="Calibri" pitchFamily="34" charset="-122"/>
                          <a:cs typeface="Calibri" pitchFamily="34" charset="-120"/>
                        </a:rPr>
                        <a:t>15 phút</a:t>
                      </a:r>
                      <a:endParaRPr lang="en-US" sz="1400" dirty="0">
                        <a:latin typeface="Calibri" charset="0"/>
                        <a:ea typeface="Calibri" charset="0"/>
                        <a:cs typeface="Calibri" charset="0"/>
                      </a:endParaRPr>
                    </a:p>
                  </a:txBody>
                  <a:tcPr marL="91440" marR="91440" marT="45720" marB="45720" anchor="ctr">
                    <a:lnL w="9525" cap="flat" cmpd="sng" algn="ctr">
                      <a:solidFill>
                        <a:srgbClr val="D8E0E7"/>
                      </a:solidFill>
                      <a:prstDash val="solid"/>
                      <a:round/>
                      <a:headEnd type="none" w="med" len="med"/>
                      <a:tailEnd type="none" w="med" len="med"/>
                    </a:lnL>
                    <a:lnR w="9525" cap="flat" cmpd="sng" algn="ctr">
                      <a:solidFill>
                        <a:srgbClr val="D8E0E7"/>
                      </a:solidFill>
                      <a:prstDash val="solid"/>
                      <a:round/>
                      <a:headEnd type="none" w="med" len="med"/>
                      <a:tailEnd type="none" w="med" len="med"/>
                    </a:lnR>
                    <a:lnT w="9525" cap="flat" cmpd="sng" algn="ctr">
                      <a:solidFill>
                        <a:srgbClr val="D8E0E7"/>
                      </a:solidFill>
                      <a:prstDash val="solid"/>
                      <a:round/>
                      <a:headEnd type="none" w="med" len="med"/>
                      <a:tailEnd type="none" w="med" len="med"/>
                    </a:lnT>
                    <a:lnB w="9525" cap="flat" cmpd="sng" algn="ctr">
                      <a:solidFill>
                        <a:srgbClr val="D8E0E7"/>
                      </a:solidFill>
                      <a:prstDash val="solid"/>
                      <a:round/>
                      <a:headEnd type="none" w="med" len="med"/>
                      <a:tailEnd type="none" w="med" len="med"/>
                    </a:lnB>
                    <a:solidFill>
                      <a:srgbClr val="F2F6F9"/>
                    </a:solidFill>
                  </a:tcPr>
                </a:tc>
              </a:tr>
            </a:tbl>
          </a:graphicData>
        </a:graphic>
      </p:graphicFrame>
      <p:sp>
        <p:nvSpPr>
          <p:cNvPr id="6" name="Text 3"/>
          <p:cNvSpPr/>
          <p:nvPr/>
        </p:nvSpPr>
        <p:spPr>
          <a:xfrm>
            <a:off x="502920" y="6291072"/>
            <a:ext cx="11155680" cy="365760"/>
          </a:xfrm>
          <a:prstGeom prst="rect">
            <a:avLst/>
          </a:prstGeom>
          <a:noFill/>
          <a:ln/>
        </p:spPr>
        <p:txBody>
          <a:bodyPr wrap="square" rtlCol="0" anchor="ctr"/>
          <a:lstStyle/>
          <a:p>
            <a:pPr indent="0" marL="0">
              <a:buNone/>
            </a:pPr>
            <a:r>
              <a:rPr lang="en-US" sz="1200" i="1" dirty="0">
                <a:solidFill>
                  <a:srgbClr val="5B6B79"/>
                </a:solidFill>
                <a:latin typeface="Calibri" pitchFamily="34" charset="0"/>
                <a:ea typeface="Calibri" pitchFamily="34" charset="-122"/>
                <a:cs typeface="Calibri" pitchFamily="34" charset="-120"/>
              </a:rPr>
              <a:t>Không nhất thiết mọi HS qua tất cả trạm — HS yếu ở lâu hơn Trạm 1–2; HS giỏi tập trung Trạm 3–4.</a:t>
            </a:r>
            <a:endParaRPr lang="en-US" sz="1200" dirty="0"/>
          </a:p>
        </p:txBody>
      </p:sp>
      <p:sp>
        <p:nvSpPr>
          <p:cNvPr id="7" name="Text 4"/>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8"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62</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365760"/>
          </a:xfrm>
          <a:prstGeom prst="rect">
            <a:avLst/>
          </a:prstGeom>
          <a:solidFill>
            <a:srgbClr val="C1571A"/>
          </a:solidFill>
          <a:ln/>
        </p:spPr>
      </p:sp>
      <p:sp>
        <p:nvSpPr>
          <p:cNvPr id="3" name="Text 1"/>
          <p:cNvSpPr/>
          <p:nvPr/>
        </p:nvSpPr>
        <p:spPr>
          <a:xfrm>
            <a:off x="502920" y="384048"/>
            <a:ext cx="137160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3.4.4</a:t>
            </a:r>
            <a:endParaRPr lang="en-US" sz="1300" dirty="0"/>
          </a:p>
        </p:txBody>
      </p:sp>
      <p:sp>
        <p:nvSpPr>
          <p:cNvPr id="4" name="Text 2"/>
          <p:cNvSpPr/>
          <p:nvPr/>
        </p:nvSpPr>
        <p:spPr>
          <a:xfrm>
            <a:off x="502920" y="841248"/>
            <a:ext cx="11155680" cy="77724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Thách thức của dạy học phân hóa &amp; giải pháp</a:t>
            </a:r>
            <a:endParaRPr lang="en-US" sz="3000" dirty="0"/>
          </a:p>
        </p:txBody>
      </p:sp>
      <p:sp>
        <p:nvSpPr>
          <p:cNvPr id="5" name="Text 3"/>
          <p:cNvSpPr/>
          <p:nvPr/>
        </p:nvSpPr>
        <p:spPr>
          <a:xfrm>
            <a:off x="502920" y="1828800"/>
            <a:ext cx="11155680" cy="4480560"/>
          </a:xfrm>
          <a:prstGeom prst="rect">
            <a:avLst/>
          </a:prstGeom>
          <a:noFill/>
          <a:ln/>
        </p:spPr>
        <p:txBody>
          <a:bodyPr wrap="square" rtlCol="0" anchor="t"/>
          <a:lstStyle/>
          <a:p>
            <a:pPr algn="l" marL="203200" indent="-203200">
              <a:lnSpc>
                <a:spcPct val="108000"/>
              </a:lnSpc>
              <a:spcAft>
                <a:spcPts val="1000"/>
              </a:spcAft>
              <a:buSzPct val="100000"/>
              <a:buChar char="▪"/>
            </a:pPr>
            <a:r>
              <a:rPr lang="en-US" sz="2000" dirty="0">
                <a:solidFill>
                  <a:srgbClr val="222B33"/>
                </a:solidFill>
                <a:latin typeface="Calibri" pitchFamily="34" charset="0"/>
                <a:ea typeface="Calibri" pitchFamily="34" charset="-122"/>
                <a:cs typeface="Calibri" pitchFamily="34" charset="-120"/>
              </a:rPr>
              <a:t>Chuẩn bị tốn công sức → bắt đầu với phân hóa sản phẩm (ít tốn công nhất) trước.</a:t>
            </a:r>
            <a:endParaRPr lang="en-US" sz="2000" dirty="0"/>
          </a:p>
          <a:p>
            <a:pPr algn="l" marL="203200" indent="-203200">
              <a:lnSpc>
                <a:spcPct val="108000"/>
              </a:lnSpc>
              <a:spcAft>
                <a:spcPts val="1000"/>
              </a:spcAft>
              <a:buSzPct val="100000"/>
              <a:buChar char="▪"/>
            </a:pPr>
            <a:r>
              <a:rPr lang="en-US" sz="2000" dirty="0">
                <a:solidFill>
                  <a:srgbClr val="222B33"/>
                </a:solidFill>
                <a:latin typeface="Calibri" pitchFamily="34" charset="0"/>
                <a:ea typeface="Calibri" pitchFamily="34" charset="-122"/>
                <a:cs typeface="Calibri" pitchFamily="34" charset="-120"/>
              </a:rPr>
              <a:t>Quản lý lớp phức tạp hơn → quy trình rõ ràng; dùng phần mềm quản lý phòng máy.</a:t>
            </a:r>
            <a:endParaRPr lang="en-US" sz="2000" dirty="0"/>
          </a:p>
          <a:p>
            <a:pPr algn="l" marL="203200" indent="-203200">
              <a:lnSpc>
                <a:spcPct val="108000"/>
              </a:lnSpc>
              <a:spcAft>
                <a:spcPts val="1000"/>
              </a:spcAft>
              <a:buSzPct val="100000"/>
              <a:buChar char="▪"/>
            </a:pPr>
            <a:r>
              <a:rPr lang="en-US" sz="2000" dirty="0">
                <a:solidFill>
                  <a:srgbClr val="222B33"/>
                </a:solidFill>
                <a:latin typeface="Calibri" pitchFamily="34" charset="0"/>
                <a:ea typeface="Calibri" pitchFamily="34" charset="-122"/>
                <a:cs typeface="Calibri" pitchFamily="34" charset="-120"/>
              </a:rPr>
              <a:t>Học sinh bị “gán nhãn” theo nhóm → tránh đặt tên nhóm theo trình độ; luân chuyển thành viên thường xuyên.</a:t>
            </a:r>
            <a:endParaRPr lang="en-US" sz="2000" dirty="0"/>
          </a:p>
        </p:txBody>
      </p:sp>
      <p:sp>
        <p:nvSpPr>
          <p:cNvPr id="6" name="Text 4"/>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Chương 3 · Phương pháp dạy học môn Tin học</a:t>
            </a:r>
            <a:endParaRPr lang="en-US" sz="900" dirty="0"/>
          </a:p>
        </p:txBody>
      </p:sp>
      <p:sp>
        <p:nvSpPr>
          <p:cNvPr id="7"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63</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16324F"/>
        </a:solidFill>
      </p:bgPr>
    </p:bg>
    <p:spTree>
      <p:nvGrpSpPr>
        <p:cNvPr id="1" name=""/>
        <p:cNvGrpSpPr/>
        <p:nvPr/>
      </p:nvGrpSpPr>
      <p:grpSpPr>
        <a:xfrm>
          <a:off x="0" y="0"/>
          <a:ext cx="0" cy="0"/>
          <a:chOff x="0" y="0"/>
          <a:chExt cx="0" cy="0"/>
        </a:xfrm>
      </p:grpSpPr>
      <p:sp>
        <p:nvSpPr>
          <p:cNvPr id="2" name="Text 0"/>
          <p:cNvSpPr/>
          <p:nvPr/>
        </p:nvSpPr>
        <p:spPr>
          <a:xfrm>
            <a:off x="822960" y="502920"/>
            <a:ext cx="7315200" cy="457200"/>
          </a:xfrm>
          <a:prstGeom prst="rect">
            <a:avLst/>
          </a:prstGeom>
          <a:noFill/>
          <a:ln/>
        </p:spPr>
        <p:txBody>
          <a:bodyPr wrap="square" rtlCol="0" anchor="ctr"/>
          <a:lstStyle/>
          <a:p>
            <a:pPr indent="0" marL="0">
              <a:buNone/>
            </a:pPr>
            <a:r>
              <a:rPr lang="en-US" sz="1600" b="1" spc="200" kern="0" dirty="0">
                <a:solidFill>
                  <a:srgbClr val="C1571A"/>
                </a:solidFill>
                <a:latin typeface="Calibri" pitchFamily="34" charset="0"/>
                <a:ea typeface="Calibri" pitchFamily="34" charset="-122"/>
                <a:cs typeface="Calibri" pitchFamily="34" charset="-120"/>
              </a:rPr>
              <a:t>TỔNG KẾT CHƯƠNG</a:t>
            </a:r>
            <a:endParaRPr lang="en-US" sz="1600" dirty="0"/>
          </a:p>
        </p:txBody>
      </p:sp>
      <p:sp>
        <p:nvSpPr>
          <p:cNvPr id="3" name="Text 1"/>
          <p:cNvSpPr/>
          <p:nvPr/>
        </p:nvSpPr>
        <p:spPr>
          <a:xfrm>
            <a:off x="822960" y="914400"/>
            <a:ext cx="9144000" cy="6400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Những điểm cốt lõi cần ghi nhớ</a:t>
            </a:r>
            <a:endParaRPr lang="en-US" sz="2800" dirty="0"/>
          </a:p>
        </p:txBody>
      </p:sp>
      <p:sp>
        <p:nvSpPr>
          <p:cNvPr id="4" name="Shape 2"/>
          <p:cNvSpPr/>
          <p:nvPr/>
        </p:nvSpPr>
        <p:spPr>
          <a:xfrm>
            <a:off x="822960" y="1837944"/>
            <a:ext cx="310896" cy="310896"/>
          </a:xfrm>
          <a:prstGeom prst="rect">
            <a:avLst/>
          </a:prstGeom>
          <a:solidFill>
            <a:srgbClr val="C1571A"/>
          </a:solidFill>
          <a:ln/>
        </p:spPr>
      </p:sp>
      <p:sp>
        <p:nvSpPr>
          <p:cNvPr id="5" name="Text 3"/>
          <p:cNvSpPr/>
          <p:nvPr/>
        </p:nvSpPr>
        <p:spPr>
          <a:xfrm>
            <a:off x="822960" y="1837944"/>
            <a:ext cx="310896" cy="310896"/>
          </a:xfrm>
          <a:prstGeom prst="rect">
            <a:avLst/>
          </a:prstGeom>
          <a:noFill/>
          <a:ln/>
        </p:spPr>
        <p:txBody>
          <a:bodyPr wrap="square" rtlCol="0" anchor="ctr"/>
          <a:lstStyle/>
          <a:p>
            <a:pPr algn="ctr" indent="0" marL="0">
              <a:buNone/>
            </a:pPr>
            <a:r>
              <a:rPr lang="en-US" sz="1300" b="1" dirty="0">
                <a:solidFill>
                  <a:srgbClr val="16324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371600" y="1728216"/>
            <a:ext cx="10058400" cy="566928"/>
          </a:xfrm>
          <a:prstGeom prst="rect">
            <a:avLst/>
          </a:prstGeom>
          <a:noFill/>
          <a:ln/>
        </p:spPr>
        <p:txBody>
          <a:bodyPr wrap="square" rtlCol="0" anchor="ctr"/>
          <a:lstStyle/>
          <a:p>
            <a:pPr indent="0" marL="0">
              <a:buNone/>
            </a:pPr>
            <a:r>
              <a:rPr lang="en-US" sz="1350" dirty="0">
                <a:solidFill>
                  <a:srgbClr val="E6EEF6"/>
                </a:solidFill>
                <a:latin typeface="Calibri" pitchFamily="34" charset="0"/>
                <a:ea typeface="Calibri" pitchFamily="34" charset="-122"/>
                <a:cs typeface="Calibri" pitchFamily="34" charset="-120"/>
              </a:rPr>
              <a:t>QĐDH → PPDH → KTDH là hệ thống phân cấp từ chiến lược đến hành động cụ thể, tương hỗ chặt chẽ.</a:t>
            </a:r>
            <a:endParaRPr lang="en-US" sz="1350" dirty="0"/>
          </a:p>
        </p:txBody>
      </p:sp>
      <p:sp>
        <p:nvSpPr>
          <p:cNvPr id="7" name="Shape 5"/>
          <p:cNvSpPr/>
          <p:nvPr/>
        </p:nvSpPr>
        <p:spPr>
          <a:xfrm>
            <a:off x="822960" y="2587752"/>
            <a:ext cx="310896" cy="310896"/>
          </a:xfrm>
          <a:prstGeom prst="rect">
            <a:avLst/>
          </a:prstGeom>
          <a:solidFill>
            <a:srgbClr val="C1571A"/>
          </a:solidFill>
          <a:ln/>
        </p:spPr>
      </p:sp>
      <p:sp>
        <p:nvSpPr>
          <p:cNvPr id="8" name="Text 6"/>
          <p:cNvSpPr/>
          <p:nvPr/>
        </p:nvSpPr>
        <p:spPr>
          <a:xfrm>
            <a:off x="822960" y="2587752"/>
            <a:ext cx="310896" cy="310896"/>
          </a:xfrm>
          <a:prstGeom prst="rect">
            <a:avLst/>
          </a:prstGeom>
          <a:noFill/>
          <a:ln/>
        </p:spPr>
        <p:txBody>
          <a:bodyPr wrap="square" rtlCol="0" anchor="ctr"/>
          <a:lstStyle/>
          <a:p>
            <a:pPr algn="ctr" indent="0" marL="0">
              <a:buNone/>
            </a:pPr>
            <a:r>
              <a:rPr lang="en-US" sz="1300" b="1" dirty="0">
                <a:solidFill>
                  <a:srgbClr val="16324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1371600" y="2478024"/>
            <a:ext cx="10058400" cy="566928"/>
          </a:xfrm>
          <a:prstGeom prst="rect">
            <a:avLst/>
          </a:prstGeom>
          <a:noFill/>
          <a:ln/>
        </p:spPr>
        <p:txBody>
          <a:bodyPr wrap="square" rtlCol="0" anchor="ctr"/>
          <a:lstStyle/>
          <a:p>
            <a:pPr indent="0" marL="0">
              <a:buNone/>
            </a:pPr>
            <a:r>
              <a:rPr lang="en-US" sz="1350" dirty="0">
                <a:solidFill>
                  <a:srgbClr val="E6EEF6"/>
                </a:solidFill>
                <a:latin typeface="Calibri" pitchFamily="34" charset="0"/>
                <a:ea typeface="Calibri" pitchFamily="34" charset="-122"/>
                <a:cs typeface="Calibri" pitchFamily="34" charset="-120"/>
              </a:rPr>
              <a:t>PPDH có 3 mặt: hình thức, logic nhận thức, gợi động cơ — không chỉ chú trọng mặt hình thức.</a:t>
            </a:r>
            <a:endParaRPr lang="en-US" sz="1350" dirty="0"/>
          </a:p>
        </p:txBody>
      </p:sp>
      <p:sp>
        <p:nvSpPr>
          <p:cNvPr id="10" name="Shape 8"/>
          <p:cNvSpPr/>
          <p:nvPr/>
        </p:nvSpPr>
        <p:spPr>
          <a:xfrm>
            <a:off x="822960" y="3337560"/>
            <a:ext cx="310896" cy="310896"/>
          </a:xfrm>
          <a:prstGeom prst="rect">
            <a:avLst/>
          </a:prstGeom>
          <a:solidFill>
            <a:srgbClr val="C1571A"/>
          </a:solidFill>
          <a:ln/>
        </p:spPr>
      </p:sp>
      <p:sp>
        <p:nvSpPr>
          <p:cNvPr id="11" name="Text 9"/>
          <p:cNvSpPr/>
          <p:nvPr/>
        </p:nvSpPr>
        <p:spPr>
          <a:xfrm>
            <a:off x="822960" y="3337560"/>
            <a:ext cx="310896" cy="310896"/>
          </a:xfrm>
          <a:prstGeom prst="rect">
            <a:avLst/>
          </a:prstGeom>
          <a:noFill/>
          <a:ln/>
        </p:spPr>
        <p:txBody>
          <a:bodyPr wrap="square" rtlCol="0" anchor="ctr"/>
          <a:lstStyle/>
          <a:p>
            <a:pPr algn="ctr" indent="0" marL="0">
              <a:buNone/>
            </a:pPr>
            <a:r>
              <a:rPr lang="en-US" sz="1300" b="1" dirty="0">
                <a:solidFill>
                  <a:srgbClr val="16324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1371600" y="3227832"/>
            <a:ext cx="10058400" cy="566928"/>
          </a:xfrm>
          <a:prstGeom prst="rect">
            <a:avLst/>
          </a:prstGeom>
          <a:noFill/>
          <a:ln/>
        </p:spPr>
        <p:txBody>
          <a:bodyPr wrap="square" rtlCol="0" anchor="ctr"/>
          <a:lstStyle/>
          <a:p>
            <a:pPr indent="0" marL="0">
              <a:buNone/>
            </a:pPr>
            <a:r>
              <a:rPr lang="en-US" sz="1350" dirty="0">
                <a:solidFill>
                  <a:srgbClr val="E6EEF6"/>
                </a:solidFill>
                <a:latin typeface="Calibri" pitchFamily="34" charset="0"/>
                <a:ea typeface="Calibri" pitchFamily="34" charset="-122"/>
                <a:cs typeface="Calibri" pitchFamily="34" charset="-120"/>
              </a:rPr>
              <a:t>Dạy học tích cực là định hướng triết học: HS là chủ thể, hướng tới tư duy bậc cao, tạo sản phẩm học tập.</a:t>
            </a:r>
            <a:endParaRPr lang="en-US" sz="1350" dirty="0"/>
          </a:p>
        </p:txBody>
      </p:sp>
      <p:sp>
        <p:nvSpPr>
          <p:cNvPr id="13" name="Shape 11"/>
          <p:cNvSpPr/>
          <p:nvPr/>
        </p:nvSpPr>
        <p:spPr>
          <a:xfrm>
            <a:off x="822960" y="4087368"/>
            <a:ext cx="310896" cy="310896"/>
          </a:xfrm>
          <a:prstGeom prst="rect">
            <a:avLst/>
          </a:prstGeom>
          <a:solidFill>
            <a:srgbClr val="C1571A"/>
          </a:solidFill>
          <a:ln/>
        </p:spPr>
      </p:sp>
      <p:sp>
        <p:nvSpPr>
          <p:cNvPr id="14" name="Text 12"/>
          <p:cNvSpPr/>
          <p:nvPr/>
        </p:nvSpPr>
        <p:spPr>
          <a:xfrm>
            <a:off x="822960" y="4087368"/>
            <a:ext cx="310896" cy="310896"/>
          </a:xfrm>
          <a:prstGeom prst="rect">
            <a:avLst/>
          </a:prstGeom>
          <a:noFill/>
          <a:ln/>
        </p:spPr>
        <p:txBody>
          <a:bodyPr wrap="square" rtlCol="0" anchor="ctr"/>
          <a:lstStyle/>
          <a:p>
            <a:pPr algn="ctr" indent="0" marL="0">
              <a:buNone/>
            </a:pPr>
            <a:r>
              <a:rPr lang="en-US" sz="1300" b="1" dirty="0">
                <a:solidFill>
                  <a:srgbClr val="16324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1371600" y="3977640"/>
            <a:ext cx="10058400" cy="566928"/>
          </a:xfrm>
          <a:prstGeom prst="rect">
            <a:avLst/>
          </a:prstGeom>
          <a:noFill/>
          <a:ln/>
        </p:spPr>
        <p:txBody>
          <a:bodyPr wrap="square" rtlCol="0" anchor="ctr"/>
          <a:lstStyle/>
          <a:p>
            <a:pPr indent="0" marL="0">
              <a:buNone/>
            </a:pPr>
            <a:r>
              <a:rPr lang="en-US" sz="1350" dirty="0">
                <a:solidFill>
                  <a:srgbClr val="E6EEF6"/>
                </a:solidFill>
                <a:latin typeface="Calibri" pitchFamily="34" charset="0"/>
                <a:ea typeface="Calibri" pitchFamily="34" charset="-122"/>
                <a:cs typeface="Calibri" pitchFamily="34" charset="-120"/>
              </a:rPr>
              <a:t>Bốn thành tố cơ sở của PPDH: hoạt động, gợi động cơ, tri thức trong hoạt động, phân bậc hoạt động.</a:t>
            </a:r>
            <a:endParaRPr lang="en-US" sz="1350" dirty="0"/>
          </a:p>
        </p:txBody>
      </p:sp>
      <p:sp>
        <p:nvSpPr>
          <p:cNvPr id="16" name="Shape 14"/>
          <p:cNvSpPr/>
          <p:nvPr/>
        </p:nvSpPr>
        <p:spPr>
          <a:xfrm>
            <a:off x="822960" y="4837176"/>
            <a:ext cx="310896" cy="310896"/>
          </a:xfrm>
          <a:prstGeom prst="rect">
            <a:avLst/>
          </a:prstGeom>
          <a:solidFill>
            <a:srgbClr val="C1571A"/>
          </a:solidFill>
          <a:ln/>
        </p:spPr>
      </p:sp>
      <p:sp>
        <p:nvSpPr>
          <p:cNvPr id="17" name="Text 15"/>
          <p:cNvSpPr/>
          <p:nvPr/>
        </p:nvSpPr>
        <p:spPr>
          <a:xfrm>
            <a:off x="822960" y="4837176"/>
            <a:ext cx="310896" cy="310896"/>
          </a:xfrm>
          <a:prstGeom prst="rect">
            <a:avLst/>
          </a:prstGeom>
          <a:noFill/>
          <a:ln/>
        </p:spPr>
        <p:txBody>
          <a:bodyPr wrap="square" rtlCol="0" anchor="ctr"/>
          <a:lstStyle/>
          <a:p>
            <a:pPr algn="ctr" indent="0" marL="0">
              <a:buNone/>
            </a:pPr>
            <a:r>
              <a:rPr lang="en-US" sz="1300" b="1" dirty="0">
                <a:solidFill>
                  <a:srgbClr val="16324F"/>
                </a:solidFill>
                <a:latin typeface="Calibri" pitchFamily="34" charset="0"/>
                <a:ea typeface="Calibri" pitchFamily="34" charset="-122"/>
                <a:cs typeface="Calibri" pitchFamily="34" charset="-120"/>
              </a:rPr>
              <a:t>5</a:t>
            </a:r>
            <a:endParaRPr lang="en-US" sz="1300" dirty="0"/>
          </a:p>
        </p:txBody>
      </p:sp>
      <p:sp>
        <p:nvSpPr>
          <p:cNvPr id="18" name="Text 16"/>
          <p:cNvSpPr/>
          <p:nvPr/>
        </p:nvSpPr>
        <p:spPr>
          <a:xfrm>
            <a:off x="1371600" y="4727448"/>
            <a:ext cx="10058400" cy="566928"/>
          </a:xfrm>
          <a:prstGeom prst="rect">
            <a:avLst/>
          </a:prstGeom>
          <a:noFill/>
          <a:ln/>
        </p:spPr>
        <p:txBody>
          <a:bodyPr wrap="square" rtlCol="0" anchor="ctr"/>
          <a:lstStyle/>
          <a:p>
            <a:pPr indent="0" marL="0">
              <a:buNone/>
            </a:pPr>
            <a:r>
              <a:rPr lang="en-US" sz="1350" dirty="0">
                <a:solidFill>
                  <a:srgbClr val="E6EEF6"/>
                </a:solidFill>
                <a:latin typeface="Calibri" pitchFamily="34" charset="0"/>
                <a:ea typeface="Calibri" pitchFamily="34" charset="-122"/>
                <a:cs typeface="Calibri" pitchFamily="34" charset="-120"/>
              </a:rPr>
              <a:t>Các PPDH cơ bản (thuyết trình, vấn đáp, minh họa, thực hành, luyện tập) cần phối hợp linh hoạt, có chủ đích.</a:t>
            </a:r>
            <a:endParaRPr lang="en-US" sz="1350" dirty="0"/>
          </a:p>
        </p:txBody>
      </p:sp>
      <p:sp>
        <p:nvSpPr>
          <p:cNvPr id="19" name="Shape 17"/>
          <p:cNvSpPr/>
          <p:nvPr/>
        </p:nvSpPr>
        <p:spPr>
          <a:xfrm>
            <a:off x="822960" y="5586984"/>
            <a:ext cx="310896" cy="310896"/>
          </a:xfrm>
          <a:prstGeom prst="rect">
            <a:avLst/>
          </a:prstGeom>
          <a:solidFill>
            <a:srgbClr val="C1571A"/>
          </a:solidFill>
          <a:ln/>
        </p:spPr>
      </p:sp>
      <p:sp>
        <p:nvSpPr>
          <p:cNvPr id="20" name="Text 18"/>
          <p:cNvSpPr/>
          <p:nvPr/>
        </p:nvSpPr>
        <p:spPr>
          <a:xfrm>
            <a:off x="822960" y="5586984"/>
            <a:ext cx="310896" cy="310896"/>
          </a:xfrm>
          <a:prstGeom prst="rect">
            <a:avLst/>
          </a:prstGeom>
          <a:noFill/>
          <a:ln/>
        </p:spPr>
        <p:txBody>
          <a:bodyPr wrap="square" rtlCol="0" anchor="ctr"/>
          <a:lstStyle/>
          <a:p>
            <a:pPr algn="ctr" indent="0" marL="0">
              <a:buNone/>
            </a:pPr>
            <a:r>
              <a:rPr lang="en-US" sz="1300" b="1" dirty="0">
                <a:solidFill>
                  <a:srgbClr val="16324F"/>
                </a:solidFill>
                <a:latin typeface="Calibri" pitchFamily="34" charset="0"/>
                <a:ea typeface="Calibri" pitchFamily="34" charset="-122"/>
                <a:cs typeface="Calibri" pitchFamily="34" charset="-120"/>
              </a:rPr>
              <a:t>6</a:t>
            </a:r>
            <a:endParaRPr lang="en-US" sz="1300" dirty="0"/>
          </a:p>
        </p:txBody>
      </p:sp>
      <p:sp>
        <p:nvSpPr>
          <p:cNvPr id="21" name="Text 19"/>
          <p:cNvSpPr/>
          <p:nvPr/>
        </p:nvSpPr>
        <p:spPr>
          <a:xfrm>
            <a:off x="1371600" y="5477256"/>
            <a:ext cx="10058400" cy="566928"/>
          </a:xfrm>
          <a:prstGeom prst="rect">
            <a:avLst/>
          </a:prstGeom>
          <a:noFill/>
          <a:ln/>
        </p:spPr>
        <p:txBody>
          <a:bodyPr wrap="square" rtlCol="0" anchor="ctr"/>
          <a:lstStyle/>
          <a:p>
            <a:pPr indent="0" marL="0">
              <a:buNone/>
            </a:pPr>
            <a:r>
              <a:rPr lang="en-US" sz="1350" dirty="0">
                <a:solidFill>
                  <a:srgbClr val="E6EEF6"/>
                </a:solidFill>
                <a:latin typeface="Calibri" pitchFamily="34" charset="0"/>
                <a:ea typeface="Calibri" pitchFamily="34" charset="-122"/>
                <a:cs typeface="Calibri" pitchFamily="34" charset="-120"/>
              </a:rPr>
              <a:t>Các PPDH tích cực (PBL, PjBL, hợp tác, khám phá, phân hóa) phát huy tối đa vai trò chủ động của HS.</a:t>
            </a:r>
            <a:endParaRPr lang="en-US" sz="1350" dirty="0"/>
          </a:p>
        </p:txBody>
      </p:sp>
      <p:sp>
        <p:nvSpPr>
          <p:cNvPr id="22" name="Text 20"/>
          <p:cNvSpPr/>
          <p:nvPr/>
        </p:nvSpPr>
        <p:spPr>
          <a:xfrm>
            <a:off x="457200" y="6492240"/>
            <a:ext cx="8229600" cy="274320"/>
          </a:xfrm>
          <a:prstGeom prst="rect">
            <a:avLst/>
          </a:prstGeom>
          <a:noFill/>
          <a:ln/>
        </p:spPr>
        <p:txBody>
          <a:bodyPr wrap="square" rtlCol="0" anchor="ctr"/>
          <a:lstStyle/>
          <a:p>
            <a:pPr algn="l" indent="0" marL="0">
              <a:buNone/>
            </a:pPr>
            <a:r>
              <a:rPr lang="en-US" sz="900" dirty="0">
                <a:solidFill>
                  <a:srgbClr val="5B6B79"/>
                </a:solidFill>
                <a:latin typeface="Calibri" pitchFamily="34" charset="0"/>
                <a:ea typeface="Calibri" pitchFamily="34" charset="-122"/>
                <a:cs typeface="Calibri" pitchFamily="34" charset="-120"/>
              </a:rPr>
              <a:t>Cảm ơn — Chương 3: Phương pháp dạy học môn Tin học</a:t>
            </a:r>
            <a:endParaRPr lang="en-US" sz="900" dirty="0"/>
          </a:p>
        </p:txBody>
      </p:sp>
      <p:sp>
        <p:nvSpPr>
          <p:cNvPr id="23" name="Text 21"/>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64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65</Slides>
  <Notes>65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65</vt:i4>
      </vt:variant>
    </vt:vector>
  </HeadingPairs>
  <TitlesOfParts>
    <vt:vector size="6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2026-09-10T01:14:34Z</dcterms:created>
  <dcterms:modified xsi:type="dcterms:W3CDTF">2026-09-10T01:14:34Z</dcterms:modified>
</cp:coreProperties>
</file>