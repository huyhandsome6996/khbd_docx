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68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6250"/>
            <a:ext cx="11049000" cy="5905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375" y="1671339"/>
            <a:ext cx="390525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5326" y="2242839"/>
            <a:ext cx="10781347" cy="1905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sz="4350" b="1" i="0" u="none">
                <a:solidFill>
                  <a:srgbClr val="0F172A"/>
                </a:solidFill>
                <a:latin typeface="Space Grotesk"/>
              </a:rPr>
              <a:t>CHƯƠNG 1</a:t>
            </a:r>
            <a:r>
              <a:t>
</a:t>
            </a:r>
            <a:r>
              <a:rPr sz="4350" b="1" i="0" u="none">
                <a:solidFill>
                  <a:srgbClr val="0F172A"/>
                </a:solidFill>
                <a:latin typeface="Space Grotesk"/>
              </a:rPr>
              <a:t> BỘ MÔN LÝ LUẬN VÀ PHƯƠNG PHÁP DẠY HỌC TIN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4319885"/>
            <a:ext cx="100965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Lexend"/>
              </a:rPr>
              <a:t>Nghiên cứu quy luật, cơ sở lý luận và rèn luyện kỹ năng nghề nghiệp cho giáo viên Tin học tương lai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4175" y="4967585"/>
            <a:ext cx="6343650" cy="207749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ctr"/>
            <a:r>
              <a:rPr sz="1350" b="0" i="0" u="none" dirty="0" err="1" smtClean="0">
                <a:solidFill>
                  <a:srgbClr val="4338CA"/>
                </a:solidFill>
                <a:latin typeface="Lexend SemiBold"/>
              </a:rPr>
              <a:t>Nguyễn</a:t>
            </a:r>
            <a:r>
              <a:rPr sz="1350" b="0" i="0" u="none" dirty="0" smtClean="0">
                <a:solidFill>
                  <a:srgbClr val="4338CA"/>
                </a:solidFill>
                <a:latin typeface="Lexend SemiBold"/>
              </a:rPr>
              <a:t> </a:t>
            </a:r>
            <a:r>
              <a:rPr sz="1350" b="0" i="0" u="none" dirty="0" err="1">
                <a:solidFill>
                  <a:srgbClr val="4338CA"/>
                </a:solidFill>
                <a:latin typeface="Lexend SemiBold"/>
              </a:rPr>
              <a:t>Thế</a:t>
            </a:r>
            <a:r>
              <a:rPr sz="1350" b="0" i="0" u="none" dirty="0">
                <a:solidFill>
                  <a:srgbClr val="4338CA"/>
                </a:solidFill>
                <a:latin typeface="Lexend SemiBold"/>
              </a:rPr>
              <a:t> </a:t>
            </a:r>
            <a:r>
              <a:rPr sz="1350" b="0" i="0" u="none" dirty="0" err="1">
                <a:solidFill>
                  <a:srgbClr val="4338CA"/>
                </a:solidFill>
                <a:latin typeface="Lexend SemiBold"/>
              </a:rPr>
              <a:t>Dũng</a:t>
            </a:r>
            <a:r>
              <a:rPr sz="1350" b="0" i="0" u="none" dirty="0">
                <a:solidFill>
                  <a:srgbClr val="4338CA"/>
                </a:solidFill>
                <a:latin typeface="Lexend SemiBold"/>
              </a:rPr>
              <a:t> – </a:t>
            </a:r>
            <a:r>
              <a:rPr sz="1350" b="0" i="0" u="none" dirty="0" err="1">
                <a:solidFill>
                  <a:srgbClr val="4338CA"/>
                </a:solidFill>
                <a:latin typeface="Lexend SemiBold"/>
              </a:rPr>
              <a:t>Khoa</a:t>
            </a:r>
            <a:r>
              <a:rPr sz="1350" b="0" i="0" u="none" dirty="0">
                <a:solidFill>
                  <a:srgbClr val="4338CA"/>
                </a:solidFill>
                <a:latin typeface="Lexend SemiBold"/>
              </a:rPr>
              <a:t> Tin </a:t>
            </a:r>
            <a:r>
              <a:rPr sz="1350" b="0" i="0" u="none" dirty="0" err="1">
                <a:solidFill>
                  <a:srgbClr val="4338CA"/>
                </a:solidFill>
                <a:latin typeface="Lexend SemiBold"/>
              </a:rPr>
              <a:t>học</a:t>
            </a:r>
            <a:r>
              <a:rPr sz="1350" b="0" i="0" u="none" dirty="0">
                <a:solidFill>
                  <a:srgbClr val="4338CA"/>
                </a:solidFill>
                <a:latin typeface="Lexend SemiBold"/>
              </a:rPr>
              <a:t>, </a:t>
            </a:r>
            <a:r>
              <a:rPr sz="1350" b="0" i="0" u="none" dirty="0" err="1">
                <a:solidFill>
                  <a:srgbClr val="4338CA"/>
                </a:solidFill>
                <a:latin typeface="Lexend SemiBold"/>
              </a:rPr>
              <a:t>Trường</a:t>
            </a:r>
            <a:r>
              <a:rPr sz="1350" b="0" i="0" u="none" dirty="0">
                <a:solidFill>
                  <a:srgbClr val="4338CA"/>
                </a:solidFill>
                <a:latin typeface="Lexend SemiBold"/>
              </a:rPr>
              <a:t> </a:t>
            </a:r>
            <a:r>
              <a:rPr sz="1350" b="0" i="0" u="none" dirty="0" err="1">
                <a:solidFill>
                  <a:srgbClr val="4338CA"/>
                </a:solidFill>
                <a:latin typeface="Lexend SemiBold"/>
              </a:rPr>
              <a:t>ĐHSP</a:t>
            </a:r>
            <a:r>
              <a:rPr sz="1350" b="0" i="0" u="none" dirty="0">
                <a:solidFill>
                  <a:srgbClr val="4338CA"/>
                </a:solidFill>
                <a:latin typeface="Lexend SemiBold"/>
              </a:rPr>
              <a:t> - </a:t>
            </a:r>
            <a:r>
              <a:rPr sz="1350" b="0" i="0" u="none" dirty="0" err="1">
                <a:solidFill>
                  <a:srgbClr val="4338CA"/>
                </a:solidFill>
                <a:latin typeface="Lexend SemiBold"/>
              </a:rPr>
              <a:t>Đại</a:t>
            </a:r>
            <a:r>
              <a:rPr sz="1350" b="0" i="0" u="none" dirty="0">
                <a:solidFill>
                  <a:srgbClr val="4338CA"/>
                </a:solidFill>
                <a:latin typeface="Lexend SemiBold"/>
              </a:rPr>
              <a:t> </a:t>
            </a:r>
            <a:r>
              <a:rPr sz="1350" b="0" i="0" u="none" dirty="0" err="1">
                <a:solidFill>
                  <a:srgbClr val="4338CA"/>
                </a:solidFill>
                <a:latin typeface="Lexend SemiBold"/>
              </a:rPr>
              <a:t>học</a:t>
            </a:r>
            <a:r>
              <a:rPr sz="1350" b="0" i="0" u="none" dirty="0">
                <a:solidFill>
                  <a:srgbClr val="4338CA"/>
                </a:solidFill>
                <a:latin typeface="Lexend SemiBold"/>
              </a:rPr>
              <a:t> </a:t>
            </a:r>
            <a:r>
              <a:rPr sz="1350" b="0" i="0" u="none" dirty="0" err="1">
                <a:solidFill>
                  <a:srgbClr val="4338CA"/>
                </a:solidFill>
                <a:latin typeface="Lexend SemiBold"/>
              </a:rPr>
              <a:t>Huế</a:t>
            </a:r>
            <a:endParaRPr sz="1350" b="0" i="0" u="none" dirty="0">
              <a:solidFill>
                <a:srgbClr val="4338CA"/>
              </a:solidFill>
              <a:latin typeface="Lexend SemiBold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4175" y="4996160"/>
            <a:ext cx="152400" cy="171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45828"/>
            <a:ext cx="5372100" cy="284440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345828"/>
            <a:ext cx="5372100" cy="28444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76350" y="2669678"/>
            <a:ext cx="456057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 u="none">
                <a:solidFill>
                  <a:srgbClr val="4F46E5"/>
                </a:solidFill>
                <a:latin typeface="Lexend SemiBold"/>
              </a:rPr>
              <a:t>Lĩnh Vực Khoa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3069728"/>
            <a:ext cx="4724400" cy="841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1" i="0" u="none">
                <a:solidFill>
                  <a:srgbClr val="334155"/>
                </a:solidFill>
                <a:latin typeface="Lexend"/>
              </a:rPr>
              <a:t>Nghiên cứu hệ thống: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 Khám phá các quy luật khách quan của quá trình dạy học môn Tin học trong nhà trường phổ thông.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4025205"/>
            <a:ext cx="4724400" cy="841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1" i="0" u="none">
                <a:solidFill>
                  <a:srgbClr val="334155"/>
                </a:solidFill>
                <a:latin typeface="Lexend"/>
              </a:rPr>
              <a:t>Mục tiêu: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 Xây dựng cơ sở lý luận, đề xuất giải pháp đổi mới và nâng cao chất lượng hiệu quả dạy học môn Tin học trong thời đại số.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9925" y="2669678"/>
            <a:ext cx="4490561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 u="none">
                <a:solidFill>
                  <a:srgbClr val="4F46E5"/>
                </a:solidFill>
                <a:latin typeface="Lexend SemiBold"/>
              </a:rPr>
              <a:t>Bộ Môn Đào Tạo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0" y="3069728"/>
            <a:ext cx="4724400" cy="841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1" i="0" u="none">
                <a:solidFill>
                  <a:srgbClr val="334155"/>
                </a:solidFill>
                <a:latin typeface="Lexend"/>
              </a:rPr>
              <a:t>Chức năng giảng dạy: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 Học phần trực tiếp đào tạo nghề nghiệp sư phạm cho sinh viên ngành Sư phạm Tin học.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0" y="4025205"/>
            <a:ext cx="4724400" cy="841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1" i="0" u="none">
                <a:solidFill>
                  <a:srgbClr val="334155"/>
                </a:solidFill>
                <a:latin typeface="Lexend"/>
              </a:rPr>
              <a:t>Mục tiêu: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 Trang bị tri thức nghiệp vụ, rèn luyện kỹ năng dạy học và bồi dưỡng phẩm chất đạo đức cho giáo viên Tin học tương lai.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2679203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0" y="2679203"/>
            <a:ext cx="333375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1E1B4B"/>
                </a:solidFill>
                <a:latin typeface="Space Grotesk"/>
              </a:rPr>
              <a:t>1.1.1. Phân biệt Hai Phạm Trù Cơ Bản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476250"/>
            <a:ext cx="57150" cy="4113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863030"/>
            <a:ext cx="537210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863030"/>
            <a:ext cx="564070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F46E5"/>
                </a:solidFill>
                <a:latin typeface="Lexend SemiBold"/>
              </a:rPr>
              <a:t>Đối tượng cốt lõi: Quá trình dạy học môn Tin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2586930"/>
            <a:ext cx="5067300" cy="841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1" i="0" u="none">
                <a:solidFill>
                  <a:srgbClr val="334155"/>
                </a:solidFill>
                <a:latin typeface="Lexend"/>
              </a:rPr>
              <a:t>Phạm vi đặc thù: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 Nghiên cứu một bộ phận cụ thể của quá trình giáo dục — đó là việc tổ chức dạy và học môn Tin học.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599557"/>
            <a:ext cx="5067300" cy="841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1" i="0" u="none">
                <a:solidFill>
                  <a:srgbClr val="334155"/>
                </a:solidFill>
                <a:latin typeface="Lexend"/>
              </a:rPr>
              <a:t>Bản chất dạy học rộng: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 Không chỉ truyền thụ tri thức &amp; kỹ năng công nghệ mà còn hình thành tư duy khoa học, nhân sinh quan và khả năng thích ứng xã hội số.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4612183"/>
            <a:ext cx="5067300" cy="56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1" i="0" u="none">
                <a:solidFill>
                  <a:srgbClr val="334155"/>
                </a:solidFill>
                <a:latin typeface="Lexend"/>
              </a:rPr>
              <a:t>Trọng tâm điều khiển: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 Lấy hoạt động tổ chức và điều khiển quá trình học tập của học sinh làm trung tâm.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863030"/>
            <a:ext cx="5372100" cy="381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1E1B4B"/>
                </a:solidFill>
                <a:latin typeface="Space Grotesk"/>
              </a:rPr>
              <a:t>1.1.2. Đối Tượng Nghiên Cứu Của Bộ Môn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476250"/>
            <a:ext cx="57150" cy="4113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05980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18607"/>
            <a:ext cx="1524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631233"/>
            <a:ext cx="152400" cy="180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00275"/>
            <a:ext cx="3530649" cy="31355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200275"/>
            <a:ext cx="3530649" cy="31355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200275"/>
            <a:ext cx="3530649" cy="313551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486025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248025"/>
            <a:ext cx="217027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Lexend SemiBold"/>
              </a:rPr>
              <a:t>Mục Tiêu Dạy Học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648075"/>
            <a:ext cx="3035349" cy="140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0" i="0" u="none">
                <a:solidFill>
                  <a:srgbClr val="334155"/>
                </a:solidFill>
                <a:latin typeface="Lexend"/>
              </a:rPr>
              <a:t>Đóng vai trò </a:t>
            </a:r>
            <a:r>
              <a:rPr sz="1425" b="1" i="0" u="none">
                <a:solidFill>
                  <a:srgbClr val="334155"/>
                </a:solidFill>
                <a:latin typeface="Lexend"/>
              </a:rPr>
              <a:t>chủ đạo, định hướng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. Xác định mô hình năng lực, phẩm chất và tri thức tin học mà học sinh cần đạt được trong kỷ nguyên công nghệ.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8399" y="2486025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8399" y="3248025"/>
            <a:ext cx="222027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Lexend SemiBold"/>
              </a:rPr>
              <a:t>Nội Dung Dạy Học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8399" y="3648075"/>
            <a:ext cx="3035349" cy="140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0" i="0" u="none">
                <a:solidFill>
                  <a:srgbClr val="334155"/>
                </a:solidFill>
                <a:latin typeface="Lexend"/>
              </a:rPr>
              <a:t>Hệ thống kiến thức và kỹ năng. Chương trình GDPT 2018 xoay quanh 3 trụ cột: </a:t>
            </a:r>
            <a:r>
              <a:rPr sz="1425" b="1" i="0" u="none">
                <a:solidFill>
                  <a:srgbClr val="334155"/>
                </a:solidFill>
                <a:latin typeface="Lexend"/>
              </a:rPr>
              <a:t>Học vấn số (DL)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, </a:t>
            </a:r>
            <a:r>
              <a:rPr sz="1425" b="1" i="0" u="none">
                <a:solidFill>
                  <a:srgbClr val="334155"/>
                </a:solidFill>
                <a:latin typeface="Lexend"/>
              </a:rPr>
              <a:t>Công nghệ thông tin (ICT)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 và </a:t>
            </a:r>
            <a:r>
              <a:rPr sz="1425" b="1" i="0" u="none">
                <a:solidFill>
                  <a:srgbClr val="334155"/>
                </a:solidFill>
                <a:latin typeface="Lexend"/>
              </a:rPr>
              <a:t>Khoa học máy tính (CS)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7649" y="2486025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37649" y="3248025"/>
            <a:ext cx="272034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Lexend SemiBold"/>
              </a:rPr>
              <a:t>Phương Pháp Dạy Học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7649" y="3648075"/>
            <a:ext cx="3035349" cy="140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0" i="0" u="none">
                <a:solidFill>
                  <a:srgbClr val="334155"/>
                </a:solidFill>
                <a:latin typeface="Lexend"/>
              </a:rPr>
              <a:t>Cách thức hoạt động và tương tác giữa Giáo viên &amp; Học sinh nhằm kích thích sự chủ động, sáng tạo và giải quyết vấn đề của người học.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075" y="2647950"/>
            <a:ext cx="24765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0324" y="2647950"/>
            <a:ext cx="24765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6236" y="2647950"/>
            <a:ext cx="314325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1E1B4B"/>
                </a:solidFill>
                <a:latin typeface="Space Grotesk"/>
              </a:rPr>
              <a:t>1.1.2.2. "Bộ Ba" Thành Phần Cốt Lõi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476250"/>
            <a:ext cx="57150" cy="4113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91717"/>
            <a:ext cx="5372100" cy="1952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3172717"/>
            <a:ext cx="4610100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375"/>
              </a:lnSpc>
            </a:pPr>
            <a:r>
              <a:rPr sz="6375" b="1" i="0" u="none">
                <a:solidFill>
                  <a:srgbClr val="38BDF8"/>
                </a:solidFill>
                <a:latin typeface="Space Grotesk"/>
              </a:rPr>
              <a:t>3 + 2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096642"/>
            <a:ext cx="46101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F1F5F9"/>
                </a:solidFill>
                <a:latin typeface="Lexend SemiBold"/>
              </a:rPr>
              <a:t>Trụ cột Nội dung &amp; Chủ thể Dạy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0" y="2472332"/>
            <a:ext cx="564070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F46E5"/>
                </a:solidFill>
                <a:latin typeface="Lexend SemiBold"/>
              </a:rPr>
              <a:t>Các yếu tố tác động sóng đôi: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0" y="2872382"/>
            <a:ext cx="5372100" cy="841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1" i="0" u="none">
                <a:solidFill>
                  <a:srgbClr val="334155"/>
                </a:solidFill>
                <a:latin typeface="Lexend"/>
              </a:rPr>
              <a:t>• Phương tiện &amp; Môi trường: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 Phòng máy tính, phần mềm giáo dục, mạng Internet, LMS. Dạy học Tin học đặc biệt phụ thuộc vào thiết bị công nghệ.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3827859"/>
            <a:ext cx="5372100" cy="56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1" i="0" u="none">
                <a:solidFill>
                  <a:srgbClr val="334155"/>
                </a:solidFill>
                <a:latin typeface="Lexend"/>
              </a:rPr>
              <a:t>• Kiểm tra &amp; Đánh giá: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 Đo lường sự phát triển năng lực tin học qua các sản phẩm thực hành và bài tập dự án.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4502943"/>
            <a:ext cx="5372100" cy="56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1" i="0" u="none">
                <a:solidFill>
                  <a:srgbClr val="334155"/>
                </a:solidFill>
                <a:latin typeface="Lexend"/>
              </a:rPr>
              <a:t>• Quan hệ Hai Chủ Thể: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 Giáo viên (giữ vai trò </a:t>
            </a:r>
            <a:r>
              <a:rPr sz="1425" b="0" i="1" u="none">
                <a:solidFill>
                  <a:srgbClr val="334155"/>
                </a:solidFill>
                <a:latin typeface="Lexend"/>
              </a:rPr>
              <a:t>chủ đạo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) — Học sinh (giữ vai trò </a:t>
            </a:r>
            <a:r>
              <a:rPr sz="1425" b="0" i="1" u="none">
                <a:solidFill>
                  <a:srgbClr val="334155"/>
                </a:solidFill>
                <a:latin typeface="Lexend"/>
              </a:rPr>
              <a:t>chủ thể tích cực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 chiếm lĩnh tri thức).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1E1B4B"/>
                </a:solidFill>
                <a:latin typeface="Space Grotesk"/>
              </a:rPr>
              <a:t>Thành Tố Bổ Sung &amp; Chủ Thể Dạy Học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476250"/>
            <a:ext cx="57150" cy="4113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8650" y="476250"/>
            <a:ext cx="5240655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1E1B4B"/>
                </a:solidFill>
                <a:latin typeface="Space Grotesk"/>
              </a:rPr>
              <a:t>1.1.3. Nhiệm Vụ Tổng Quát</a:t>
            </a:r>
          </a:p>
        </p:txBody>
      </p:sp>
      <p:sp>
        <p:nvSpPr>
          <p:cNvPr id="4" name="Rectangle 3"/>
          <p:cNvSpPr/>
          <p:nvPr/>
        </p:nvSpPr>
        <p:spPr>
          <a:xfrm>
            <a:off x="476250" y="476250"/>
            <a:ext cx="57150" cy="4113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968" y="205680"/>
            <a:ext cx="5730347" cy="6446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2680692"/>
            <a:ext cx="5143500" cy="118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25"/>
              </a:lnSpc>
            </a:pP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Nghiên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cứu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các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mối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liên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hệ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có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tính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quy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luật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giữa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các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thành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tố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của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quá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trình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dạy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học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Tin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học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nhằm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nâng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cao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hiệu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quả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đào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tạo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nguồn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nhân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lực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trong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kỷ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nguyên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 </a:t>
            </a:r>
            <a:r>
              <a:rPr sz="1500" b="0" i="0" u="none" dirty="0" err="1">
                <a:solidFill>
                  <a:srgbClr val="0F172A"/>
                </a:solidFill>
                <a:latin typeface="Lexend Medium"/>
              </a:rPr>
              <a:t>số</a:t>
            </a:r>
            <a:r>
              <a:rPr sz="1500" b="0" i="0" u="none" dirty="0">
                <a:solidFill>
                  <a:srgbClr val="0F172A"/>
                </a:solidFill>
                <a:latin typeface="Lexend Medium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4014192"/>
            <a:ext cx="5143500" cy="841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Lĩnh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vực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khoa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học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này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tập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trung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giải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đáp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 4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câu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hỏi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 then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chốt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: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Dạy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để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làm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gì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?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Dạy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425" b="0" i="0" u="none">
                <a:solidFill>
                  <a:srgbClr val="475569"/>
                </a:solidFill>
                <a:latin typeface="Lexend"/>
              </a:rPr>
              <a:t>nội dung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gì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?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Dạy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như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thế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nào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?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Đánh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giá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ra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 </a:t>
            </a:r>
            <a:r>
              <a:rPr sz="1425" b="0" i="0" u="none" dirty="0" err="1">
                <a:solidFill>
                  <a:srgbClr val="475569"/>
                </a:solidFill>
                <a:latin typeface="Lexend"/>
              </a:rPr>
              <a:t>sao</a:t>
            </a:r>
            <a:r>
              <a:rPr sz="1425" b="0" i="0" u="none" dirty="0">
                <a:solidFill>
                  <a:srgbClr val="475569"/>
                </a:solidFill>
                <a:latin typeface="Lexend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1693961"/>
            <a:ext cx="11049000" cy="884634"/>
          </a:xfrm>
          <a:prstGeom prst="roundRect">
            <a:avLst>
              <a:gd name="adj" fmla="val 861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730996"/>
            <a:ext cx="11049000" cy="884634"/>
          </a:xfrm>
          <a:prstGeom prst="roundRect">
            <a:avLst>
              <a:gd name="adj" fmla="val 861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1500" y="3768030"/>
            <a:ext cx="11049000" cy="884634"/>
          </a:xfrm>
          <a:prstGeom prst="roundRect">
            <a:avLst>
              <a:gd name="adj" fmla="val 861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71500" y="4805064"/>
            <a:ext cx="11049000" cy="884634"/>
          </a:xfrm>
          <a:prstGeom prst="roundRect">
            <a:avLst>
              <a:gd name="adj" fmla="val 861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2569071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569071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1693961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1693961"/>
            <a:ext cx="47625" cy="88463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610975" y="1693961"/>
            <a:ext cx="9525" cy="88463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1575" y="1855886"/>
            <a:ext cx="10248900" cy="56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1" i="0" u="none">
                <a:solidFill>
                  <a:srgbClr val="334155"/>
                </a:solidFill>
                <a:latin typeface="Lexend"/>
              </a:rPr>
              <a:t>Dạy Tin học để làm gì? (Mục tiêu):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 Hình thành năng lực tin học, tư duy thuật toán, tư duy máy tính (Computational Thinking) và kỹ năng giải quyết vấn đề.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360610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360610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2730996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2730996"/>
            <a:ext cx="47625" cy="88463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610975" y="2730996"/>
            <a:ext cx="9525" cy="88463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00150" y="2892921"/>
            <a:ext cx="10220325" cy="56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1" i="0" u="none">
                <a:solidFill>
                  <a:srgbClr val="334155"/>
                </a:solidFill>
                <a:latin typeface="Lexend"/>
              </a:rPr>
              <a:t>Dạy nội dung gì? (Nội dung):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 Xây dựng chương trình theo 3 trụ cột (DL, ICT, CS) phù hợp với tâm sinh lý lứa tuổi từ Tiểu học đến THPT.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4643139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1500" y="4643139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1500" y="376803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1500" y="3768030"/>
            <a:ext cx="47625" cy="88463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610975" y="3768030"/>
            <a:ext cx="9525" cy="88463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28725" y="3929955"/>
            <a:ext cx="10191750" cy="56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1" i="0" u="none">
                <a:solidFill>
                  <a:srgbClr val="334155"/>
                </a:solidFill>
                <a:latin typeface="Lexend"/>
              </a:rPr>
              <a:t>Dạy như thế nào? (Phương pháp):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 Gắn lý thuyết với thực hành phòng máy, dạy học dự án, tích hợp STEM, kỹ thuật dạy lập trình &amp; thuật toán.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5680174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1500" y="5680174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1500" y="4805064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1500" y="4805064"/>
            <a:ext cx="47625" cy="88463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610975" y="4805064"/>
            <a:ext cx="9525" cy="88463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2025" y="4966989"/>
            <a:ext cx="10458450" cy="56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1" i="0" u="none">
                <a:solidFill>
                  <a:srgbClr val="334155"/>
                </a:solidFill>
                <a:latin typeface="Lexend"/>
              </a:rPr>
              <a:t>Đánh giá như thế nào? (Đánh giá):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 Kiểm tra đánh giá theo chuẩn đầu ra, đánh giá sản phẩm thực hành và đánh giá tiến trình phát triển năng lực.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026741"/>
            <a:ext cx="209550" cy="2190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063775"/>
            <a:ext cx="238125" cy="2190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100810"/>
            <a:ext cx="266700" cy="2190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1E1B4B"/>
                </a:solidFill>
                <a:latin typeface="Space Grotesk"/>
              </a:rPr>
              <a:t>1.1.3.2. Bốn Câu Hỏi Cốt Lõi Trong Dạy Học Tin Học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" y="476250"/>
            <a:ext cx="57150" cy="4113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57400"/>
            <a:ext cx="2590800" cy="34212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900" y="2057400"/>
            <a:ext cx="2590800" cy="34212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057400"/>
            <a:ext cx="2590800" cy="34212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2057400"/>
            <a:ext cx="2590800" cy="34212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343150"/>
            <a:ext cx="571500" cy="571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" y="3105150"/>
            <a:ext cx="194024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Lexend SemiBold"/>
              </a:rPr>
              <a:t>1. Tri Thức Nghề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505200"/>
            <a:ext cx="2095500" cy="140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0" i="0" u="none">
                <a:solidFill>
                  <a:srgbClr val="334155"/>
                </a:solidFill>
                <a:latin typeface="Lexend"/>
              </a:rPr>
              <a:t>Trang bị tri thức tổng quan về GD Tin học và tri thức cụ thể về phân tích SGK, lập kế hoạch bài dạy (giáo án).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8550" y="2343150"/>
            <a:ext cx="571500" cy="571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38550" y="3105150"/>
            <a:ext cx="22002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Lexend SemiBold"/>
              </a:rPr>
              <a:t>2. Kỹ Năng Sư Phạm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8550" y="3790950"/>
            <a:ext cx="2095500" cy="140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0" i="0" u="none">
                <a:solidFill>
                  <a:srgbClr val="334155"/>
                </a:solidFill>
                <a:latin typeface="Lexend"/>
              </a:rPr>
              <a:t>Rèn luyện kỹ năng đứng lớp, hướng dẫn thực hành phòng máy, thiết kế bài tập và quản lý lớp học hiệu quả.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7950" y="2343150"/>
            <a:ext cx="571500" cy="571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57950" y="3105150"/>
            <a:ext cx="22002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Lexend SemiBold"/>
              </a:rPr>
              <a:t>3. Phẩm Chất Đạo Đức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7950" y="3790950"/>
            <a:ext cx="2095500" cy="140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0" i="0" u="none">
                <a:solidFill>
                  <a:srgbClr val="334155"/>
                </a:solidFill>
                <a:latin typeface="Lexend"/>
              </a:rPr>
              <a:t>Bồi dưỡng tình yêu nghề, tôn trọng học sinh, tuân thủ đạo đức số và tác phong làm việc khoa học, kiên trì.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7350" y="2343150"/>
            <a:ext cx="571500" cy="571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77350" y="3105150"/>
            <a:ext cx="22002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Lexend SemiBold"/>
              </a:rPr>
              <a:t>4. Năng Lực Tự Học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7350" y="3790950"/>
            <a:ext cx="2095500" cy="140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0" i="0" u="none">
                <a:solidFill>
                  <a:srgbClr val="334155"/>
                </a:solidFill>
                <a:latin typeface="Lexend"/>
              </a:rPr>
              <a:t>Phát triển năng lực nghiên cứu khoa học giáo dục, khả năng tự cập nhật công nghệ mới suốt đời.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5362" y="2505075"/>
            <a:ext cx="219075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0475" y="2505075"/>
            <a:ext cx="247650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5587" y="2505075"/>
            <a:ext cx="276225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24987" y="2505075"/>
            <a:ext cx="276225" cy="2476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1E1B4B"/>
                </a:solidFill>
                <a:latin typeface="Space Grotesk"/>
              </a:rPr>
              <a:t>1.1.4. Bốn Nhiệm Vụ Của Bộ Môn Trong Trường Sư Phạm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476250"/>
            <a:ext cx="57150" cy="4113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158305"/>
          <a:ext cx="11029949" cy="3219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8895"/>
                <a:gridCol w="7721054"/>
              </a:tblGrid>
              <a:tr h="536575"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Tiêu Chí Khoa Học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FFFFFF"/>
                          </a:solidFill>
                          <a:latin typeface="Space Grotesk SemiBold"/>
                        </a:rPr>
                        <a:t>Biểu Hiện Cụ Thể Trong Bộ Môn LL &amp; PPDH Tin Học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46E5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exend"/>
                        </a:rPr>
                        <a:t>Đối tượng nghiên cứu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exend"/>
                        </a:rPr>
                        <a:t>Quá trình dạy học môn Tin học tồn tại khách quan trong thực tiễn giáo dục.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exend"/>
                        </a:rPr>
                        <a:t>Hệ thống lý thuyết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exend"/>
                        </a:rPr>
                        <a:t>Khái niệm, phạm trù, nguyên lý dạy học được tổ chức chặt chẽ, có tính logic cao.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exend"/>
                        </a:rPr>
                        <a:t>Quy luật khách quan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exend"/>
                        </a:rPr>
                        <a:t>Chi phối bởi quy luật về sự phù hợp giữa mục tiêu, nội dung và PPDH đặc thù.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exend"/>
                        </a:rPr>
                        <a:t>Phương pháp nghiên cứu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exend"/>
                        </a:rPr>
                        <a:t>Sử dụng kết hợp phương pháp lý luận, quan sát, điều tra và thực nghiệm sư phạm.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365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exend"/>
                        </a:rPr>
                        <a:t>Khả năng dự báo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exend"/>
                        </a:rPr>
                        <a:t>Cho phép dự báo kết quả học tập và đề xuất mô hình cải tiến chất lượng giảng dạy.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1025" y="3234630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89920" y="3234630"/>
            <a:ext cx="77210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1025" y="3768030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89920" y="3768030"/>
            <a:ext cx="77210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4301430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89920" y="4301430"/>
            <a:ext cx="77210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4834830"/>
            <a:ext cx="33088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89920" y="4834830"/>
            <a:ext cx="77210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1E1B4B"/>
                </a:solidFill>
                <a:latin typeface="Space Grotesk"/>
              </a:rPr>
              <a:t>1.2.1. Căn Cứ Khẳng Định Tính Khoa Học Của Bộ Môn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76250"/>
            <a:ext cx="57150" cy="4113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863030"/>
            <a:ext cx="537210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863030"/>
            <a:ext cx="564070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F46E5"/>
                </a:solidFill>
                <a:latin typeface="Lexend SemiBold"/>
              </a:rPr>
              <a:t>Triết học Duy vật Biện chứng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2282130"/>
            <a:ext cx="5067300" cy="56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1" i="0" u="none">
                <a:solidFill>
                  <a:srgbClr val="334155"/>
                </a:solidFill>
                <a:latin typeface="Lexend"/>
              </a:rPr>
              <a:t>Nhìn nhận tương tác: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 Xem xét mối quan hệ qua lại giữa Giáo viên – Học sinh, Lý thuyết – Thực hành, Dạy – Học.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014364"/>
            <a:ext cx="5067300" cy="56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1" i="0" u="none">
                <a:solidFill>
                  <a:srgbClr val="334155"/>
                </a:solidFill>
                <a:latin typeface="Lexend"/>
              </a:rPr>
              <a:t>Sự vận động liên tục: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 Quá trình dạy học biến đổi theo sự phát triển của công nghệ và xã hội.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746599"/>
            <a:ext cx="5067300" cy="56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1" i="0" u="none">
                <a:solidFill>
                  <a:srgbClr val="334155"/>
                </a:solidFill>
                <a:latin typeface="Lexend"/>
              </a:rPr>
              <a:t>Thực tiễn là tiêu chuẩn: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 Mọi phương pháp dạy học phải được kiểm nghiệm qua thực tế lớp học.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4478833"/>
            <a:ext cx="5067300" cy="841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1" i="0" u="none">
                <a:solidFill>
                  <a:srgbClr val="334155"/>
                </a:solidFill>
                <a:latin typeface="Lexend"/>
              </a:rPr>
              <a:t>Giải quyết mâu thuẫn: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 Động lực phát triển đến từ việc giải quyết mâu thuẫn giữa yêu cầu tri thức và trình độ hiện tại của học sinh.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863030"/>
            <a:ext cx="5372100" cy="381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1E1B4B"/>
                </a:solidFill>
                <a:latin typeface="Space Grotesk"/>
              </a:rPr>
              <a:t>1.2.2. Cơ Sở Phương Pháp Luận Của Bộ Môn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476250"/>
            <a:ext cx="57150" cy="4113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301180"/>
            <a:ext cx="1524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33414"/>
            <a:ext cx="15240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65649"/>
            <a:ext cx="15240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97883"/>
            <a:ext cx="152400" cy="180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5550"/>
            <a:ext cx="5372100" cy="25449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495550"/>
            <a:ext cx="5372100" cy="254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14450" y="2819400"/>
            <a:ext cx="4520565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 u="none">
                <a:solidFill>
                  <a:srgbClr val="4F46E5"/>
                </a:solidFill>
                <a:latin typeface="Lexend SemiBold"/>
              </a:rPr>
              <a:t>Tính Liên Ngành &amp; Ứng Dụng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3219450"/>
            <a:ext cx="4724400" cy="841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1" i="0" u="none">
                <a:solidFill>
                  <a:srgbClr val="334155"/>
                </a:solidFill>
                <a:latin typeface="Lexend"/>
              </a:rPr>
              <a:t>Liên ngành cao: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 Tích hợp tri thức từ Khoa học Tin học, Khoa học Giáo dục, Tâm lý học, Toán học và Triết học.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4155876"/>
            <a:ext cx="4724400" cy="56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1" i="0" u="none">
                <a:solidFill>
                  <a:srgbClr val="334155"/>
                </a:solidFill>
                <a:latin typeface="Lexend"/>
              </a:rPr>
              <a:t>Tính ứng dụng: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 Mọi lý luận chỉ có giá trị khi giải quyết trực tiếp các bài toán thực tiễn trong giờ dạy Tin học.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0" y="2819400"/>
            <a:ext cx="456057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 u="none">
                <a:solidFill>
                  <a:srgbClr val="4F46E5"/>
                </a:solidFill>
                <a:latin typeface="Lexend SemiBold"/>
              </a:rPr>
              <a:t>Tính Đổi Mới &amp; Đặc Thù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0" y="3219450"/>
            <a:ext cx="4724400" cy="56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1" i="0" u="none">
                <a:solidFill>
                  <a:srgbClr val="334155"/>
                </a:solidFill>
                <a:latin typeface="Lexend"/>
              </a:rPr>
              <a:t>Đổi mới liên tục: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 Công nghệ thay đổi nhanh chóng đòi hỏi PPDH Tin học phải không ngừng cập nhật.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0" y="3875484"/>
            <a:ext cx="4724400" cy="56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1" i="0" u="none">
                <a:solidFill>
                  <a:srgbClr val="334155"/>
                </a:solidFill>
                <a:latin typeface="Lexend"/>
              </a:rPr>
              <a:t>Tính đặc thù:</a:t>
            </a:r>
            <a:r>
              <a:rPr sz="1425" b="0" i="0" u="none">
                <a:solidFill>
                  <a:srgbClr val="334155"/>
                </a:solidFill>
                <a:latin typeface="Lexend"/>
              </a:rPr>
              <a:t> Gắn liền giữa lý thuyết và thực hành trên máy tính, phát triển tư duy máy tính độc đáo.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2828925"/>
            <a:ext cx="3048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0" y="2828925"/>
            <a:ext cx="2667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1E1B4B"/>
                </a:solidFill>
                <a:latin typeface="Space Grotesk"/>
              </a:rPr>
              <a:t>1.2.3. Các Đặc Điểm Khoa Học Nổi Bật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476250"/>
            <a:ext cx="57150" cy="4113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6250"/>
            <a:ext cx="11049000" cy="5905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36075" y="1837194"/>
            <a:ext cx="7119847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 dirty="0" err="1">
                <a:solidFill>
                  <a:srgbClr val="38BDF8"/>
                </a:solidFill>
                <a:latin typeface="Space Grotesk"/>
              </a:rPr>
              <a:t>TỔNG</a:t>
            </a:r>
            <a:r>
              <a:rPr sz="4200" b="1" i="0" u="none" dirty="0">
                <a:solidFill>
                  <a:srgbClr val="38BDF8"/>
                </a:solidFill>
                <a:latin typeface="Space Grotesk"/>
              </a:rPr>
              <a:t> </a:t>
            </a:r>
            <a:r>
              <a:rPr sz="4200" b="1" i="0" u="none" dirty="0" err="1">
                <a:solidFill>
                  <a:srgbClr val="38BDF8"/>
                </a:solidFill>
                <a:latin typeface="Space Grotesk"/>
              </a:rPr>
              <a:t>KẾT</a:t>
            </a:r>
            <a:r>
              <a:rPr sz="4200" b="1" i="0" u="none" dirty="0">
                <a:solidFill>
                  <a:srgbClr val="38BDF8"/>
                </a:solidFill>
                <a:latin typeface="Space Grotesk"/>
              </a:rPr>
              <a:t> &amp; </a:t>
            </a:r>
            <a:r>
              <a:rPr sz="4200" b="1" i="0" u="none" dirty="0" err="1">
                <a:solidFill>
                  <a:srgbClr val="38BDF8"/>
                </a:solidFill>
                <a:latin typeface="Space Grotesk"/>
              </a:rPr>
              <a:t>THẢO</a:t>
            </a:r>
            <a:r>
              <a:rPr sz="4200" b="1" i="0" u="none" dirty="0">
                <a:solidFill>
                  <a:srgbClr val="38BDF8"/>
                </a:solidFill>
                <a:latin typeface="Space Grotesk"/>
              </a:rPr>
              <a:t> </a:t>
            </a:r>
            <a:r>
              <a:rPr sz="4200" b="1" i="0" u="none" dirty="0" err="1">
                <a:solidFill>
                  <a:srgbClr val="38BDF8"/>
                </a:solidFill>
                <a:latin typeface="Space Grotesk"/>
              </a:rPr>
              <a:t>LUẬN</a:t>
            </a:r>
            <a:endParaRPr sz="4200" b="1" i="0" u="none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5162" y="3228082"/>
            <a:ext cx="5781675" cy="354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90"/>
              </a:lnSpc>
            </a:pPr>
            <a:r>
              <a:rPr sz="1800" b="0" i="0" u="none">
                <a:solidFill>
                  <a:srgbClr val="CBD5E1"/>
                </a:solidFill>
                <a:latin typeface="Lexend"/>
              </a:rPr>
              <a:t>Cảm ơn các bạn sinh viên đã chú ý theo dõi bài học!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212" y="4096642"/>
            <a:ext cx="180975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6012" y="4096642"/>
            <a:ext cx="180975" cy="180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519808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3291333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2818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32818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40533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40533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62683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2662981"/>
            <a:ext cx="9953625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334155"/>
                </a:solidFill>
                <a:latin typeface="Lexend"/>
              </a:rPr>
              <a:t>https://www.cune.edu/application/files/thumbnails/hero_small/8517/7930/2879/Teaching_Technology_with_Purpose.png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902446"/>
            <a:ext cx="9953625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Lexend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exend"/>
              </a:rPr>
              <a:t>www.cune.edu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34208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3434506"/>
            <a:ext cx="9953625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334155"/>
                </a:solidFill>
                <a:latin typeface="Lexend"/>
              </a:rPr>
              <a:t>https://www.frontiersin.org/files/Articles/1420515/xml-images/feduc-09-1420515-g001.webp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3673971"/>
            <a:ext cx="9953625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Lexend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exend"/>
              </a:rPr>
              <a:t>www.frontiersin.org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01281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4205733"/>
            <a:ext cx="9953625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334155"/>
                </a:solidFill>
                <a:latin typeface="Lexend"/>
              </a:rPr>
              <a:t>https://img.magnific.com/premium-photo/black-teacher-explain-engineering-students-point-interactive-whiteboard-with-program-robotic-arm-smart-future-developers-listen-attentively-computer-science-education-design-study_861143-5771.jpg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4637037"/>
            <a:ext cx="9953625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34155"/>
                </a:solidFill>
                <a:latin typeface="Lexend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exend"/>
              </a:rPr>
              <a:t>www.magnific.com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1E1B4B"/>
                </a:solidFill>
                <a:latin typeface="Space Grotesk"/>
              </a:rPr>
              <a:t>Image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476250"/>
            <a:ext cx="57150" cy="4113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1338</Words>
  <Application>Microsoft Office PowerPoint</Application>
  <PresentationFormat>Widescreen</PresentationFormat>
  <Paragraphs>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Lexend</vt:lpstr>
      <vt:lpstr>Lexend Medium</vt:lpstr>
      <vt:lpstr>Lexend SemiBold</vt:lpstr>
      <vt:lpstr>Space Grotesk</vt:lpstr>
      <vt:lpstr>Space Grotesk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4</cp:revision>
  <dcterms:created xsi:type="dcterms:W3CDTF">2013-01-27T09:14:16Z</dcterms:created>
  <dcterms:modified xsi:type="dcterms:W3CDTF">2026-09-17T00:55:20Z</dcterms:modified>
  <cp:category/>
</cp:coreProperties>
</file>