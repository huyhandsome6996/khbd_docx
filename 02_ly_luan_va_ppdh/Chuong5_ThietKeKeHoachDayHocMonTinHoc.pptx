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1783080"/>
            <a:ext cx="7315200" cy="548640"/>
          </a:xfrm>
          <a:prstGeom prst="rect">
            <a:avLst/>
          </a:prstGeom>
          <a:noFill/>
          <a:ln/>
        </p:spPr>
        <p:txBody>
          <a:bodyPr wrap="square" rtlCol="0" anchor="ctr"/>
          <a:lstStyle/>
          <a:p>
            <a:pPr indent="0" marL="0">
              <a:buNone/>
            </a:pPr>
            <a:r>
              <a:rPr lang="en-US" sz="1900" b="1" spc="300" kern="0" dirty="0">
                <a:solidFill>
                  <a:srgbClr val="C1571A"/>
                </a:solidFill>
                <a:latin typeface="Calibri" pitchFamily="34" charset="0"/>
                <a:ea typeface="Calibri" pitchFamily="34" charset="-122"/>
                <a:cs typeface="Calibri" pitchFamily="34" charset="-120"/>
              </a:rPr>
              <a:t>CHƯƠNG 5</a:t>
            </a:r>
            <a:endParaRPr lang="en-US" sz="1900" dirty="0"/>
          </a:p>
        </p:txBody>
      </p:sp>
      <p:sp>
        <p:nvSpPr>
          <p:cNvPr id="3" name="Text 1"/>
          <p:cNvSpPr/>
          <p:nvPr/>
        </p:nvSpPr>
        <p:spPr>
          <a:xfrm>
            <a:off x="822960" y="2331720"/>
            <a:ext cx="10607040" cy="2286000"/>
          </a:xfrm>
          <a:prstGeom prst="rect">
            <a:avLst/>
          </a:prstGeom>
          <a:noFill/>
          <a:ln/>
        </p:spPr>
        <p:txBody>
          <a:bodyPr wrap="square" rtlCol="0" anchor="ctr"/>
          <a:lstStyle/>
          <a:p>
            <a:pPr algn="l" indent="0" marL="0">
              <a:lnSpc>
                <a:spcPct val="108000"/>
              </a:lnSpc>
              <a:buNone/>
            </a:pPr>
            <a:r>
              <a:rPr lang="en-US" sz="4200" b="1" dirty="0">
                <a:solidFill>
                  <a:srgbClr val="FFFFFF"/>
                </a:solidFill>
                <a:latin typeface="Calibri" pitchFamily="34" charset="0"/>
                <a:ea typeface="Calibri" pitchFamily="34" charset="-122"/>
                <a:cs typeface="Calibri" pitchFamily="34" charset="-120"/>
              </a:rPr>
              <a:t>THIẾT KẾ KẾ HOẠCH</a:t>
            </a:r>
            <a:endParaRPr lang="en-US" sz="4200" dirty="0"/>
          </a:p>
          <a:p>
            <a:pPr algn="l" indent="0" marL="0">
              <a:lnSpc>
                <a:spcPct val="108000"/>
              </a:lnSpc>
              <a:buNone/>
            </a:pPr>
            <a:r>
              <a:rPr lang="en-US" sz="4200" b="1" dirty="0">
                <a:solidFill>
                  <a:srgbClr val="FFFFFF"/>
                </a:solidFill>
                <a:latin typeface="Calibri" pitchFamily="34" charset="0"/>
                <a:ea typeface="Calibri" pitchFamily="34" charset="-122"/>
                <a:cs typeface="Calibri" pitchFamily="34" charset="-120"/>
              </a:rPr>
              <a:t>DẠY HỌC MÔN TIN HỌC</a:t>
            </a:r>
            <a:endParaRPr lang="en-US" sz="4200" dirty="0"/>
          </a:p>
        </p:txBody>
      </p:sp>
      <p:sp>
        <p:nvSpPr>
          <p:cNvPr id="4" name="Text 2"/>
          <p:cNvSpPr/>
          <p:nvPr/>
        </p:nvSpPr>
        <p:spPr>
          <a:xfrm>
            <a:off x="822960" y="4709160"/>
            <a:ext cx="9144000" cy="45720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Lý luận và Phương pháp dạy học Tin học</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MỞ ĐẦU</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Mục tiêu của chương</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Xây dựng kế hoạch dạy học theo năm học/học kỳ phù hợp với học sinh và điều kiện thực tế nhà trường.</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Thiết kế kế hoạch bài dạy (giáo án) theo định hướng phát triển phẩm chất và năng lực học sinh.</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Xây dựng chuỗi hoạt động học tập logic, phát huy tính tích cực, chủ động của học sinh.</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Lựa chọn hợp lý phương pháp, học liệu, thiết bị dạy học và hình thức kiểm tra đánh giá.</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Nhận diện yếu tố ảnh hưởng đến dạy học và điều chỉnh kế hoạch bài dạy phù hợp thực tiễn.</a:t>
            </a:r>
            <a:endParaRPr lang="en-US" sz="22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Lưu ý sư phạm: Thái độ (“cẩn thận”, “chủ động sáng tạo”) không đứng riêng lẻ mà thể hiện qua chất lượng SẢN PHẨM giáo án và chuỗi hoạt động sinh viên thiết kế.</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MỞ ĐẦU</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Nội dung chương (1/2)</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5.1. Kế hoạch dạy học năm học và học kỳ</a:t>
            </a:r>
            <a:endParaRPr lang="en-US" sz="2200" dirty="0"/>
          </a:p>
          <a:p>
            <a:pPr algn="l" lvl="1" marL="508000" indent="-254000">
              <a:lnSpc>
                <a:spcPct val="116000"/>
              </a:lnSpc>
              <a:spcAft>
                <a:spcPts val="900"/>
              </a:spcAft>
              <a:buSzPct val="100000"/>
              <a:buChar char="–"/>
            </a:pPr>
            <a:r>
              <a:rPr lang="en-US" sz="1900" dirty="0">
                <a:solidFill>
                  <a:srgbClr val="5B6B79"/>
                </a:solidFill>
                <a:latin typeface="Calibri" pitchFamily="34" charset="0"/>
                <a:ea typeface="Calibri" pitchFamily="34" charset="-122"/>
                <a:cs typeface="Calibri" pitchFamily="34" charset="-120"/>
              </a:rPr>
              <a:t>Khái niệm, chức năng, thành phần, nguyên tắc phân bổ thời lượng.</a:t>
            </a:r>
            <a:endParaRPr lang="en-US" sz="2200" dirty="0"/>
          </a:p>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5.2. Thiết kế kế hoạch bài dạy (Giáo án)</a:t>
            </a:r>
            <a:endParaRPr lang="en-US" sz="2200" dirty="0"/>
          </a:p>
          <a:p>
            <a:pPr algn="l" lvl="1" marL="508000" indent="-254000">
              <a:lnSpc>
                <a:spcPct val="116000"/>
              </a:lnSpc>
              <a:spcAft>
                <a:spcPts val="900"/>
              </a:spcAft>
              <a:buSzPct val="100000"/>
              <a:buChar char="–"/>
            </a:pPr>
            <a:r>
              <a:rPr lang="en-US" sz="1900" dirty="0">
                <a:solidFill>
                  <a:srgbClr val="5B6B79"/>
                </a:solidFill>
                <a:latin typeface="Calibri" pitchFamily="34" charset="0"/>
                <a:ea typeface="Calibri" pitchFamily="34" charset="-122"/>
                <a:cs typeface="Calibri" pitchFamily="34" charset="-120"/>
              </a:rPr>
              <a:t>Cấu trúc 3 phần; viết mục tiêu; thiết kế 4 hoạt động học tập.</a:t>
            </a:r>
            <a:endParaRPr lang="en-US" sz="2200" dirty="0"/>
          </a:p>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5.3. Lựa chọn và xử lý nội dung dạy học phù hợp</a:t>
            </a:r>
            <a:endParaRPr lang="en-US" sz="2200" dirty="0"/>
          </a:p>
          <a:p>
            <a:pPr algn="l" lvl="1" marL="508000" indent="-254000">
              <a:lnSpc>
                <a:spcPct val="116000"/>
              </a:lnSpc>
              <a:spcAft>
                <a:spcPts val="900"/>
              </a:spcAft>
              <a:buSzPct val="100000"/>
              <a:buChar char="–"/>
            </a:pPr>
            <a:r>
              <a:rPr lang="en-US" sz="1900" dirty="0">
                <a:solidFill>
                  <a:srgbClr val="5B6B79"/>
                </a:solidFill>
                <a:latin typeface="Calibri" pitchFamily="34" charset="0"/>
                <a:ea typeface="Calibri" pitchFamily="34" charset="-122"/>
                <a:cs typeface="Calibri" pitchFamily="34" charset="-120"/>
              </a:rPr>
              <a:t>Tiêu chí chọn nội dung; kỹ thuật Scaffolding; xử lý điều kiện thiếu thốn.</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MỞ ĐẦU</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Nội dung chương (2/2)</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5.4. Tích hợp liên môn và xuyên chủ đề</a:t>
            </a:r>
            <a:endParaRPr lang="en-US" sz="2200" dirty="0"/>
          </a:p>
          <a:p>
            <a:pPr algn="l" lvl="1" marL="508000" indent="-254000">
              <a:lnSpc>
                <a:spcPct val="116000"/>
              </a:lnSpc>
              <a:spcAft>
                <a:spcPts val="900"/>
              </a:spcAft>
              <a:buSzPct val="100000"/>
              <a:buChar char="–"/>
            </a:pPr>
            <a:r>
              <a:rPr lang="en-US" sz="1900" dirty="0">
                <a:solidFill>
                  <a:srgbClr val="5B6B79"/>
                </a:solidFill>
                <a:latin typeface="Calibri" pitchFamily="34" charset="0"/>
                <a:ea typeface="Calibri" pitchFamily="34" charset="-122"/>
                <a:cs typeface="Calibri" pitchFamily="34" charset="-120"/>
              </a:rPr>
              <a:t>Khái niệm, các mức độ tích hợp, quy trình thiết kế bài học tích hợp.</a:t>
            </a:r>
            <a:endParaRPr lang="en-US" sz="2200" dirty="0"/>
          </a:p>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5.5. Xây dựng chuỗi hoạt động học tập logic</a:t>
            </a:r>
            <a:endParaRPr lang="en-US" sz="2200" dirty="0"/>
          </a:p>
          <a:p>
            <a:pPr algn="l" lvl="1" marL="508000" indent="-254000">
              <a:lnSpc>
                <a:spcPct val="116000"/>
              </a:lnSpc>
              <a:spcAft>
                <a:spcPts val="900"/>
              </a:spcAft>
              <a:buSzPct val="100000"/>
              <a:buChar char="–"/>
            </a:pPr>
            <a:r>
              <a:rPr lang="en-US" sz="1900" dirty="0">
                <a:solidFill>
                  <a:srgbClr val="5B6B79"/>
                </a:solidFill>
                <a:latin typeface="Calibri" pitchFamily="34" charset="0"/>
                <a:ea typeface="Calibri" pitchFamily="34" charset="-122"/>
                <a:cs typeface="Calibri" pitchFamily="34" charset="-120"/>
              </a:rPr>
              <a:t>Nguyên tắc thiết kế chuỗi hoạt động; phân bổ thời gian; kỹ thuật đặt câu hỏi.</a:t>
            </a:r>
            <a:endParaRPr lang="en-US" sz="2200" dirty="0"/>
          </a:p>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5.6. Đánh giá chất lượng kế hoạch bài dạy</a:t>
            </a:r>
            <a:endParaRPr lang="en-US" sz="2200" dirty="0"/>
          </a:p>
          <a:p>
            <a:pPr algn="l" lvl="1" marL="508000" indent="-254000">
              <a:lnSpc>
                <a:spcPct val="116000"/>
              </a:lnSpc>
              <a:spcAft>
                <a:spcPts val="900"/>
              </a:spcAft>
              <a:buSzPct val="100000"/>
              <a:buChar char="–"/>
            </a:pPr>
            <a:r>
              <a:rPr lang="en-US" sz="1900" dirty="0">
                <a:solidFill>
                  <a:srgbClr val="5B6B79"/>
                </a:solidFill>
                <a:latin typeface="Calibri" pitchFamily="34" charset="0"/>
                <a:ea typeface="Calibri" pitchFamily="34" charset="-122"/>
                <a:cs typeface="Calibri" pitchFamily="34" charset="-120"/>
              </a:rPr>
              <a:t>Rubric đánh giá giáo án; nguyên tắc phản hồi đồng nghiệp.</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5.1</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Kế hoạch dạy học năm học và học kỳ</a:t>
            </a:r>
            <a:endParaRPr lang="en-US" sz="34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Khái niệm kế hoạch dạy học năm học</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300" b="1" dirty="0">
                <a:solidFill>
                  <a:srgbClr val="222B33"/>
                </a:solidFill>
                <a:latin typeface="Calibri" pitchFamily="34" charset="0"/>
                <a:ea typeface="Calibri" pitchFamily="34" charset="-122"/>
                <a:cs typeface="Calibri" pitchFamily="34" charset="-120"/>
              </a:rPr>
              <a:t>Là văn bản thể hiện ý định sư phạm của giáo viên trong việc triển khai toàn bộ chương trình môn học trong một năm học.</a:t>
            </a:r>
            <a:endParaRPr lang="en-US" sz="2300" dirty="0"/>
          </a:p>
          <a:p>
            <a:pPr algn="l" marL="228600" indent="-228600">
              <a:lnSpc>
                <a:spcPct val="116000"/>
              </a:lnSpc>
              <a:spcAft>
                <a:spcPts val="1400"/>
              </a:spcAft>
              <a:buSzPct val="100000"/>
              <a:buChar char="▪"/>
            </a:pPr>
            <a:r>
              <a:rPr lang="en-US" sz="2300" dirty="0">
                <a:solidFill>
                  <a:srgbClr val="222B33"/>
                </a:solidFill>
                <a:latin typeface="Calibri" pitchFamily="34" charset="0"/>
                <a:ea typeface="Calibri" pitchFamily="34" charset="-122"/>
                <a:cs typeface="Calibri" pitchFamily="34" charset="-120"/>
              </a:rPr>
              <a:t>KHÔNG đơn thuần là bảng phân công bài dạy theo tuần.</a:t>
            </a:r>
            <a:endParaRPr lang="en-US" sz="2300" dirty="0"/>
          </a:p>
          <a:p>
            <a:pPr algn="l" marL="228600" indent="-228600">
              <a:lnSpc>
                <a:spcPct val="116000"/>
              </a:lnSpc>
              <a:spcAft>
                <a:spcPts val="1400"/>
              </a:spcAft>
              <a:buSzPct val="100000"/>
              <a:buChar char="▪"/>
            </a:pPr>
            <a:r>
              <a:rPr lang="en-US" sz="2300" b="1" i="1" dirty="0">
                <a:solidFill>
                  <a:srgbClr val="222B33"/>
                </a:solidFill>
                <a:latin typeface="Calibri" pitchFamily="34" charset="0"/>
                <a:ea typeface="Calibri" pitchFamily="34" charset="-122"/>
                <a:cs typeface="Calibri" pitchFamily="34" charset="-120"/>
              </a:rPr>
              <a:t>LÀ công cụ tư duy tổng thể, giúp GV nhìn toàn cảnh hành trình dạy học trước khi bước vào từng tiết cụ thể.</a:t>
            </a:r>
            <a:endParaRPr lang="en-US" sz="23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Năm chức năng của kế hoạch dạy học năm học</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Định hướng: xác định đích đến cuối năm, không “chìm” vào từng bài lẻ.</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Điều phối: phân bổ thời lượng hợp lý, tránh dạy nhanh đầu kỳ rồi chạy bài cuối kỳ.</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Kiểm soát tiến độ: thước đo để GV và tổ bộ môn theo dõi, điều chỉnh.</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Phối hợp: đảm bảo thống nhất trong tổ bộ môn khi nhiều GV cùng dạy một khối.</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Quản lý nguồn lực: dự kiến lịch dùng phòng máy, phần mềm, thiết bị.</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Các thành phần của kế hoạch dạy học năm học</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383280"/>
                <a:gridCol w="7818120"/>
              </a:tblGrid>
              <a:tr h="566928">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Thành phần</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Nội dung cần thể hiện</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795528">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Thông tin chung</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Môn học, lớp, năm học, họ tên GV, sĩ số dự kiến</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795528">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Phân phối thời gian</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Tổng số tiết/năm, số tiết lý thuyết, thực hành, ôn tập, kiểm tra</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795528">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Kế hoạch theo tuần/tháng</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Tên bài/chủ đề, số tiết, hình thức dạy học, ghi chú điều chỉnh</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795528">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Dự kiến kiểm tra, đánh giá</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Loại kiểm tra, thời điểm, hình thức (viết, thực hành, dự án)</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795528">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Thiết bị và học liệu</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Phòng máy, phần mềm, tài liệu phát tay, nguồn học liệu số</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Quyền chủ động chuyên môn của giáo viên</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Giáo viên được PHÉP chủ động (miễn đảm bảo yêu cầu cần đạt của chương trình):</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Điều chỉnh trình tự các bài học cho phù hợp.</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Tích hợp các bài học liên quan vào một chủ đề lớn.</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Thiết kế dự án học tập thay thế cho các tiết đơn lẻ.</a:t>
            </a:r>
            <a:endParaRPr lang="en-US" sz="22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Đây là quyền chủ động chuyên môn của GV — khác với cách phân phối chương trình cứng nhắc trước đây.</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Nguyên tắc phân bổ thời lượng (1)</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Về tổng số tiết</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Môn Tin học thường 70 tiết/năm ở THCS và THPT (~2 tiết/tuần). GV cần xác nhận chính xác với BGH khi lập kế hoạch.</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Về tỉ lệ lý thuyết – thực hành</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GDPT 2018 khuyến nghị tối thiểu 50% thực hành; nhiều chủ đề mạch CS có thể đạt 60–70% thực hành.</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Nguyên tắc phân bổ thời lượng (2)</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Về kiểm tra đánh giá</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Ít nhất 2 bài kiểm tra định kỳ/năm (1 bài/học kỳ), nên kết hợp cả lý thuyết và thực hành.</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Về dự trữ thời gian</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Dành 10–15% tổng thời lượng (khoảng 3–5 tiết) cho ôn tập, xử lý chênh lệch tiến độ, bổ sung nội dung khi cần.</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“Vùng đệm” thời gian giúp giáo viên linh hoạt hơn trước những phát sinh ngoài kế hoạch.</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KHDH Tin học lớp 8, học kỳ I (1/2)</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1005840"/>
                <a:gridCol w="5120640"/>
                <a:gridCol w="822960"/>
                <a:gridCol w="4251960"/>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Tuần</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Chủ đề / Bài học</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Tiết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Ghi chú</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1–2</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Ôn tập lớp 7; Giới thiệu Python và môi trường lập trình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4</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Kiểm tra đầu vào không lấy điểm</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3–5</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Biến, kiểu dữ liệu, nhập/xuất trong Python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4 tiết TH / 2 tiết LT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6–8</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Câu lệnh điều kiện if – elif – else</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Tích hợp Toán: bài toán phân loại</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9</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Kiểm tra thường xuyên (thực hành)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1</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Điểm hệ số 1</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5.1.3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KHDH Tin học lớp 8, học kỳ I (2/2)</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1005840"/>
                <a:gridCol w="5120640"/>
                <a:gridCol w="822960"/>
                <a:gridCol w="4251960"/>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Tuần</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Chủ đề / Bài học</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Tiết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Ghi chú</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0297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10–12</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Vòng lặp for và while</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Tích hợp: bảng cửu chương, dãy số</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0297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13–15</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Hàm trong Python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0297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16</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Ôn tập học kỳ I</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0297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17</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Kiểm tra định kỳ cuối học kỳ I</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Điểm hệ số 2</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36208"/>
            <a:ext cx="11201400" cy="402336"/>
          </a:xfrm>
          <a:prstGeom prst="rect">
            <a:avLst/>
          </a:prstGeom>
          <a:noFill/>
          <a:ln/>
        </p:spPr>
        <p:txBody>
          <a:bodyPr wrap="square" rtlCol="0" anchor="ctr"/>
          <a:lstStyle/>
          <a:p>
            <a:pPr indent="0" marL="0">
              <a:buNone/>
            </a:pPr>
            <a:r>
              <a:rPr lang="en-US" sz="1350" i="1" dirty="0">
                <a:solidFill>
                  <a:srgbClr val="5B6B79"/>
                </a:solidFill>
                <a:latin typeface="Calibri" pitchFamily="34" charset="0"/>
                <a:ea typeface="Calibri" pitchFamily="34" charset="-122"/>
                <a:cs typeface="Calibri" pitchFamily="34" charset="-120"/>
              </a:rPr>
              <a:t>LT = Lý thuyết, TH = Thực hành. Học kỳ II xây dựng tương tự.</a:t>
            </a:r>
            <a:endParaRPr lang="en-US" sz="1350" dirty="0"/>
          </a:p>
        </p:txBody>
      </p:sp>
      <p:sp>
        <p:nvSpPr>
          <p:cNvPr id="7"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5.2</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Thiết kế kế hoạch bài dạy (Giáo án)</a:t>
            </a:r>
            <a:endParaRPr lang="en-US" sz="34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Giáo án truyền thống và theo định hướng năng lực (1/2)</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377440"/>
                <a:gridCol w="4206240"/>
                <a:gridCol w="461772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Tiêu chí</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Truyền thống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Định hướng năng lực</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Câu hỏi trung tâm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“Giáo viên sẽ dạy gì?”</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“Học sinh sẽ làm được gì?”</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Trọng tâm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Kiến thức GV cần truyền đạt</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Năng lực HS cần đạt được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Vai trò GV</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Trung tâm, truyền thụ, giảng giải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Thiết kế, tổ chức, hướng dẫn, hỗ trợ</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Vai trò HS</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Thụ động tiếp nhận, ghi chép</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Chủ động hoạt động, khám phá, tạo sản phẩm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Giáo án truyền thống và theo định hướng năng lực (2/2)</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377440"/>
                <a:gridCol w="4206240"/>
                <a:gridCol w="4617720"/>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Tiêu chí</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Truyền thống</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Định hướng năng lực</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Cấu trúc bài</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KT bài cũ – Bài mới – Củng cố – Dặn dò</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Mở đầu – Hình thành KT mới – Luyện tập – Vận dụng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Mục tiêu</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biết..., HS hiểu...” (trạng thái tĩnh)</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thực hiện được..., giải quyết được...” (hành động)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Đánh giá</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Kiểm tra kiến thức đã ghi nhớ</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Đánh giá năng lực qua sản phẩm và hành động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Vai trò SGK</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Tài liệu trung tâm, dạy theo từng trang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Một trong nhiều nguồn tham khảo</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Lưu ý thực tiễn</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300" b="1" dirty="0">
                <a:solidFill>
                  <a:srgbClr val="222B33"/>
                </a:solidFill>
                <a:latin typeface="Calibri" pitchFamily="34" charset="0"/>
                <a:ea typeface="Calibri" pitchFamily="34" charset="-122"/>
                <a:cs typeface="Calibri" pitchFamily="34" charset="-120"/>
              </a:rPr>
              <a:t>KHÔNG nên hiểu giáo án mới là sự phủ nhận hoàn toàn giáo án cũ.</a:t>
            </a:r>
            <a:endParaRPr lang="en-US" sz="2300" dirty="0"/>
          </a:p>
          <a:p>
            <a:pPr algn="l" marL="228600" indent="-228600">
              <a:lnSpc>
                <a:spcPct val="116000"/>
              </a:lnSpc>
              <a:spcAft>
                <a:spcPts val="1400"/>
              </a:spcAft>
              <a:buSzPct val="100000"/>
              <a:buChar char="▪"/>
            </a:pPr>
            <a:r>
              <a:rPr lang="en-US" sz="2300" dirty="0">
                <a:solidFill>
                  <a:srgbClr val="222B33"/>
                </a:solidFill>
                <a:latin typeface="Calibri" pitchFamily="34" charset="0"/>
                <a:ea typeface="Calibri" pitchFamily="34" charset="-122"/>
                <a:cs typeface="Calibri" pitchFamily="34" charset="-120"/>
              </a:rPr>
              <a:t>Nhiều yếu tố tốt của giáo án truyền thống vẫn cần kế thừa: sự chuẩn bị kỹ lưỡng, logic trình bày rõ ràng, ví dụ minh họa phong phú.</a:t>
            </a:r>
            <a:endParaRPr lang="en-US" sz="2300" dirty="0"/>
          </a:p>
          <a:p>
            <a:pPr algn="l" marL="228600" indent="-228600">
              <a:lnSpc>
                <a:spcPct val="116000"/>
              </a:lnSpc>
              <a:spcAft>
                <a:spcPts val="1400"/>
              </a:spcAft>
              <a:buSzPct val="100000"/>
              <a:buChar char="▪"/>
            </a:pPr>
            <a:r>
              <a:rPr lang="en-US" sz="2300" b="1" i="1" dirty="0">
                <a:solidFill>
                  <a:srgbClr val="222B33"/>
                </a:solidFill>
                <a:latin typeface="Calibri" pitchFamily="34" charset="0"/>
                <a:ea typeface="Calibri" pitchFamily="34" charset="-122"/>
                <a:cs typeface="Calibri" pitchFamily="34" charset="-120"/>
              </a:rPr>
              <a:t>Điều thay đổi căn bản là TRUNG TÂM CỦA THIẾT KẾ: từ hoạt động của giáo viên sang hoạt động của học sinh.</a:t>
            </a:r>
            <a:endParaRPr lang="en-US" sz="23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Ba phần chính của một kế hoạch bài dạy</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PHẦN I — Thông tin chung</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Tên bài, môn/lớp/thời điểm, thời gian thực hiện, GV, thiết bị và học liệu.</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PHẦN II — Mục tiêu bài học</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Phần quan trọng nhất — cũng là phần sinh viên thường mắc lỗi nhiều nhất.</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PHẦN III — Tiến trình dạy học</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Phần chiếm nhiều công sức nhất — gồm 4 hoạt động học tập chính.</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Phần I: Thông tin chung</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Tên bài dạy (đúng tên chương trình, hoặc tên GV đặt nếu dạy theo chủ đề).</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Môn học, lớp, thời điểm dạy (học kỳ, tuần thứ mấy).</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Thời gian thực hiện (số tiết); họ tên giáo viên, đơn vị công tác.</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Thiết bị dạy học và học liệu — đặc biệt quan trọng với Tin học: số máy tính, phần mềm cần cài, yêu cầu Internet, file dữ liệu mẫu, phiếu học tập...</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Phần II: Nguyên tắc viết mục tiêu</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500" b="1" dirty="0">
                <a:solidFill>
                  <a:srgbClr val="222B33"/>
                </a:solidFill>
                <a:latin typeface="Calibri" pitchFamily="34" charset="0"/>
                <a:ea typeface="Calibri" pitchFamily="34" charset="-122"/>
                <a:cs typeface="Calibri" pitchFamily="34" charset="-120"/>
              </a:rPr>
              <a:t>Mục tiêu được viết theo công thức:</a:t>
            </a:r>
            <a:endParaRPr lang="en-US" sz="2500" dirty="0"/>
          </a:p>
          <a:p>
            <a:pPr algn="l" marL="228600" indent="-228600">
              <a:lnSpc>
                <a:spcPct val="116000"/>
              </a:lnSpc>
              <a:spcAft>
                <a:spcPts val="1400"/>
              </a:spcAft>
              <a:buSzPct val="100000"/>
              <a:buChar char="▪"/>
            </a:pPr>
            <a:r>
              <a:rPr lang="en-US" sz="2500" b="1" i="1" dirty="0">
                <a:solidFill>
                  <a:srgbClr val="222B33"/>
                </a:solidFill>
                <a:latin typeface="Calibri" pitchFamily="34" charset="0"/>
                <a:ea typeface="Calibri" pitchFamily="34" charset="-122"/>
                <a:cs typeface="Calibri" pitchFamily="34" charset="-120"/>
              </a:rPr>
              <a:t>[Chủ thể — Học sinh] + [Động từ hành động quan sát được] + [Nội dung cụ thể] + [Điều kiện hoặc tiêu chí đánh giá]</a:t>
            </a:r>
            <a:endParaRPr lang="en-US" sz="25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Bốn thành phần này là khung sườn bắt buộc — thiếu một thành phần, mục tiêu sẽ khó đo lường và khó đánh giá.</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phân tích mục tiêu (1/2) — Chưa đạt</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4480560"/>
                <a:gridCol w="1737360"/>
                <a:gridCol w="4983480"/>
              </a:tblGrid>
              <a:tr h="566928">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Mục tiêu</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Đánh giá</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Lý do</a:t>
                      </a:r>
                      <a:endParaRPr lang="en-US" sz="17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“HS hiểu về vòng lặp trong Python”</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 Không đạt</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“Hiểu” không quan sát được, không có tiêu chí đánh giá</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“HS biết vòng lặp for dùng để làm gì”</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 Không đạt</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50" dirty="0">
                          <a:solidFill>
                            <a:srgbClr val="222B33"/>
                          </a:solidFill>
                          <a:latin typeface="Calibri" pitchFamily="34" charset="0"/>
                          <a:ea typeface="Calibri" pitchFamily="34" charset="-122"/>
                          <a:cs typeface="Calibri" pitchFamily="34" charset="-120"/>
                        </a:rPr>
                        <a:t>“Biết” quá mơ hồ, không đo lường được</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phân tích mục tiêu (2/2) — Đạt / Tốt</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4480560"/>
                <a:gridCol w="1737360"/>
                <a:gridCol w="4983480"/>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Mục tiêu</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Đánh giá</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Lý do</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viết được chương trình Python dùng vòng lặp for để in bảng cửu chương của một số nguyên bất kỳ”</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 Đạt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Động từ rõ ràng, nội dung cụ thể, kiểm tra được bằng sản phẩm</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vận dụng được vòng lặp for và while để giải ít nhất 2/3 bài toán được giao, code chạy đúng kết quả”</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 Tốt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Có mức độ rõ ràng (2/3 bài), tiêu chí cụ thể (code chạy đúng)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Mục tiêu bài học cần đủ ba chiều (1)</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(a) Năng lực đặc thù (năng lực Tin học)</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Gắn trực tiếp với nội dung bài học. VD: “Viết được chương trình...”, “Sử dụng được phần mềm...”</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(b) Năng lực chung</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Xuất hiện tự nhiên qua cách tổ chức hoạt động. VD: “Hợp tác với bạn nhóm để giải bài toán lập trình” (giao tiếp &amp; hợp tác).</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Mục tiêu bài học cần đủ ba chiều (2)</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(c) Phẩm chất</a:t>
            </a:r>
            <a:endParaRPr lang="en-US" sz="2100" dirty="0"/>
          </a:p>
          <a:p>
            <a:pPr algn="l" marL="228600" indent="-228600">
              <a:lnSpc>
                <a:spcPct val="116000"/>
              </a:lnSpc>
              <a:spcAft>
                <a:spcPts val="1400"/>
              </a:spcAft>
              <a:buSzPct val="100000"/>
              <a:buChar char="▪"/>
            </a:pPr>
            <a:r>
              <a:rPr lang="en-US" sz="2100" dirty="0">
                <a:solidFill>
                  <a:srgbClr val="222B33"/>
                </a:solidFill>
                <a:latin typeface="Calibri" pitchFamily="34" charset="0"/>
                <a:ea typeface="Calibri" pitchFamily="34" charset="-122"/>
                <a:cs typeface="Calibri" pitchFamily="34" charset="-120"/>
              </a:rPr>
              <a:t>Cần cụ thể hóa thành hành vi quan sát được — không viết chung chung.</a:t>
            </a:r>
            <a:endParaRPr lang="en-US" sz="2100" dirty="0"/>
          </a:p>
          <a:p>
            <a:pPr algn="l" marL="228600" indent="-228600">
              <a:lnSpc>
                <a:spcPct val="116000"/>
              </a:lnSpc>
              <a:spcAft>
                <a:spcPts val="1400"/>
              </a:spcAft>
              <a:buSzPct val="100000"/>
              <a:buChar char="▪"/>
            </a:pPr>
            <a:r>
              <a:rPr lang="en-US" sz="2100" i="1" dirty="0">
                <a:solidFill>
                  <a:srgbClr val="222B33"/>
                </a:solidFill>
                <a:latin typeface="Calibri" pitchFamily="34" charset="0"/>
                <a:ea typeface="Calibri" pitchFamily="34" charset="-122"/>
                <a:cs typeface="Calibri" pitchFamily="34" charset="-120"/>
              </a:rPr>
              <a:t>KHÔNG NÊN viết: “Học sinh có tính kiên trì”.</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NÊN viết: “Học sinh kiên trì thử nghiệm và sửa lỗi chương trình cho đến khi chạy đúng kết quả mong muốn”.</a:t>
            </a:r>
            <a:endParaRPr lang="en-US" sz="21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Bốn thành phần của mỗi hoạt động học tập</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286000"/>
                <a:gridCol w="4709160"/>
                <a:gridCol w="4206240"/>
              </a:tblGrid>
              <a:tr h="566928">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Thành phần</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Nội dung cần ghi rõ</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Câu hỏi kiểm tra</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Mục tiêu hoạt động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làm được gì sau hoạt động này</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“Tôi có thể đánh giá HS đã đạt điều gì chưa?”</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Nội dung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Kiến thức/kỹ năng cần giải quyết; nhiệm vụ cụ thể</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“Nhiệm vụ của HS trong hoạt động này là gì?”</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Sản phẩm</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tạo ra/trình bày được gì (hữu hình hoặc vô hình)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“Tôi biết HS đã học được gì nhờ bằng chứng nào?”</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Tổ chức thực hiện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Các bước GV thực hiện; PP; hình thức; thời gian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“GV cần làm gì, theo thứ tự nào, mất bao lâu?”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Hoạt động 1: MỞ ĐẦU (Khởi động) — 5–10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b="1" dirty="0">
                <a:solidFill>
                  <a:srgbClr val="222B33"/>
                </a:solidFill>
                <a:latin typeface="Calibri" pitchFamily="34" charset="0"/>
                <a:ea typeface="Calibri" pitchFamily="34" charset="-122"/>
                <a:cs typeface="Calibri" pitchFamily="34" charset="-120"/>
              </a:rPr>
              <a:t>KHÔNG phải “kiểm tra bài cũ” kiểu truyền thống. Mục đích thực sự:</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Tạo tình huống có vấn đề để kích hoạt nhu cầu học tập.</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Kết nối kiến thức đã có với kiến thức sắp học.</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Tạo hứng thú, động lực và sự tò mò.</a:t>
            </a:r>
            <a:endParaRPr lang="en-US" sz="22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Một hoạt động Mở đầu tốt khiến HS tự đặt câu hỏi “Tại sao?”, “Làm thế nào?” trước khi GV trả lời.</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Mở đầu — Bốn hình thức phổ biến</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Tình huống thực tế có vấn đề (câu chuyện, video ngắn, bài toán từ cuộc sống).</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Câu hỏi kích thích tư duy (không có câu trả lời ngay, cần nội dung bài mới).</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Trò chơi hoặc đố vui liên quan đến nội dung bài.</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Demo nhanh kết quả sẽ đạt được cuối bài (tạo kỳ vọng).</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Mở đầu bài “Câu lệnh if – else” (Lớp 8)</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Mục tiêu: HS nhận ra nhu cầu “rẽ nhánh” trong giải quyết vấn đề thực tế.</a:t>
            </a:r>
            <a:endParaRPr lang="en-US" sz="1850" dirty="0"/>
          </a:p>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Nội dung: “Máy ATM cần ra quyết định gì khi bạn rút tiền?”</a:t>
            </a:r>
            <a:endParaRPr lang="en-US" sz="1850" dirty="0"/>
          </a:p>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Sản phẩm: HS phát biểu (ngôn ngữ tự nhiên) ít nhất 2 điều kiện và hành động tương ứng của máy ATM.</a:t>
            </a:r>
            <a:endParaRPr lang="en-US" sz="1850" dirty="0"/>
          </a:p>
          <a:p>
            <a:pPr algn="l" marL="228600" indent="-228600">
              <a:lnSpc>
                <a:spcPct val="116000"/>
              </a:lnSpc>
              <a:spcAft>
                <a:spcPts val="1400"/>
              </a:spcAft>
              <a:buSzPct val="100000"/>
              <a:buChar char="▪"/>
            </a:pPr>
            <a:r>
              <a:rPr lang="en-US" sz="1850" b="1" dirty="0">
                <a:solidFill>
                  <a:srgbClr val="222B33"/>
                </a:solidFill>
                <a:latin typeface="Calibri" pitchFamily="34" charset="0"/>
                <a:ea typeface="Calibri" pitchFamily="34" charset="-122"/>
                <a:cs typeface="Calibri" pitchFamily="34" charset="-120"/>
              </a:rPr>
              <a:t>Tổ chức: Chiếu video 1 phút → đặt câu hỏi → thảo luận cặp đôi 2 phút → 2–3 cặp chia sẻ → GV viết sơ đồ “Nếu... thì... Nếu không thì...” → dẫn vào bài.</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Hoạt động 2: Hình thành kiến thức mới — 15–20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400" b="1" dirty="0">
                <a:solidFill>
                  <a:srgbClr val="222B33"/>
                </a:solidFill>
                <a:latin typeface="Calibri" pitchFamily="34" charset="0"/>
                <a:ea typeface="Calibri" pitchFamily="34" charset="-122"/>
                <a:cs typeface="Calibri" pitchFamily="34" charset="-120"/>
              </a:rPr>
              <a:t>GV KHÔNG được giảng giải toàn bộ kiến thức rồi HS nghe và ghi chép.</a:t>
            </a:r>
            <a:endParaRPr lang="en-US" sz="2400" dirty="0"/>
          </a:p>
          <a:p>
            <a:pPr algn="l" marL="228600" indent="-228600">
              <a:lnSpc>
                <a:spcPct val="116000"/>
              </a:lnSpc>
              <a:spcAft>
                <a:spcPts val="1400"/>
              </a:spcAft>
              <a:buSzPct val="100000"/>
              <a:buChar char="▪"/>
            </a:pPr>
            <a:r>
              <a:rPr lang="en-US" sz="2400" b="1" i="1" dirty="0">
                <a:solidFill>
                  <a:srgbClr val="222B33"/>
                </a:solidFill>
                <a:latin typeface="Calibri" pitchFamily="34" charset="0"/>
                <a:ea typeface="Calibri" pitchFamily="34" charset="-122"/>
                <a:cs typeface="Calibri" pitchFamily="34" charset="-120"/>
              </a:rPr>
              <a:t>Thay vào đó, học sinh phải TỰ KHÁM PHÁ hoặc TỰ XÂY DỰNG kiến thức thông qua hoạt động có hướng dẫn.</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Bốn chiến lược hình thành kiến thức trong Tin học</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000" dirty="0">
                <a:solidFill>
                  <a:srgbClr val="222B33"/>
                </a:solidFill>
                <a:latin typeface="Calibri" pitchFamily="34" charset="0"/>
                <a:ea typeface="Calibri" pitchFamily="34" charset="-122"/>
                <a:cs typeface="Calibri" pitchFamily="34" charset="-120"/>
              </a:rPr>
              <a:t>Phân tích ví dụ mẫu: 2–3 đoạn code mẫu tăng dần độ phức tạp, HS đọc và rút ra quy tắc cú pháp.</a:t>
            </a:r>
            <a:endParaRPr lang="en-US" sz="2000" dirty="0"/>
          </a:p>
          <a:p>
            <a:pPr algn="l" marL="228600" indent="-228600">
              <a:lnSpc>
                <a:spcPct val="116000"/>
              </a:lnSpc>
              <a:spcAft>
                <a:spcPts val="1400"/>
              </a:spcAft>
              <a:buSzPct val="100000"/>
              <a:buChar char="▪"/>
            </a:pPr>
            <a:r>
              <a:rPr lang="en-US" sz="2000" dirty="0">
                <a:solidFill>
                  <a:srgbClr val="222B33"/>
                </a:solidFill>
                <a:latin typeface="Calibri" pitchFamily="34" charset="0"/>
                <a:ea typeface="Calibri" pitchFamily="34" charset="-122"/>
                <a:cs typeface="Calibri" pitchFamily="34" charset="-120"/>
              </a:rPr>
              <a:t>Dự đoán – chạy thử – đối chiếu: HS dự đoán kết quả trước khi chạy, rồi so sánh với dự đoán.</a:t>
            </a:r>
            <a:endParaRPr lang="en-US" sz="2000" dirty="0"/>
          </a:p>
          <a:p>
            <a:pPr algn="l" marL="228600" indent="-228600">
              <a:lnSpc>
                <a:spcPct val="116000"/>
              </a:lnSpc>
              <a:spcAft>
                <a:spcPts val="1400"/>
              </a:spcAft>
              <a:buSzPct val="100000"/>
              <a:buChar char="▪"/>
            </a:pPr>
            <a:r>
              <a:rPr lang="en-US" sz="2000" dirty="0">
                <a:solidFill>
                  <a:srgbClr val="222B33"/>
                </a:solidFill>
                <a:latin typeface="Calibri" pitchFamily="34" charset="0"/>
                <a:ea typeface="Calibri" pitchFamily="34" charset="-122"/>
                <a:cs typeface="Calibri" pitchFamily="34" charset="-120"/>
              </a:rPr>
              <a:t>Khám phá tài liệu có hướng dẫn: HS đọc tài liệu ngắn, tóm tắt kiến thức theo mẫu phiếu.</a:t>
            </a:r>
            <a:endParaRPr lang="en-US" sz="2000" dirty="0"/>
          </a:p>
          <a:p>
            <a:pPr algn="l" marL="228600" indent="-228600">
              <a:lnSpc>
                <a:spcPct val="116000"/>
              </a:lnSpc>
              <a:spcAft>
                <a:spcPts val="1400"/>
              </a:spcAft>
              <a:buSzPct val="100000"/>
              <a:buChar char="▪"/>
            </a:pPr>
            <a:r>
              <a:rPr lang="en-US" sz="2000" dirty="0">
                <a:solidFill>
                  <a:srgbClr val="222B33"/>
                </a:solidFill>
                <a:latin typeface="Calibri" pitchFamily="34" charset="0"/>
                <a:ea typeface="Calibri" pitchFamily="34" charset="-122"/>
                <a:cs typeface="Calibri" pitchFamily="34" charset="-120"/>
              </a:rPr>
              <a:t>Xây dựng từng bước: GV hướng dẫn từng bước nhỏ, mỗi bước HS thực hành xong mới sang bước tiếp.</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Hoạt động 3: LUYỆN TẬP — 10–15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300" dirty="0">
                <a:solidFill>
                  <a:srgbClr val="222B33"/>
                </a:solidFill>
                <a:latin typeface="Calibri" pitchFamily="34" charset="0"/>
                <a:ea typeface="Calibri" pitchFamily="34" charset="-122"/>
                <a:cs typeface="Calibri" pitchFamily="34" charset="-120"/>
              </a:rPr>
              <a:t>Bài 1 (bắt buộc): áp dụng trực tiếp kiến thức vừa học — mọi HS đều hoàn thành được.</a:t>
            </a:r>
            <a:endParaRPr lang="en-US" sz="2300" dirty="0"/>
          </a:p>
          <a:p>
            <a:pPr algn="l" marL="228600" indent="-228600">
              <a:lnSpc>
                <a:spcPct val="116000"/>
              </a:lnSpc>
              <a:spcAft>
                <a:spcPts val="1400"/>
              </a:spcAft>
              <a:buSzPct val="100000"/>
              <a:buChar char="▪"/>
            </a:pPr>
            <a:r>
              <a:rPr lang="en-US" sz="2300" dirty="0">
                <a:solidFill>
                  <a:srgbClr val="222B33"/>
                </a:solidFill>
                <a:latin typeface="Calibri" pitchFamily="34" charset="0"/>
                <a:ea typeface="Calibri" pitchFamily="34" charset="-122"/>
                <a:cs typeface="Calibri" pitchFamily="34" charset="-120"/>
              </a:rPr>
              <a:t>Bài 2 (bắt buộc): kết hợp kiến thức mới với kiến thức cũ, hoặc bài toán thực tế đơn giản.</a:t>
            </a:r>
            <a:endParaRPr lang="en-US" sz="2300" dirty="0"/>
          </a:p>
          <a:p>
            <a:pPr algn="l" marL="228600" indent="-228600">
              <a:lnSpc>
                <a:spcPct val="116000"/>
              </a:lnSpc>
              <a:spcAft>
                <a:spcPts val="1400"/>
              </a:spcAft>
              <a:buSzPct val="100000"/>
              <a:buChar char="▪"/>
            </a:pPr>
            <a:r>
              <a:rPr lang="en-US" sz="2300" dirty="0">
                <a:solidFill>
                  <a:srgbClr val="222B33"/>
                </a:solidFill>
                <a:latin typeface="Calibri" pitchFamily="34" charset="0"/>
                <a:ea typeface="Calibri" pitchFamily="34" charset="-122"/>
                <a:cs typeface="Calibri" pitchFamily="34" charset="-120"/>
              </a:rPr>
              <a:t>Bài 3 (nâng cao, tùy chọn): dành cho HS hoàn thành sớm — tư duy cao hơn, sáng tạo hơn.</a:t>
            </a:r>
            <a:endParaRPr lang="en-US" sz="23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Hoạt động 4: VẬN DỤNG — 5–10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050" dirty="0">
                <a:solidFill>
                  <a:srgbClr val="222B33"/>
                </a:solidFill>
                <a:latin typeface="Calibri" pitchFamily="34" charset="0"/>
                <a:ea typeface="Calibri" pitchFamily="34" charset="-122"/>
                <a:cs typeface="Calibri" pitchFamily="34" charset="-120"/>
              </a:rPr>
              <a:t>Bối cảnh thực tế, có ý nghĩa với học sinh.</a:t>
            </a:r>
            <a:endParaRPr lang="en-US" sz="2050" dirty="0"/>
          </a:p>
          <a:p>
            <a:pPr algn="l" marL="228600" indent="-228600">
              <a:lnSpc>
                <a:spcPct val="116000"/>
              </a:lnSpc>
              <a:spcAft>
                <a:spcPts val="1400"/>
              </a:spcAft>
              <a:buSzPct val="100000"/>
              <a:buChar char="▪"/>
            </a:pPr>
            <a:r>
              <a:rPr lang="en-US" sz="2050" dirty="0">
                <a:solidFill>
                  <a:srgbClr val="222B33"/>
                </a:solidFill>
                <a:latin typeface="Calibri" pitchFamily="34" charset="0"/>
                <a:ea typeface="Calibri" pitchFamily="34" charset="-122"/>
                <a:cs typeface="Calibri" pitchFamily="34" charset="-120"/>
              </a:rPr>
              <a:t>Không có một đáp án duy nhất — HS tiếp cận theo nhiều cách.</a:t>
            </a:r>
            <a:endParaRPr lang="en-US" sz="2050" dirty="0"/>
          </a:p>
          <a:p>
            <a:pPr algn="l" marL="228600" indent="-228600">
              <a:lnSpc>
                <a:spcPct val="116000"/>
              </a:lnSpc>
              <a:spcAft>
                <a:spcPts val="1400"/>
              </a:spcAft>
              <a:buSzPct val="100000"/>
              <a:buChar char="▪"/>
            </a:pPr>
            <a:r>
              <a:rPr lang="en-US" sz="2050" dirty="0">
                <a:solidFill>
                  <a:srgbClr val="222B33"/>
                </a:solidFill>
                <a:latin typeface="Calibri" pitchFamily="34" charset="0"/>
                <a:ea typeface="Calibri" pitchFamily="34" charset="-122"/>
                <a:cs typeface="Calibri" pitchFamily="34" charset="-120"/>
              </a:rPr>
              <a:t>Kết quả là sản phẩm cụ thể (chương trình, file dữ liệu, báo cáo...).</a:t>
            </a:r>
            <a:endParaRPr lang="en-US" sz="2050" dirty="0"/>
          </a:p>
          <a:p>
            <a:pPr algn="l" marL="228600" indent="-228600">
              <a:lnSpc>
                <a:spcPct val="116000"/>
              </a:lnSpc>
              <a:spcAft>
                <a:spcPts val="1400"/>
              </a:spcAft>
              <a:buSzPct val="100000"/>
              <a:buChar char="▪"/>
            </a:pPr>
            <a:r>
              <a:rPr lang="en-US" sz="2050" dirty="0">
                <a:solidFill>
                  <a:srgbClr val="222B33"/>
                </a:solidFill>
                <a:latin typeface="Calibri" pitchFamily="34" charset="0"/>
                <a:ea typeface="Calibri" pitchFamily="34" charset="-122"/>
                <a:cs typeface="Calibri" pitchFamily="34" charset="-120"/>
              </a:rPr>
              <a:t>Thường giao về nhà hoặc thực hiện dưới dạng dự án nhỏ.</a:t>
            </a:r>
            <a:endParaRPr lang="en-US" sz="2050" dirty="0"/>
          </a:p>
          <a:p>
            <a:pPr algn="l" marL="228600" indent="-228600">
              <a:lnSpc>
                <a:spcPct val="116000"/>
              </a:lnSpc>
              <a:spcAft>
                <a:spcPts val="1400"/>
              </a:spcAft>
              <a:buSzPct val="100000"/>
              <a:buChar char="▪"/>
            </a:pPr>
            <a:r>
              <a:rPr lang="en-US" sz="2050" dirty="0">
                <a:solidFill>
                  <a:srgbClr val="222B33"/>
                </a:solidFill>
                <a:latin typeface="Calibri" pitchFamily="34" charset="0"/>
                <a:ea typeface="Calibri" pitchFamily="34" charset="-122"/>
                <a:cs typeface="Calibri" pitchFamily="34" charset="-120"/>
              </a:rPr>
              <a:t>HS có thể tự đề xuất vấn đề tương tự/mở rộng dựa trên nội dung vừa học.</a:t>
            </a:r>
            <a:endParaRPr lang="en-US" sz="20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chuỗi hoạt động: Vòng lặp for (Lớp 8, 45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Thiết bị: phòng máy tính, Python 3 (hoặc replit.com), phiếu học tập in sẵn.</a:t>
            </a:r>
            <a:endParaRPr lang="en-US" sz="1850" dirty="0"/>
          </a:p>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Mục tiêu 1: viết được chương trình dùng for với range() giải ít nhất 2 bài toán lặp đơn giản.</a:t>
            </a:r>
            <a:endParaRPr lang="en-US" sz="1850" dirty="0"/>
          </a:p>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Mục tiêu 2: giải thích được khác biệt “lặp biết trước số lần” và “lặp chưa biết trước số lần”.</a:t>
            </a:r>
            <a:endParaRPr lang="en-US" sz="1850" dirty="0"/>
          </a:p>
          <a:p>
            <a:pPr algn="l" marL="228600" indent="-228600">
              <a:lnSpc>
                <a:spcPct val="116000"/>
              </a:lnSpc>
              <a:spcAft>
                <a:spcPts val="1400"/>
              </a:spcAft>
              <a:buSzPct val="100000"/>
              <a:buChar char="▪"/>
            </a:pPr>
            <a:r>
              <a:rPr lang="en-US" sz="1850" dirty="0">
                <a:solidFill>
                  <a:srgbClr val="222B33"/>
                </a:solidFill>
                <a:latin typeface="Calibri" pitchFamily="34" charset="0"/>
                <a:ea typeface="Calibri" pitchFamily="34" charset="-122"/>
                <a:cs typeface="Calibri" pitchFamily="34" charset="-120"/>
              </a:rPr>
              <a:t>Mục tiêu 3: kiên trì thử nghiệm và sửa lỗi cho đến khi chương trình chạy đúng.</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Mở đầu (7') và Hình thành kiến thức (18')</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800" b="1" dirty="0">
                <a:solidFill>
                  <a:srgbClr val="222B33"/>
                </a:solidFill>
                <a:latin typeface="Calibri" pitchFamily="34" charset="0"/>
                <a:ea typeface="Calibri" pitchFamily="34" charset="-122"/>
                <a:cs typeface="Calibri" pitchFamily="34" charset="-120"/>
              </a:rPr>
              <a:t>[Mở đầu]: “Viết chương trình in 100 dòng ‘Xin chào’ — bạn sẽ viết thế nào?” → HS thử gõ 3–5 dòng print() → nhận ra bất hợp lý → “Có cách nào hiệu quả hơn?” → dẫn vào bài.</a:t>
            </a:r>
            <a:endParaRPr lang="en-US" sz="1800" dirty="0"/>
          </a:p>
          <a:p>
            <a:pPr algn="l" marL="228600" indent="-228600">
              <a:lnSpc>
                <a:spcPct val="116000"/>
              </a:lnSpc>
              <a:spcAft>
                <a:spcPts val="1400"/>
              </a:spcAft>
              <a:buSzPct val="100000"/>
              <a:buChar char="▪"/>
            </a:pPr>
            <a:r>
              <a:rPr lang="en-US" sz="1800" b="1" dirty="0">
                <a:solidFill>
                  <a:srgbClr val="222B33"/>
                </a:solidFill>
                <a:latin typeface="Calibri" pitchFamily="34" charset="0"/>
                <a:ea typeface="Calibri" pitchFamily="34" charset="-122"/>
                <a:cs typeface="Calibri" pitchFamily="34" charset="-120"/>
              </a:rPr>
              <a:t>[Hình thành KT]: Phát phiếu học tập 3 đoạn code mẫu tăng dần độ phức tạp. HS đọc, dự đoán, chạy thử, điền phiếu. Sau 10 phút, GV chiếu bảng tổng hợp cú pháp để HS đối chiếu, hoàn thiện.</a:t>
            </a:r>
            <a:endParaRPr lang="en-US" sz="18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Luyện tập (12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Bài 1: In bảng cửu chương của số n (nhập từ bàn phím). — Vận dụng cơ bản</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Bài 2: Tính tổng 1 + 2 + 3 + ... + 100, in kết quả. — Vận dụng kết hợp</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Bài 3 (nâng cao): Vẽ tam giác sao với n hàng, dòng thứ i có i dấu sao. — Sáng tạo</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5.2.4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Vận dụng (8 phút)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400" b="1" dirty="0">
                <a:solidFill>
                  <a:srgbClr val="222B33"/>
                </a:solidFill>
                <a:latin typeface="Calibri" pitchFamily="34" charset="0"/>
                <a:ea typeface="Calibri" pitchFamily="34" charset="-122"/>
                <a:cs typeface="Calibri" pitchFamily="34" charset="-120"/>
              </a:rPr>
              <a:t>Nhiệm vụ về nhà:</a:t>
            </a:r>
            <a:endParaRPr lang="en-US" sz="2400" dirty="0"/>
          </a:p>
          <a:p>
            <a:pPr algn="l" marL="228600" indent="-228600">
              <a:lnSpc>
                <a:spcPct val="116000"/>
              </a:lnSpc>
              <a:spcAft>
                <a:spcPts val="1400"/>
              </a:spcAft>
              <a:buSzPct val="100000"/>
              <a:buChar char="▪"/>
            </a:pPr>
            <a:r>
              <a:rPr lang="en-US" sz="2400" i="1" dirty="0">
                <a:solidFill>
                  <a:srgbClr val="222B33"/>
                </a:solidFill>
                <a:latin typeface="Calibri" pitchFamily="34" charset="0"/>
                <a:ea typeface="Calibri" pitchFamily="34" charset="-122"/>
                <a:cs typeface="Calibri" pitchFamily="34" charset="-120"/>
              </a:rPr>
              <a:t>“Viết chương trình nhập tên 5 học sinh và in ra danh sách có đánh số thứ tự tự động.”</a:t>
            </a:r>
            <a:endParaRPr lang="en-US" sz="2400" dirty="0"/>
          </a:p>
          <a:p>
            <a:pPr algn="l" marL="228600" indent="-228600">
              <a:lnSpc>
                <a:spcPct val="116000"/>
              </a:lnSpc>
              <a:spcAft>
                <a:spcPts val="1400"/>
              </a:spcAft>
              <a:buSzPct val="100000"/>
              <a:buChar char="▪"/>
            </a:pPr>
            <a:r>
              <a:rPr lang="en-US" sz="2400" i="1" dirty="0">
                <a:solidFill>
                  <a:srgbClr val="222B33"/>
                </a:solidFill>
                <a:latin typeface="Calibri" pitchFamily="34" charset="0"/>
                <a:ea typeface="Calibri" pitchFamily="34" charset="-122"/>
                <a:cs typeface="Calibri" pitchFamily="34" charset="-120"/>
              </a:rPr>
              <a:t>“Nộp file .py vào hệ thống quản lý học tập trước buổi học tiếp theo.”</a:t>
            </a:r>
            <a:endParaRPr lang="en-US" sz="24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5.3</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Lựa chọn và xử lý nội dung dạy học phù hợp</a:t>
            </a:r>
            <a:endParaRPr lang="en-US" sz="34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Tiêu chí lựa chọn nội dung (1)</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950" b="1" dirty="0">
                <a:solidFill>
                  <a:srgbClr val="222B33"/>
                </a:solidFill>
                <a:latin typeface="Calibri" pitchFamily="34" charset="0"/>
                <a:ea typeface="Calibri" pitchFamily="34" charset="-122"/>
                <a:cs typeface="Calibri" pitchFamily="34" charset="-120"/>
              </a:rPr>
              <a:t>Tiêu chí 1 — Phù hợp với chương trình</a:t>
            </a:r>
            <a:endParaRPr lang="en-US" sz="1950" dirty="0"/>
          </a:p>
          <a:p>
            <a:pPr algn="l" lvl="1" marL="508000" indent="-254000">
              <a:lnSpc>
                <a:spcPct val="116000"/>
              </a:lnSpc>
              <a:spcAft>
                <a:spcPts val="900"/>
              </a:spcAft>
              <a:buSzPct val="100000"/>
              <a:buChar char="–"/>
            </a:pPr>
            <a:r>
              <a:rPr lang="en-US" sz="1650" dirty="0">
                <a:solidFill>
                  <a:srgbClr val="5B6B79"/>
                </a:solidFill>
                <a:latin typeface="Calibri" pitchFamily="34" charset="0"/>
                <a:ea typeface="Calibri" pitchFamily="34" charset="-122"/>
                <a:cs typeface="Calibri" pitchFamily="34" charset="-120"/>
              </a:rPr>
              <a:t>Đảm bảo yêu cầu cần đạt — không cắt xén bắt buộc, không vượt quy định không cần thiết. Luôn tự hỏi: “Yêu cầu cần đạt nào đòi hỏi nội dung này?”</a:t>
            </a:r>
            <a:endParaRPr lang="en-US" sz="1950" dirty="0"/>
          </a:p>
          <a:p>
            <a:pPr algn="l" marL="228600" indent="-228600">
              <a:lnSpc>
                <a:spcPct val="116000"/>
              </a:lnSpc>
              <a:spcAft>
                <a:spcPts val="1400"/>
              </a:spcAft>
              <a:buSzPct val="100000"/>
              <a:buChar char="▪"/>
            </a:pPr>
            <a:r>
              <a:rPr lang="en-US" sz="1950" b="1" dirty="0">
                <a:solidFill>
                  <a:srgbClr val="222B33"/>
                </a:solidFill>
                <a:latin typeface="Calibri" pitchFamily="34" charset="0"/>
                <a:ea typeface="Calibri" pitchFamily="34" charset="-122"/>
                <a:cs typeface="Calibri" pitchFamily="34" charset="-120"/>
              </a:rPr>
              <a:t>Tiêu chí 2 — Phù hợp với đặc điểm học sinh</a:t>
            </a:r>
            <a:endParaRPr lang="en-US" sz="1950" dirty="0"/>
          </a:p>
          <a:p>
            <a:pPr algn="l" lvl="1" marL="508000" indent="-254000">
              <a:lnSpc>
                <a:spcPct val="116000"/>
              </a:lnSpc>
              <a:spcAft>
                <a:spcPts val="900"/>
              </a:spcAft>
              <a:buSzPct val="100000"/>
              <a:buChar char="–"/>
            </a:pPr>
            <a:r>
              <a:rPr lang="en-US" sz="1650" dirty="0">
                <a:solidFill>
                  <a:srgbClr val="5B6B79"/>
                </a:solidFill>
                <a:latin typeface="Calibri" pitchFamily="34" charset="0"/>
                <a:ea typeface="Calibri" pitchFamily="34" charset="-122"/>
                <a:cs typeface="Calibri" pitchFamily="34" charset="-120"/>
              </a:rPr>
              <a:t>Trình độ nhận thức, vốn kiến thức đã có, đặc điểm văn hóa. Cần biết “HS đang ở đâu” trước khi “dẫn HS đến đâu”.</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Tiêu chí lựa chọn nội dung (2)</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950" b="1" dirty="0">
                <a:solidFill>
                  <a:srgbClr val="222B33"/>
                </a:solidFill>
                <a:latin typeface="Calibri" pitchFamily="34" charset="0"/>
                <a:ea typeface="Calibri" pitchFamily="34" charset="-122"/>
                <a:cs typeface="Calibri" pitchFamily="34" charset="-120"/>
              </a:rPr>
              <a:t>Tiêu chí 3 — Phù hợp với điều kiện thực tế</a:t>
            </a:r>
            <a:endParaRPr lang="en-US" sz="1950" dirty="0"/>
          </a:p>
          <a:p>
            <a:pPr algn="l" lvl="1" marL="508000" indent="-254000">
              <a:lnSpc>
                <a:spcPct val="116000"/>
              </a:lnSpc>
              <a:spcAft>
                <a:spcPts val="900"/>
              </a:spcAft>
              <a:buSzPct val="100000"/>
              <a:buChar char="–"/>
            </a:pPr>
            <a:r>
              <a:rPr lang="en-US" sz="1650" dirty="0">
                <a:solidFill>
                  <a:srgbClr val="5B6B79"/>
                </a:solidFill>
                <a:latin typeface="Calibri" pitchFamily="34" charset="0"/>
                <a:ea typeface="Calibri" pitchFamily="34" charset="-122"/>
                <a:cs typeface="Calibri" pitchFamily="34" charset="-120"/>
              </a:rPr>
              <a:t>Cơ sở vật chất, phần mềm sẵn có, thời gian tiết học thực tế. Bài học hoàn hảo trên giấy nhưng không thực hiện được vì thiếu máy là một bài học thất bại.</a:t>
            </a:r>
            <a:endParaRPr lang="en-US" sz="1950" dirty="0"/>
          </a:p>
          <a:p>
            <a:pPr algn="l" marL="228600" indent="-228600">
              <a:lnSpc>
                <a:spcPct val="116000"/>
              </a:lnSpc>
              <a:spcAft>
                <a:spcPts val="1400"/>
              </a:spcAft>
              <a:buSzPct val="100000"/>
              <a:buChar char="▪"/>
            </a:pPr>
            <a:r>
              <a:rPr lang="en-US" sz="1950" b="1" dirty="0">
                <a:solidFill>
                  <a:srgbClr val="222B33"/>
                </a:solidFill>
                <a:latin typeface="Calibri" pitchFamily="34" charset="0"/>
                <a:ea typeface="Calibri" pitchFamily="34" charset="-122"/>
                <a:cs typeface="Calibri" pitchFamily="34" charset="-120"/>
              </a:rPr>
              <a:t>Tiêu chí 4 — Có giá trị thực tiễn</a:t>
            </a:r>
            <a:endParaRPr lang="en-US" sz="1950" dirty="0"/>
          </a:p>
          <a:p>
            <a:pPr algn="l" lvl="1" marL="508000" indent="-254000">
              <a:lnSpc>
                <a:spcPct val="116000"/>
              </a:lnSpc>
              <a:spcAft>
                <a:spcPts val="900"/>
              </a:spcAft>
              <a:buSzPct val="100000"/>
              <a:buChar char="–"/>
            </a:pPr>
            <a:r>
              <a:rPr lang="en-US" sz="1650" dirty="0">
                <a:solidFill>
                  <a:srgbClr val="5B6B79"/>
                </a:solidFill>
                <a:latin typeface="Calibri" pitchFamily="34" charset="0"/>
                <a:ea typeface="Calibri" pitchFamily="34" charset="-122"/>
                <a:cs typeface="Calibri" pitchFamily="34" charset="-120"/>
              </a:rPr>
              <a:t>Ví dụ gắn với bối cảnh thực của HS: tính điểm TB lớp, quản lý danh sách HS... gần gũi hơn nhiều so với bài toán trừu tượng.</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Scaffolding (Giàn giáo học tập)</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300" b="1" dirty="0">
                <a:solidFill>
                  <a:srgbClr val="222B33"/>
                </a:solidFill>
                <a:latin typeface="Calibri" pitchFamily="34" charset="0"/>
                <a:ea typeface="Calibri" pitchFamily="34" charset="-122"/>
                <a:cs typeface="Calibri" pitchFamily="34" charset="-120"/>
              </a:rPr>
              <a:t>Kỹ thuật cung cấp hỗ trợ tạm thời giúp HS thực hiện nhiệm vụ vượt quá khả năng tự lập hiện tại, rồi dần rút bỏ hỗ trợ khi HS thành thạo hơn.</a:t>
            </a:r>
            <a:endParaRPr lang="en-US" sz="2300" dirty="0"/>
          </a:p>
          <a:p>
            <a:pPr algn="l" marL="228600" indent="-228600">
              <a:lnSpc>
                <a:spcPct val="116000"/>
              </a:lnSpc>
              <a:spcAft>
                <a:spcPts val="1400"/>
              </a:spcAft>
              <a:buSzPct val="100000"/>
              <a:buChar char="▪"/>
            </a:pPr>
            <a:r>
              <a:rPr lang="en-US" sz="2300" i="1" dirty="0">
                <a:solidFill>
                  <a:srgbClr val="222B33"/>
                </a:solidFill>
                <a:latin typeface="Calibri" pitchFamily="34" charset="0"/>
                <a:ea typeface="Calibri" pitchFamily="34" charset="-122"/>
                <a:cs typeface="Calibri" pitchFamily="34" charset="-120"/>
              </a:rPr>
              <a:t>Xuất phát từ lý thuyết “Vùng phát triển gần” (ZPD) của Vygotsky (1978).</a:t>
            </a:r>
            <a:endParaRPr lang="en-US" sz="23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Bốn kỹ thuật Scaffolding trong dạy Tin học</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950" dirty="0">
                <a:solidFill>
                  <a:srgbClr val="222B33"/>
                </a:solidFill>
                <a:latin typeface="Calibri" pitchFamily="34" charset="0"/>
                <a:ea typeface="Calibri" pitchFamily="34" charset="-122"/>
                <a:cs typeface="Calibri" pitchFamily="34" charset="-120"/>
              </a:rPr>
              <a:t>Code khung (code template): cung cấp đoạn code có chỗ trống, HS điền phần còn thiếu thay vì viết từ đầu.</a:t>
            </a:r>
            <a:endParaRPr lang="en-US" sz="1950" dirty="0"/>
          </a:p>
          <a:p>
            <a:pPr algn="l" marL="228600" indent="-228600">
              <a:lnSpc>
                <a:spcPct val="116000"/>
              </a:lnSpc>
              <a:spcAft>
                <a:spcPts val="1400"/>
              </a:spcAft>
              <a:buSzPct val="100000"/>
              <a:buChar char="▪"/>
            </a:pPr>
            <a:r>
              <a:rPr lang="en-US" sz="1950" dirty="0">
                <a:solidFill>
                  <a:srgbClr val="222B33"/>
                </a:solidFill>
                <a:latin typeface="Calibri" pitchFamily="34" charset="0"/>
                <a:ea typeface="Calibri" pitchFamily="34" charset="-122"/>
                <a:cs typeface="Calibri" pitchFamily="34" charset="-120"/>
              </a:rPr>
              <a:t>Gợi ý từng bước: chia bài toán lớn thành chuỗi câu hỏi nhỏ dẫn dắt.</a:t>
            </a:r>
            <a:endParaRPr lang="en-US" sz="1950" dirty="0"/>
          </a:p>
          <a:p>
            <a:pPr algn="l" marL="228600" indent="-228600">
              <a:lnSpc>
                <a:spcPct val="116000"/>
              </a:lnSpc>
              <a:spcAft>
                <a:spcPts val="1400"/>
              </a:spcAft>
              <a:buSzPct val="100000"/>
              <a:buChar char="▪"/>
            </a:pPr>
            <a:r>
              <a:rPr lang="en-US" sz="1950" dirty="0">
                <a:solidFill>
                  <a:srgbClr val="222B33"/>
                </a:solidFill>
                <a:latin typeface="Calibri" pitchFamily="34" charset="0"/>
                <a:ea typeface="Calibri" pitchFamily="34" charset="-122"/>
                <a:cs typeface="Calibri" pitchFamily="34" charset="-120"/>
              </a:rPr>
              <a:t>Ví dụ mẫu có chú thích: code mẫu có comment giải thích từng dòng, HS phân tích rồi tự làm bài tương tự.</a:t>
            </a:r>
            <a:endParaRPr lang="en-US" sz="1950" dirty="0"/>
          </a:p>
          <a:p>
            <a:pPr algn="l" marL="228600" indent="-228600">
              <a:lnSpc>
                <a:spcPct val="116000"/>
              </a:lnSpc>
              <a:spcAft>
                <a:spcPts val="1400"/>
              </a:spcAft>
              <a:buSzPct val="100000"/>
              <a:buChar char="▪"/>
            </a:pPr>
            <a:r>
              <a:rPr lang="en-US" sz="1950" dirty="0">
                <a:solidFill>
                  <a:srgbClr val="222B33"/>
                </a:solidFill>
                <a:latin typeface="Calibri" pitchFamily="34" charset="0"/>
                <a:ea typeface="Calibri" pitchFamily="34" charset="-122"/>
                <a:cs typeface="Calibri" pitchFamily="34" charset="-120"/>
              </a:rPr>
              <a:t>Flowchart trước khi code: HS vẽ lưu đồ thuật toán trước khi viết code — tách biệt tư duy logic và kỹ năng cú pháp.</a:t>
            </a:r>
            <a:endParaRPr lang="en-US" sz="19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Xử lý điều kiện thiếu thốn (1/2)</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566160"/>
                <a:gridCol w="763524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Tình huống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Giải pháp sư phạm</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2588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Thiếu máy tính (2–3 HS/máy)</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Làm việc nhóm luân phiên vai: người gõ code, người quan sát phát hiện lỗi, người ghi chép kết quả. Luân chuyển vai sau mỗi 15 phút.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2588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Không có Internet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Tài liệu offline (PDF, HTML), IDE cài sẵn (IDLE, Thonny). File dữ liệu mẫu trên USB hoặc mạng LAN nội bộ.</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2588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Phần mềm không cài được</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Dùng phiên bản online không cần cài: Google Colab, Scratch online, các IDE trực tuyến khác.</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Xử lý điều kiện thiếu thốn (2/2)</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566160"/>
                <a:gridCol w="7635240"/>
              </a:tblGrid>
              <a:tr h="566928">
                <a:tc>
                  <a:txBody>
                    <a:bodyPr/>
                    <a:lstStyle/>
                    <a:p>
                      <a:pPr algn="l" indent="0" marL="0">
                        <a:buNone/>
                      </a:pPr>
                      <a:r>
                        <a:rPr lang="en-US" sz="1750" b="1" dirty="0">
                          <a:solidFill>
                            <a:srgbClr val="FFFFFF"/>
                          </a:solidFill>
                          <a:latin typeface="Calibri" pitchFamily="34" charset="0"/>
                          <a:ea typeface="Calibri" pitchFamily="34" charset="-122"/>
                          <a:cs typeface="Calibri" pitchFamily="34" charset="-120"/>
                        </a:rPr>
                        <a:t>Tình huống</a:t>
                      </a:r>
                      <a:endParaRPr lang="en-US" sz="17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750" b="1" dirty="0">
                          <a:solidFill>
                            <a:srgbClr val="FFFFFF"/>
                          </a:solidFill>
                          <a:latin typeface="Calibri" pitchFamily="34" charset="0"/>
                          <a:ea typeface="Calibri" pitchFamily="34" charset="-122"/>
                          <a:cs typeface="Calibri" pitchFamily="34" charset="-120"/>
                        </a:rPr>
                        <a:t>Giải pháp sư phạm</a:t>
                      </a:r>
                      <a:endParaRPr lang="en-US" sz="17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Máy tính cấu hình thấp</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Ưu tiên phần mềm nhẹ (Thonny thay vì VS Code). Tránh chạy nhiều ứng dụng cùng lúc.</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Mất điện / sự cố đột xuất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600" dirty="0">
                          <a:solidFill>
                            <a:srgbClr val="222B33"/>
                          </a:solidFill>
                          <a:latin typeface="Calibri" pitchFamily="34" charset="0"/>
                          <a:ea typeface="Calibri" pitchFamily="34" charset="-122"/>
                          <a:cs typeface="Calibri" pitchFamily="34" charset="-120"/>
                        </a:rPr>
                        <a:t>Phương án dự phòng: dạy lý thuyết bằng bảng đen, thảo luận nhóm, bài tập truy vết thuật toán trên giấy (lập trình “giấy bút”).</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Mối quan hệ Chương trình và Sách giáo khoa</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286000"/>
                <a:gridCol w="4297680"/>
                <a:gridCol w="4617720"/>
              </a:tblGrid>
              <a:tr h="566928">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Tiêu chí</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Chương trình (Bộ GD&amp;ĐT)</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Sách giáo khoa</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Tính pháp lý</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Văn bản pháp quy — bắt buộc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Tài liệu tham khảo — không bắt buộc theo trang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Nội dung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Yêu cầu cần đạt (đầu ra)</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Một phương án cụ thể để đạt yêu cầu đó</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Tính linh hoạt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Ổn định trong một giai đoạn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Có thể dùng nhiều bộ sách, bổ sung tài liệu ngoài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Vai trò với GV</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Định hướng mục tiêu và đánh giá</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Nguồn ngữ liệu, hoạt động tham khảo</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5.3.4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Nguyên tắc thực hành</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500" b="1" dirty="0">
                <a:solidFill>
                  <a:srgbClr val="222B33"/>
                </a:solidFill>
                <a:latin typeface="Calibri" pitchFamily="34" charset="0"/>
                <a:ea typeface="Calibri" pitchFamily="34" charset="-122"/>
                <a:cs typeface="Calibri" pitchFamily="34" charset="-120"/>
              </a:rPr>
              <a:t>Khi thiết kế bài dạy, giáo viên bắt đầu từ YÊU CẦU CẦN ĐẠT trong chương trình...</a:t>
            </a:r>
            <a:endParaRPr lang="en-US" sz="2500" dirty="0"/>
          </a:p>
          <a:p>
            <a:pPr algn="l" marL="228600" indent="-228600">
              <a:lnSpc>
                <a:spcPct val="116000"/>
              </a:lnSpc>
              <a:spcAft>
                <a:spcPts val="1400"/>
              </a:spcAft>
              <a:buSzPct val="100000"/>
              <a:buChar char="▪"/>
            </a:pPr>
            <a:r>
              <a:rPr lang="en-US" sz="2500" b="1" dirty="0">
                <a:solidFill>
                  <a:srgbClr val="222B33"/>
                </a:solidFill>
                <a:latin typeface="Calibri" pitchFamily="34" charset="0"/>
                <a:ea typeface="Calibri" pitchFamily="34" charset="-122"/>
                <a:cs typeface="Calibri" pitchFamily="34" charset="-120"/>
              </a:rPr>
              <a:t>...rồi mới chọn nội dung từ sách giáo khoa hoặc nguồn khác để học sinh đạt được yêu cầu đó.</a:t>
            </a:r>
            <a:endParaRPr lang="en-US" sz="2500" dirty="0"/>
          </a:p>
          <a:p>
            <a:pPr algn="l" marL="228600" indent="-228600">
              <a:lnSpc>
                <a:spcPct val="116000"/>
              </a:lnSpc>
              <a:spcAft>
                <a:spcPts val="1400"/>
              </a:spcAft>
              <a:buSzPct val="100000"/>
              <a:buChar char="▪"/>
            </a:pPr>
            <a:r>
              <a:rPr lang="en-US" sz="2500" b="1" i="1" dirty="0">
                <a:solidFill>
                  <a:srgbClr val="222B33"/>
                </a:solidFill>
                <a:latin typeface="Calibri" pitchFamily="34" charset="0"/>
                <a:ea typeface="Calibri" pitchFamily="34" charset="-122"/>
                <a:cs typeface="Calibri" pitchFamily="34" charset="-120"/>
              </a:rPr>
              <a:t>KHÔNG làm ngược lại.</a:t>
            </a:r>
            <a:endParaRPr lang="en-US" sz="25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5.4</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Tích hợp liên môn và xuyên chủ đề</a:t>
            </a:r>
            <a:endParaRPr lang="en-US" sz="34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Khái niệm tích hợp</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Tích hợp liên môn</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Kết nối nội dung Tin học với kiến thức các môn học khác để cùng giải quyết một vấn đề chung.</a:t>
            </a:r>
            <a:endParaRPr lang="en-US" sz="2100" dirty="0"/>
          </a:p>
          <a:p>
            <a:pPr algn="l" marL="228600" indent="-228600">
              <a:lnSpc>
                <a:spcPct val="116000"/>
              </a:lnSpc>
              <a:spcAft>
                <a:spcPts val="1400"/>
              </a:spcAft>
              <a:buSzPct val="100000"/>
              <a:buChar char="▪"/>
            </a:pPr>
            <a:r>
              <a:rPr lang="en-US" sz="2100" b="1" dirty="0">
                <a:solidFill>
                  <a:srgbClr val="222B33"/>
                </a:solidFill>
                <a:latin typeface="Calibri" pitchFamily="34" charset="0"/>
                <a:ea typeface="Calibri" pitchFamily="34" charset="-122"/>
                <a:cs typeface="Calibri" pitchFamily="34" charset="-120"/>
              </a:rPr>
              <a:t>Tích hợp xuyên chủ đề</a:t>
            </a:r>
            <a:endParaRPr lang="en-US" sz="2100" dirty="0"/>
          </a:p>
          <a:p>
            <a:pPr algn="l" lvl="1" marL="508000" indent="-254000">
              <a:lnSpc>
                <a:spcPct val="116000"/>
              </a:lnSpc>
              <a:spcAft>
                <a:spcPts val="900"/>
              </a:spcAft>
              <a:buSzPct val="100000"/>
              <a:buChar char="–"/>
            </a:pPr>
            <a:r>
              <a:rPr lang="en-US" sz="1800" dirty="0">
                <a:solidFill>
                  <a:srgbClr val="5B6B79"/>
                </a:solidFill>
                <a:latin typeface="Calibri" pitchFamily="34" charset="0"/>
                <a:ea typeface="Calibri" pitchFamily="34" charset="-122"/>
                <a:cs typeface="Calibri" pitchFamily="34" charset="-120"/>
              </a:rPr>
              <a:t>Sử dụng các chủ đề lớn mang tính liên ngành (môi trường, sức khỏe, kinh tế số...) làm bối cảnh học tập cho nhiều bài/môn học.</a:t>
            </a:r>
            <a:endParaRPr lang="en-US" sz="21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Tin học là công cụ phổ quát — không tồn tại độc lập mà luôn được ứng dụng trong bối cảnh các lĩnh vực khác.</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Lý do dạy Tin học tích hợp</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Học sinh thấy được giá trị thực tiễn của những gì đang học.</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Tăng động lực học tập vì nội dung gắn với cuộc sống.</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Phát triển tư duy liên môn — kỹ năng thiết yếu của thế kỷ 21.</a:t>
            </a:r>
            <a:endParaRPr lang="en-US" sz="2200" dirty="0"/>
          </a:p>
          <a:p>
            <a:pPr algn="l" marL="228600" indent="-228600">
              <a:lnSpc>
                <a:spcPct val="116000"/>
              </a:lnSpc>
              <a:spcAft>
                <a:spcPts val="1400"/>
              </a:spcAft>
              <a:buSzPct val="100000"/>
              <a:buChar char="▪"/>
            </a:pPr>
            <a:r>
              <a:rPr lang="en-US" sz="2200" dirty="0">
                <a:solidFill>
                  <a:srgbClr val="222B33"/>
                </a:solidFill>
                <a:latin typeface="Calibri" pitchFamily="34" charset="0"/>
                <a:ea typeface="Calibri" pitchFamily="34" charset="-122"/>
                <a:cs typeface="Calibri" pitchFamily="34" charset="-120"/>
              </a:rPr>
              <a:t>Đạt được nhiều yêu cầu cần đạt của các môn học trong cùng một hoạt động.</a:t>
            </a:r>
            <a:endParaRPr lang="en-US" sz="22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Bốn mức độ tích hợp</a:t>
            </a:r>
            <a:endParaRPr lang="en-US" sz="3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103120"/>
                <a:gridCol w="4206240"/>
                <a:gridCol w="4892040"/>
              </a:tblGrid>
              <a:tr h="566928">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Mức độ</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Mô tả</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Ví dụ trong Tin học</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0297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Lồng ghép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Bối cảnh bài tập lấy từ môn khác, nội dung chính vẫn là Tin học</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Bài tập Python tính diện tích hình học (lồng ghép Toán)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0297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Kết nối</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Nội dung 2 môn kết nối có chủ ý, GV chỉ ra liên hệ tường minh</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Dạy Excel kết hợp bài thống kê của môn Toán</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0297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Phối hợp</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Hai GV hai môn cùng thiết kế, triển khai song song nhưng riêng biệt</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GV Tin học và Địa lý cùng dùng chủ đề “Biến đổi khí hậu”</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02970">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Tích hợp đầy đủ</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Ranh giới môn học mờ đi, HS làm dự án liên môn thực sự</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250" dirty="0">
                          <a:solidFill>
                            <a:srgbClr val="222B33"/>
                          </a:solidFill>
                          <a:latin typeface="Calibri" pitchFamily="34" charset="0"/>
                          <a:ea typeface="Calibri" pitchFamily="34" charset="-122"/>
                          <a:cs typeface="Calibri" pitchFamily="34" charset="-120"/>
                        </a:rPr>
                        <a:t>Dự án “Trạm khí tượng trường học” (Tin, Lý, Địa)</a:t>
                      </a:r>
                      <a:endParaRPr lang="en-US" sz="12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36208"/>
            <a:ext cx="11201400" cy="402336"/>
          </a:xfrm>
          <a:prstGeom prst="rect">
            <a:avLst/>
          </a:prstGeom>
          <a:noFill/>
          <a:ln/>
        </p:spPr>
        <p:txBody>
          <a:bodyPr wrap="square" rtlCol="0" anchor="ctr"/>
          <a:lstStyle/>
          <a:p>
            <a:pPr indent="0" marL="0">
              <a:buNone/>
            </a:pPr>
            <a:r>
              <a:rPr lang="en-US" sz="1350" i="1" dirty="0">
                <a:solidFill>
                  <a:srgbClr val="5B6B79"/>
                </a:solidFill>
                <a:latin typeface="Calibri" pitchFamily="34" charset="0"/>
                <a:ea typeface="Calibri" pitchFamily="34" charset="-122"/>
                <a:cs typeface="Calibri" pitchFamily="34" charset="-120"/>
              </a:rPr>
              <a:t>Gợi ý cho GV mới: bắt đầu từ mức Lồng ghép và Kết nối — dễ thực hiện, không cần phối hợp phức tạp với GV môn khác.</a:t>
            </a:r>
            <a:endParaRPr lang="en-US" sz="1350" dirty="0"/>
          </a:p>
        </p:txBody>
      </p:sp>
      <p:sp>
        <p:nvSpPr>
          <p:cNvPr id="7"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tích hợp trong môn Tin học (1/2)</a:t>
            </a:r>
            <a:endParaRPr lang="en-US" sz="3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383280"/>
                <a:gridCol w="2651760"/>
                <a:gridCol w="516636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Chủ đề tích hợp</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Môn liên quan</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Nội dung Tin học vận dụng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Thống kê điểm thi học sinh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Toán (thống kê)</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Excel: hàm AVERAGE, MAX, MIN, COUNT, biểu đồ</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Vẽ hình học trên máy tính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Toán (hình học)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Python Turtle: vẽ đa giác đều, tính chu vi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Ô nhiễm không khí tại địa phương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Địa lý, Hóa học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Thu thập dữ liệu, lập bảng, vẽ biểu đồ xu hướng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Ví dụ tích hợp trong môn Tin học (2/2)</a:t>
            </a:r>
            <a:endParaRPr lang="en-US" sz="3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3383280"/>
                <a:gridCol w="2651760"/>
                <a:gridCol w="516636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Chủ đề tích hợp</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Môn liên quan</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Nội dung Tin học vận dụng</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Viết bài luận nghị luận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Ngữ Văn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Soạn thảo văn bản, định dạng tự động, mục lục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Mô phỏng chuyển động thẳng đều</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Vật lý</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Lập trình Scratch/Python: animation, biến, vòng lặp</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Kế hoạch chi tiêu cá nhân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Giáo dục kinh tế &amp; pháp luật</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Excel: hàm IF, biểu đồ tròn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Quy trình thiết kế bài học tích hợp (1)</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850" b="1" dirty="0">
                <a:solidFill>
                  <a:srgbClr val="222B33"/>
                </a:solidFill>
                <a:latin typeface="Calibri" pitchFamily="34" charset="0"/>
                <a:ea typeface="Calibri" pitchFamily="34" charset="-122"/>
                <a:cs typeface="Calibri" pitchFamily="34" charset="-120"/>
              </a:rPr>
              <a:t>Bước 1 — Xác định yêu cầu cần đạt Tin học là trọng tâm</a:t>
            </a:r>
            <a:endParaRPr lang="en-US" sz="1850" dirty="0"/>
          </a:p>
          <a:p>
            <a:pPr algn="l" lvl="1" marL="508000" indent="-254000">
              <a:lnSpc>
                <a:spcPct val="116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Liên môn là phương tiện, không phải mục đích.</a:t>
            </a:r>
            <a:endParaRPr lang="en-US" sz="1850" dirty="0"/>
          </a:p>
          <a:p>
            <a:pPr algn="l" marL="228600" indent="-228600">
              <a:lnSpc>
                <a:spcPct val="116000"/>
              </a:lnSpc>
              <a:spcAft>
                <a:spcPts val="1400"/>
              </a:spcAft>
              <a:buSzPct val="100000"/>
              <a:buChar char="▪"/>
            </a:pPr>
            <a:r>
              <a:rPr lang="en-US" sz="1850" b="1" dirty="0">
                <a:solidFill>
                  <a:srgbClr val="222B33"/>
                </a:solidFill>
                <a:latin typeface="Calibri" pitchFamily="34" charset="0"/>
                <a:ea typeface="Calibri" pitchFamily="34" charset="-122"/>
                <a:cs typeface="Calibri" pitchFamily="34" charset="-120"/>
              </a:rPr>
              <a:t>Bước 2 — Tìm bối cảnh/kiến thức liên môn phù hợp</a:t>
            </a:r>
            <a:endParaRPr lang="en-US" sz="1850" dirty="0"/>
          </a:p>
          <a:p>
            <a:pPr algn="l" lvl="1" marL="508000" indent="-254000">
              <a:lnSpc>
                <a:spcPct val="116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Câu hỏi then chốt: “Nội dung Tin học này ứng dụng trong lĩnh vực nào?”</a:t>
            </a:r>
            <a:endParaRPr lang="en-US" sz="1850" dirty="0"/>
          </a:p>
          <a:p>
            <a:pPr algn="l" marL="228600" indent="-228600">
              <a:lnSpc>
                <a:spcPct val="116000"/>
              </a:lnSpc>
              <a:spcAft>
                <a:spcPts val="1400"/>
              </a:spcAft>
              <a:buSzPct val="100000"/>
              <a:buChar char="▪"/>
            </a:pPr>
            <a:r>
              <a:rPr lang="en-US" sz="1850" b="1" dirty="0">
                <a:solidFill>
                  <a:srgbClr val="222B33"/>
                </a:solidFill>
                <a:latin typeface="Calibri" pitchFamily="34" charset="0"/>
                <a:ea typeface="Calibri" pitchFamily="34" charset="-122"/>
                <a:cs typeface="Calibri" pitchFamily="34" charset="-120"/>
              </a:rPr>
              <a:t>Bước 3 — Thiết kế nhiệm vụ khai thác cả hai chiều</a:t>
            </a:r>
            <a:endParaRPr lang="en-US" sz="1850" dirty="0"/>
          </a:p>
          <a:p>
            <a:pPr algn="l" lvl="1" marL="508000" indent="-254000">
              <a:lnSpc>
                <a:spcPct val="116000"/>
              </a:lnSpc>
              <a:spcAft>
                <a:spcPts val="900"/>
              </a:spcAft>
              <a:buSzPct val="100000"/>
              <a:buChar char="–"/>
            </a:pPr>
            <a:r>
              <a:rPr lang="en-US" sz="1550" dirty="0">
                <a:solidFill>
                  <a:srgbClr val="5B6B79"/>
                </a:solidFill>
                <a:latin typeface="Calibri" pitchFamily="34" charset="0"/>
                <a:ea typeface="Calibri" pitchFamily="34" charset="-122"/>
                <a:cs typeface="Calibri" pitchFamily="34" charset="-120"/>
              </a:rPr>
              <a:t>Đòi hỏi vận dụng cả kiến thức liên môn lẫn kỹ năng Tin học.</a:t>
            </a:r>
            <a:endParaRPr lang="en-US" sz="18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5.4.4</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Quy trình thiết kế bài học tích hợp (2)</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000" b="1" dirty="0">
                <a:solidFill>
                  <a:srgbClr val="222B33"/>
                </a:solidFill>
                <a:latin typeface="Calibri" pitchFamily="34" charset="0"/>
                <a:ea typeface="Calibri" pitchFamily="34" charset="-122"/>
                <a:cs typeface="Calibri" pitchFamily="34" charset="-120"/>
              </a:rPr>
              <a:t>Bước 4 — Xác định sản phẩm đầu ra thể hiện cả hai chiều</a:t>
            </a:r>
            <a:endParaRPr lang="en-US" sz="2000" dirty="0"/>
          </a:p>
          <a:p>
            <a:pPr algn="l" lvl="1" marL="508000" indent="-254000">
              <a:lnSpc>
                <a:spcPct val="116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Chứng minh năng lực Tin học (chương trình chạy đúng...) đồng thời có ý nghĩa liên môn (số liệu phân tích có ý nghĩa...).</a:t>
            </a:r>
            <a:endParaRPr lang="en-US" sz="2000" dirty="0"/>
          </a:p>
          <a:p>
            <a:pPr algn="l" marL="228600" indent="-228600">
              <a:lnSpc>
                <a:spcPct val="116000"/>
              </a:lnSpc>
              <a:spcAft>
                <a:spcPts val="1400"/>
              </a:spcAft>
              <a:buSzPct val="100000"/>
              <a:buChar char="▪"/>
            </a:pPr>
            <a:r>
              <a:rPr lang="en-US" sz="2000" b="1" dirty="0">
                <a:solidFill>
                  <a:srgbClr val="222B33"/>
                </a:solidFill>
                <a:latin typeface="Calibri" pitchFamily="34" charset="0"/>
                <a:ea typeface="Calibri" pitchFamily="34" charset="-122"/>
                <a:cs typeface="Calibri" pitchFamily="34" charset="-120"/>
              </a:rPr>
              <a:t>Bước 5 — Dự kiến phối hợp với GV môn liên quan (nếu cần)</a:t>
            </a:r>
            <a:endParaRPr lang="en-US" sz="2000" dirty="0"/>
          </a:p>
          <a:p>
            <a:pPr algn="l" lvl="1" marL="508000" indent="-254000">
              <a:lnSpc>
                <a:spcPct val="116000"/>
              </a:lnSpc>
              <a:spcAft>
                <a:spcPts val="900"/>
              </a:spcAft>
              <a:buSzPct val="100000"/>
              <a:buChar char="–"/>
            </a:pPr>
            <a:r>
              <a:rPr lang="en-US" sz="1700" dirty="0">
                <a:solidFill>
                  <a:srgbClr val="5B6B79"/>
                </a:solidFill>
                <a:latin typeface="Calibri" pitchFamily="34" charset="0"/>
                <a:ea typeface="Calibri" pitchFamily="34" charset="-122"/>
                <a:cs typeface="Calibri" pitchFamily="34" charset="-120"/>
              </a:rPr>
              <a:t>Ít nhất nên thông báo để tránh trùng lặp/mâu thuẫn nội dung. Lý tưởng: hai GV cùng thiết kế và cùng đánh giá.</a:t>
            </a:r>
            <a:endParaRPr lang="en-US" sz="20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5.5</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Xây dựng chuỗi hoạt động học tập logic</a:t>
            </a:r>
            <a:endParaRPr lang="en-US" sz="34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5.5.1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Ba nguyên tắc thiết kế chuỗi hoạt động</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750" b="1" dirty="0">
                <a:solidFill>
                  <a:srgbClr val="222B33"/>
                </a:solidFill>
                <a:latin typeface="Calibri" pitchFamily="34" charset="0"/>
                <a:ea typeface="Calibri" pitchFamily="34" charset="-122"/>
                <a:cs typeface="Calibri" pitchFamily="34" charset="-120"/>
              </a:rPr>
              <a:t>Tính liên kết</a:t>
            </a:r>
            <a:endParaRPr lang="en-US" sz="1750" dirty="0"/>
          </a:p>
          <a:p>
            <a:pPr algn="l" lvl="1" marL="508000" indent="-254000">
              <a:lnSpc>
                <a:spcPct val="116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Mỗi hoạt động sau kế thừa kết quả hoạt động trước. Không được có “đứt gãy” giữa các hoạt động.</a:t>
            </a:r>
            <a:endParaRPr lang="en-US" sz="1750" dirty="0"/>
          </a:p>
          <a:p>
            <a:pPr algn="l" marL="228600" indent="-228600">
              <a:lnSpc>
                <a:spcPct val="116000"/>
              </a:lnSpc>
              <a:spcAft>
                <a:spcPts val="1400"/>
              </a:spcAft>
              <a:buSzPct val="100000"/>
              <a:buChar char="▪"/>
            </a:pPr>
            <a:r>
              <a:rPr lang="en-US" sz="1750" b="1" dirty="0">
                <a:solidFill>
                  <a:srgbClr val="222B33"/>
                </a:solidFill>
                <a:latin typeface="Calibri" pitchFamily="34" charset="0"/>
                <a:ea typeface="Calibri" pitchFamily="34" charset="-122"/>
                <a:cs typeface="Calibri" pitchFamily="34" charset="-120"/>
              </a:rPr>
              <a:t>Tính tăng tiến</a:t>
            </a:r>
            <a:endParaRPr lang="en-US" sz="1750" dirty="0"/>
          </a:p>
          <a:p>
            <a:pPr algn="l" lvl="1" marL="508000" indent="-254000">
              <a:lnSpc>
                <a:spcPct val="116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Độ khó và mức tự chủ của HS tăng dần. Đầu bài hỗ trợ nhiều (scaffolding cao); cuối bài HS tự lực nhiều hơn.</a:t>
            </a:r>
            <a:endParaRPr lang="en-US" sz="1750" dirty="0"/>
          </a:p>
          <a:p>
            <a:pPr algn="l" marL="228600" indent="-228600">
              <a:lnSpc>
                <a:spcPct val="116000"/>
              </a:lnSpc>
              <a:spcAft>
                <a:spcPts val="1400"/>
              </a:spcAft>
              <a:buSzPct val="100000"/>
              <a:buChar char="▪"/>
            </a:pPr>
            <a:r>
              <a:rPr lang="en-US" sz="1750" b="1" dirty="0">
                <a:solidFill>
                  <a:srgbClr val="222B33"/>
                </a:solidFill>
                <a:latin typeface="Calibri" pitchFamily="34" charset="0"/>
                <a:ea typeface="Calibri" pitchFamily="34" charset="-122"/>
                <a:cs typeface="Calibri" pitchFamily="34" charset="-120"/>
              </a:rPr>
              <a:t>Tính mở</a:t>
            </a:r>
            <a:endParaRPr lang="en-US" sz="1750" dirty="0"/>
          </a:p>
          <a:p>
            <a:pPr algn="l" lvl="1" marL="508000" indent="-254000">
              <a:lnSpc>
                <a:spcPct val="116000"/>
              </a:lnSpc>
              <a:spcAft>
                <a:spcPts val="900"/>
              </a:spcAft>
              <a:buSzPct val="100000"/>
              <a:buChar char="–"/>
            </a:pPr>
            <a:r>
              <a:rPr lang="en-US" sz="1450" dirty="0">
                <a:solidFill>
                  <a:srgbClr val="5B6B79"/>
                </a:solidFill>
                <a:latin typeface="Calibri" pitchFamily="34" charset="0"/>
                <a:ea typeface="Calibri" pitchFamily="34" charset="-122"/>
                <a:cs typeface="Calibri" pitchFamily="34" charset="-120"/>
              </a:rPr>
              <a:t>Vận dụng cuối bài không đóng lại vấn đề mà mở ra câu hỏi mới, kết nối cuộc sống, chuẩn bị cho bài tiếp theo.</a:t>
            </a:r>
            <a:endParaRPr lang="en-US" sz="175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5.5.2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Phân bổ thời gian và lỗi thường gặp</a:t>
            </a:r>
            <a:endParaRPr lang="en-US" sz="3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834640"/>
                <a:gridCol w="2286000"/>
                <a:gridCol w="6080760"/>
              </a:tblGrid>
              <a:tr h="566928">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Hoạt động</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Thời gian gợi ý</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Lỗi thường gặp</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Mở đầu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5–8 phút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Kéo dài quá (trò chơi, video mất nhiều thời gian) hoặc bỏ qua hoàn toàn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Hình thành kiến thức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15–20 phút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Giảng quá dài (30–35 phút), không còn thời gian thực hành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Luyện tập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10–15 phút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Giao quá nhiều bài, HS làm không kịp, mất hứng thú</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9441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Vận dụng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5–8 phút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Không có, hoặc chỉ “dặn dò” qua loa trong 1 phút cuối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5.5.2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Nguyên tắc “50% thực hành”</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300" b="1" dirty="0">
                <a:solidFill>
                  <a:srgbClr val="222B33"/>
                </a:solidFill>
                <a:latin typeface="Calibri" pitchFamily="34" charset="0"/>
                <a:ea typeface="Calibri" pitchFamily="34" charset="-122"/>
                <a:cs typeface="Calibri" pitchFamily="34" charset="-120"/>
              </a:rPr>
              <a:t>Với môn Tin học, tổng thời gian HS được thao tác trực tiếp (viết code, dùng phần mềm, thực hiện nhiệm vụ trên máy) KHÔNG được dưới 50% tổng thời gian bài học.</a:t>
            </a:r>
            <a:endParaRPr lang="en-US" sz="2300" dirty="0"/>
          </a:p>
          <a:p>
            <a:pPr algn="l" marL="228600" indent="-228600">
              <a:lnSpc>
                <a:spcPct val="116000"/>
              </a:lnSpc>
              <a:spcAft>
                <a:spcPts val="1400"/>
              </a:spcAft>
              <a:buSzPct val="100000"/>
              <a:buChar char="▪"/>
            </a:pPr>
            <a:r>
              <a:rPr lang="en-US" sz="2300" i="1" dirty="0">
                <a:solidFill>
                  <a:srgbClr val="222B33"/>
                </a:solidFill>
                <a:latin typeface="Calibri" pitchFamily="34" charset="0"/>
                <a:ea typeface="Calibri" pitchFamily="34" charset="-122"/>
                <a:cs typeface="Calibri" pitchFamily="34" charset="-120"/>
              </a:rPr>
              <a:t>Nếu một tiết Tin học HS ngồi nhìn GV demo và giảng giải hơn 20 phút, đó là dấu hiệu bài học cần được thiết kế lại.</a:t>
            </a:r>
            <a:endParaRPr lang="en-US" sz="23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5.5.3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Các loại câu hỏi trong dạy học (1/2)</a:t>
            </a:r>
            <a:endParaRPr lang="en-US" sz="3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377440"/>
                <a:gridCol w="5120640"/>
                <a:gridCol w="370332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Loại câu hỏi</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Ví dụ (dạy Python)</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Mục đích</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Tái hiện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“Cú pháp của vòng lặp for là gì?”</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Kiểm tra ghi nhớ</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Phân tích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“Tại sao đoạn code này in ra 5 thay vì 6?”</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Rèn tư duy logic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25880">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So sánh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“Khi nào dùng for, khi nào dùng while?”</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Phân biệt khái niệm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5.5.3</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Các loại câu hỏi trong dạy học (2/2)</a:t>
            </a:r>
            <a:endParaRPr lang="en-US" sz="3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2377440"/>
                <a:gridCol w="5120640"/>
                <a:gridCol w="3703320"/>
              </a:tblGrid>
              <a:tr h="566928">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Loại câu hỏi</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Ví dụ (dạy Python)</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50" b="1" dirty="0">
                          <a:solidFill>
                            <a:srgbClr val="FFFFFF"/>
                          </a:solidFill>
                          <a:latin typeface="Calibri" pitchFamily="34" charset="0"/>
                          <a:ea typeface="Calibri" pitchFamily="34" charset="-122"/>
                          <a:cs typeface="Calibri" pitchFamily="34" charset="-120"/>
                        </a:rPr>
                        <a:t>Mục đích</a:t>
                      </a:r>
                      <a:endParaRPr lang="en-US" sz="16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32588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Dự đoán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“Nếu thay range(5) bằng range(1,10,2), kết quả sẽ thế nào?”</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Phát triển tư duy</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32588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Thiết kế</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“Em sẽ viết chương trình như thế nào để giải bài toán này?”</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Phát triển sáng tạo</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32588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Phản hồi</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“Code của em đúng — nhưng có cách nào ngắn hơn không?”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Tư duy cải tiến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40280"/>
            <a:ext cx="3017520" cy="1645920"/>
          </a:xfrm>
          <a:prstGeom prst="rect">
            <a:avLst/>
          </a:prstGeom>
          <a:noFill/>
          <a:ln/>
        </p:spPr>
        <p:txBody>
          <a:bodyPr wrap="square" rtlCol="0" anchor="ctr"/>
          <a:lstStyle/>
          <a:p>
            <a:pPr algn="l" indent="0" marL="0">
              <a:buNone/>
            </a:pPr>
            <a:r>
              <a:rPr lang="en-US" sz="10400" b="1" dirty="0">
                <a:solidFill>
                  <a:srgbClr val="C1571A"/>
                </a:solidFill>
                <a:latin typeface="Calibri" pitchFamily="34" charset="0"/>
                <a:ea typeface="Calibri" pitchFamily="34" charset="-122"/>
                <a:cs typeface="Calibri" pitchFamily="34" charset="-120"/>
              </a:rPr>
              <a:t>5.6</a:t>
            </a:r>
            <a:endParaRPr lang="en-US" sz="10400" dirty="0"/>
          </a:p>
        </p:txBody>
      </p:sp>
      <p:sp>
        <p:nvSpPr>
          <p:cNvPr id="3" name="Text 1"/>
          <p:cNvSpPr/>
          <p:nvPr/>
        </p:nvSpPr>
        <p:spPr>
          <a:xfrm>
            <a:off x="3840480" y="2286000"/>
            <a:ext cx="7863840" cy="155448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Đánh giá chất lượng kế hoạch bài dạy</a:t>
            </a:r>
            <a:endParaRPr lang="en-US" sz="3400" dirty="0"/>
          </a:p>
        </p:txBody>
      </p:sp>
      <p:sp>
        <p:nvSpPr>
          <p:cNvPr id="4" name="Text 2"/>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5" name="Text 3"/>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Rubric đánh giá kế hoạch bài dạy (1/3)</a:t>
            </a:r>
            <a:endParaRPr lang="en-US" sz="32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1828800"/>
                <a:gridCol w="3246120"/>
                <a:gridCol w="3063240"/>
                <a:gridCol w="3063240"/>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Tiêu chí</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1 — Chưa đạt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2 — Đạt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3 — Tốt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Mục tiêu</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Dùng động từ không đo được (“hiểu”, “biết”)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Dùng động từ hành động nhưng thiếu tiêu chí</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Đủ 3 chiều năng lực, có thể đo/quan sát được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Chuỗi hoạt động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Thiếu 1–2 hoạt động, trình tự không logic</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Đủ 4 hoạt động, có liên kết cơ bản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Liên kết chặt chẽ, tăng tiến rõ, có scaffolding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Rubric đánh giá kế hoạch bài dạy (2/3)</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1828800"/>
                <a:gridCol w="3246120"/>
                <a:gridCol w="3063240"/>
                <a:gridCol w="3063240"/>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Tiêu chí</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1 — Chưa đạt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2 — Đạt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3 — Tốt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98882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Phân bổ thời gian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hành &lt; 30% hoặc Mở đầu &gt; 15 phút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hành khoảng 40–50%, tương đối hợp lý</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Thực hành ≥ 50%, phân bổ hài hòa, có dự phòng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98882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Câu hỏi và nhiệm vụ</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Chủ yếu câu hỏi tái hiện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Có câu hỏi phân tích, so sánh</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Đa dạng, phân hóa, có câu hỏi mở cho HS giỏi</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5.6.1</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Rubric đánh giá kế hoạch bài dạy (3/3)</a:t>
            </a:r>
            <a:endParaRPr lang="en-US" sz="3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201400" cy="914400"/>
        </p:xfrm>
        <a:graphic>
          <a:graphicData uri="http://schemas.openxmlformats.org/drawingml/2006/table">
            <a:tbl>
              <a:tblPr/>
              <a:tblGrid>
                <a:gridCol w="1828800"/>
                <a:gridCol w="3246120"/>
                <a:gridCol w="3063240"/>
                <a:gridCol w="3063240"/>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Tiêu chí</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1 — Chưa đạt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2 — Đạt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Mức 3 — Tốt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80594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Tính thực tiễn</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Tình huống thiếu thực tế, xa rời trải nghiệm HS</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Ví dụ có tính thực tế nhất định</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Bối cảnh thực tế, có ý nghĩa với học sinh</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805940">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Thiết bị và học liệu</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Không đề cập hoặc không khả thi</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Liệt kê thiết bị nhưng thiếu chi tiết</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150" dirty="0">
                          <a:solidFill>
                            <a:srgbClr val="222B33"/>
                          </a:solidFill>
                          <a:latin typeface="Calibri" pitchFamily="34" charset="0"/>
                          <a:ea typeface="Calibri" pitchFamily="34" charset="-122"/>
                          <a:cs typeface="Calibri" pitchFamily="34" charset="-120"/>
                        </a:rPr>
                        <a:t>Cụ thể, có phương án dự phòng</a:t>
                      </a:r>
                      <a:endParaRPr lang="en-US" sz="11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36208"/>
            <a:ext cx="11201400" cy="402336"/>
          </a:xfrm>
          <a:prstGeom prst="rect">
            <a:avLst/>
          </a:prstGeom>
          <a:noFill/>
          <a:ln/>
        </p:spPr>
        <p:txBody>
          <a:bodyPr wrap="square" rtlCol="0" anchor="ctr"/>
          <a:lstStyle/>
          <a:p>
            <a:pPr indent="0" marL="0">
              <a:buNone/>
            </a:pPr>
            <a:r>
              <a:rPr lang="en-US" sz="1350" i="1" dirty="0">
                <a:solidFill>
                  <a:srgbClr val="5B6B79"/>
                </a:solidFill>
                <a:latin typeface="Calibri" pitchFamily="34" charset="0"/>
                <a:ea typeface="Calibri" pitchFamily="34" charset="-122"/>
                <a:cs typeface="Calibri" pitchFamily="34" charset="-120"/>
              </a:rPr>
              <a:t>Một KHBD tốt không phải kế hoạch dài nhất hay đẹp nhất, mà là kế hoạch thể hiện rõ nhất tư duy sư phạm của giáo viên.</a:t>
            </a:r>
            <a:endParaRPr lang="en-US" sz="1350" dirty="0"/>
          </a:p>
        </p:txBody>
      </p:sp>
      <p:sp>
        <p:nvSpPr>
          <p:cNvPr id="7"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5.6.2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Nguyên tắc phản hồi đồng nghiệp hiệu quả</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1900" b="1" dirty="0">
                <a:solidFill>
                  <a:srgbClr val="222B33"/>
                </a:solidFill>
                <a:latin typeface="Calibri" pitchFamily="34" charset="0"/>
                <a:ea typeface="Calibri" pitchFamily="34" charset="-122"/>
                <a:cs typeface="Calibri" pitchFamily="34" charset="-120"/>
              </a:rPr>
              <a:t>Dựa trên bằng chứng cụ thể</a:t>
            </a:r>
            <a:endParaRPr lang="en-US" sz="1900" dirty="0"/>
          </a:p>
          <a:p>
            <a:pPr algn="l" lvl="1" marL="508000" indent="-254000">
              <a:lnSpc>
                <a:spcPct val="116000"/>
              </a:lnSpc>
              <a:spcAft>
                <a:spcPts val="900"/>
              </a:spcAft>
              <a:buSzPct val="100000"/>
              <a:buChar char="–"/>
            </a:pPr>
            <a:r>
              <a:rPr lang="en-US" sz="1600" dirty="0">
                <a:solidFill>
                  <a:srgbClr val="5B6B79"/>
                </a:solidFill>
                <a:latin typeface="Calibri" pitchFamily="34" charset="0"/>
                <a:ea typeface="Calibri" pitchFamily="34" charset="-122"/>
                <a:cs typeface="Calibri" pitchFamily="34" charset="-120"/>
              </a:rPr>
              <a:t>Không nhận xét chung chung (“giáo án tốt”). Ví dụ cụ thể: “Hoạt động Mở đầu ở trang 2 chưa tạo được tình huống có vấn đề vì câu hỏi đã có câu trả lời ngay trong đề bài.”</a:t>
            </a:r>
            <a:endParaRPr lang="en-US" sz="1900" dirty="0"/>
          </a:p>
          <a:p>
            <a:pPr algn="l" marL="228600" indent="-228600">
              <a:lnSpc>
                <a:spcPct val="116000"/>
              </a:lnSpc>
              <a:spcAft>
                <a:spcPts val="1400"/>
              </a:spcAft>
              <a:buSzPct val="100000"/>
              <a:buChar char="▪"/>
            </a:pPr>
            <a:r>
              <a:rPr lang="en-US" sz="1900" b="1" dirty="0">
                <a:solidFill>
                  <a:srgbClr val="222B33"/>
                </a:solidFill>
                <a:latin typeface="Calibri" pitchFamily="34" charset="0"/>
                <a:ea typeface="Calibri" pitchFamily="34" charset="-122"/>
                <a:cs typeface="Calibri" pitchFamily="34" charset="-120"/>
              </a:rPr>
              <a:t>Cân bằng tích cực và xây dựng</a:t>
            </a:r>
            <a:endParaRPr lang="en-US" sz="1900" dirty="0"/>
          </a:p>
          <a:p>
            <a:pPr algn="l" lvl="1" marL="508000" indent="-254000">
              <a:lnSpc>
                <a:spcPct val="116000"/>
              </a:lnSpc>
              <a:spcAft>
                <a:spcPts val="900"/>
              </a:spcAft>
              <a:buSzPct val="100000"/>
              <a:buChar char="–"/>
            </a:pPr>
            <a:r>
              <a:rPr lang="en-US" sz="1600" dirty="0">
                <a:solidFill>
                  <a:srgbClr val="5B6B79"/>
                </a:solidFill>
                <a:latin typeface="Calibri" pitchFamily="34" charset="0"/>
                <a:ea typeface="Calibri" pitchFamily="34" charset="-122"/>
                <a:cs typeface="Calibri" pitchFamily="34" charset="-120"/>
              </a:rPr>
              <a:t>Mỗi phản hồi nên có ít nhất một điểm mạnh cụ thể và một gợi ý cải thiện kèm lý giải.</a:t>
            </a:r>
            <a:endParaRPr lang="en-US" sz="1900" dirty="0"/>
          </a:p>
        </p:txBody>
      </p:sp>
      <p:sp>
        <p:nvSpPr>
          <p:cNvPr id="6" name="Text 4"/>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7" name="Text 5"/>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600200" cy="402336"/>
          </a:xfrm>
          <a:prstGeom prst="rect">
            <a:avLst/>
          </a:prstGeom>
          <a:solidFill>
            <a:srgbClr val="C1571A"/>
          </a:solidFill>
          <a:ln/>
        </p:spPr>
      </p:sp>
      <p:sp>
        <p:nvSpPr>
          <p:cNvPr id="3" name="Text 1"/>
          <p:cNvSpPr/>
          <p:nvPr/>
        </p:nvSpPr>
        <p:spPr>
          <a:xfrm>
            <a:off x="502920" y="365760"/>
            <a:ext cx="1600200" cy="402336"/>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5.6.2</a:t>
            </a:r>
            <a:endParaRPr lang="en-US" sz="1450" dirty="0"/>
          </a:p>
        </p:txBody>
      </p:sp>
      <p:sp>
        <p:nvSpPr>
          <p:cNvPr id="4" name="Text 2"/>
          <p:cNvSpPr/>
          <p:nvPr/>
        </p:nvSpPr>
        <p:spPr>
          <a:xfrm>
            <a:off x="502920" y="896112"/>
            <a:ext cx="11201400" cy="1143000"/>
          </a:xfrm>
          <a:prstGeom prst="rect">
            <a:avLst/>
          </a:prstGeom>
          <a:noFill/>
          <a:ln/>
        </p:spPr>
        <p:txBody>
          <a:bodyPr wrap="square" rtlCol="0" anchor="t"/>
          <a:lstStyle/>
          <a:p>
            <a:pPr algn="l" indent="0" marL="0">
              <a:buNone/>
            </a:pPr>
            <a:r>
              <a:rPr lang="en-US" sz="3200" b="1" dirty="0">
                <a:solidFill>
                  <a:srgbClr val="1B3A5C"/>
                </a:solidFill>
                <a:latin typeface="Calibri" pitchFamily="34" charset="0"/>
                <a:ea typeface="Calibri" pitchFamily="34" charset="-122"/>
                <a:cs typeface="Calibri" pitchFamily="34" charset="-120"/>
              </a:rPr>
              <a:t>Đề xuất thay vì phán xét</a:t>
            </a:r>
            <a:endParaRPr lang="en-US" sz="3200" dirty="0"/>
          </a:p>
        </p:txBody>
      </p:sp>
      <p:sp>
        <p:nvSpPr>
          <p:cNvPr id="5" name="Text 3"/>
          <p:cNvSpPr/>
          <p:nvPr/>
        </p:nvSpPr>
        <p:spPr>
          <a:xfrm>
            <a:off x="502920" y="1965960"/>
            <a:ext cx="11201400" cy="4343400"/>
          </a:xfrm>
          <a:prstGeom prst="rect">
            <a:avLst/>
          </a:prstGeom>
          <a:noFill/>
          <a:ln/>
        </p:spPr>
        <p:txBody>
          <a:bodyPr wrap="square" rtlCol="0" anchor="t"/>
          <a:lstStyle/>
          <a:p>
            <a:pPr algn="l" marL="228600" indent="-228600">
              <a:lnSpc>
                <a:spcPct val="116000"/>
              </a:lnSpc>
              <a:spcAft>
                <a:spcPts val="1400"/>
              </a:spcAft>
              <a:buSzPct val="100000"/>
              <a:buChar char="▪"/>
            </a:pPr>
            <a:r>
              <a:rPr lang="en-US" sz="2400" i="1" dirty="0">
                <a:solidFill>
                  <a:srgbClr val="222B33"/>
                </a:solidFill>
                <a:latin typeface="Calibri" pitchFamily="34" charset="0"/>
                <a:ea typeface="Calibri" pitchFamily="34" charset="-122"/>
                <a:cs typeface="Calibri" pitchFamily="34" charset="-120"/>
              </a:rPr>
              <a:t>KHÔNG viết: “Mục tiêu sai”.</a:t>
            </a:r>
            <a:endParaRPr lang="en-US" sz="2400" dirty="0"/>
          </a:p>
          <a:p>
            <a:pPr algn="l" marL="228600" indent="-228600">
              <a:lnSpc>
                <a:spcPct val="116000"/>
              </a:lnSpc>
              <a:spcAft>
                <a:spcPts val="1400"/>
              </a:spcAft>
              <a:buSzPct val="100000"/>
              <a:buChar char="▪"/>
            </a:pPr>
            <a:r>
              <a:rPr lang="en-US" sz="2400" b="1" dirty="0">
                <a:solidFill>
                  <a:srgbClr val="222B33"/>
                </a:solidFill>
                <a:latin typeface="Calibri" pitchFamily="34" charset="0"/>
                <a:ea typeface="Calibri" pitchFamily="34" charset="-122"/>
                <a:cs typeface="Calibri" pitchFamily="34" charset="-120"/>
              </a:rPr>
              <a:t>NÊN viết: “Mục tiêu có thể cụ thể hơn bằng cách thêm tiêu chí đánh giá, ví dụ: ‘... với code chạy đúng không có lỗi cú pháp’.”</a:t>
            </a:r>
            <a:endParaRPr lang="en-US" sz="2400" dirty="0"/>
          </a:p>
        </p:txBody>
      </p:sp>
      <p:sp>
        <p:nvSpPr>
          <p:cNvPr id="6" name="Text 4"/>
          <p:cNvSpPr/>
          <p:nvPr/>
        </p:nvSpPr>
        <p:spPr>
          <a:xfrm>
            <a:off x="502920" y="5897880"/>
            <a:ext cx="11201400" cy="502920"/>
          </a:xfrm>
          <a:prstGeom prst="rect">
            <a:avLst/>
          </a:prstGeom>
          <a:noFill/>
          <a:ln/>
        </p:spPr>
        <p:txBody>
          <a:bodyPr wrap="square" rtlCol="0" anchor="ctr"/>
          <a:lstStyle/>
          <a:p>
            <a:pPr indent="0" marL="0">
              <a:buNone/>
            </a:pPr>
            <a:r>
              <a:rPr lang="en-US" sz="1500" b="1" i="1" dirty="0">
                <a:solidFill>
                  <a:srgbClr val="C1571A"/>
                </a:solidFill>
                <a:latin typeface="Calibri" pitchFamily="34" charset="0"/>
                <a:ea typeface="Calibri" pitchFamily="34" charset="-122"/>
                <a:cs typeface="Calibri" pitchFamily="34" charset="-120"/>
              </a:rPr>
              <a:t>Biết đọc và góp ý giáo án của đồng nghiệp một cách xây dựng là kỹ năng quan trọng của giáo viên chuyên nghiệp.</a:t>
            </a:r>
            <a:endParaRPr lang="en-US" sz="1500" dirty="0"/>
          </a:p>
        </p:txBody>
      </p:sp>
      <p:sp>
        <p:nvSpPr>
          <p:cNvPr id="7" name="Text 5"/>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Chương 5 · Thiết kế kế hoạch dạy học môn Tin học</a:t>
            </a:r>
            <a:endParaRPr lang="en-US" sz="1000" dirty="0"/>
          </a:p>
        </p:txBody>
      </p:sp>
      <p:sp>
        <p:nvSpPr>
          <p:cNvPr id="8" name="Text 6"/>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457200"/>
            <a:ext cx="7315200" cy="457200"/>
          </a:xfrm>
          <a:prstGeom prst="rect">
            <a:avLst/>
          </a:prstGeom>
          <a:noFill/>
          <a:ln/>
        </p:spPr>
        <p:txBody>
          <a:bodyPr wrap="square" rtlCol="0" anchor="ctr"/>
          <a:lstStyle/>
          <a:p>
            <a:pPr indent="0" marL="0">
              <a:buNone/>
            </a:pPr>
            <a:r>
              <a:rPr lang="en-US" sz="1700" b="1" spc="200" kern="0" dirty="0">
                <a:solidFill>
                  <a:srgbClr val="C1571A"/>
                </a:solidFill>
                <a:latin typeface="Calibri" pitchFamily="34" charset="0"/>
                <a:ea typeface="Calibri" pitchFamily="34" charset="-122"/>
                <a:cs typeface="Calibri" pitchFamily="34" charset="-120"/>
              </a:rPr>
              <a:t>TỔNG KẾT CHƯƠNG</a:t>
            </a:r>
            <a:endParaRPr lang="en-US" sz="1700" dirty="0"/>
          </a:p>
        </p:txBody>
      </p:sp>
      <p:sp>
        <p:nvSpPr>
          <p:cNvPr id="3" name="Text 1"/>
          <p:cNvSpPr/>
          <p:nvPr/>
        </p:nvSpPr>
        <p:spPr>
          <a:xfrm>
            <a:off x="822960" y="896112"/>
            <a:ext cx="96012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Những điểm cốt lõi cần ghi nhớ</a:t>
            </a:r>
            <a:endParaRPr lang="en-US" sz="2800" dirty="0"/>
          </a:p>
        </p:txBody>
      </p:sp>
      <p:sp>
        <p:nvSpPr>
          <p:cNvPr id="4" name="Shape 2"/>
          <p:cNvSpPr/>
          <p:nvPr/>
        </p:nvSpPr>
        <p:spPr>
          <a:xfrm>
            <a:off x="822960" y="1737360"/>
            <a:ext cx="329184" cy="329184"/>
          </a:xfrm>
          <a:prstGeom prst="rect">
            <a:avLst/>
          </a:prstGeom>
          <a:solidFill>
            <a:srgbClr val="C1571A"/>
          </a:solidFill>
          <a:ln/>
        </p:spPr>
      </p:sp>
      <p:sp>
        <p:nvSpPr>
          <p:cNvPr id="5" name="Text 3"/>
          <p:cNvSpPr/>
          <p:nvPr/>
        </p:nvSpPr>
        <p:spPr>
          <a:xfrm>
            <a:off x="822960" y="17373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417320" y="16276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Kế hoạch dạy học năm học là công cụ tư duy tổng thể, không phải bảng phân công bài dạy theo tuần.</a:t>
            </a:r>
            <a:endParaRPr lang="en-US" sz="1450" dirty="0"/>
          </a:p>
        </p:txBody>
      </p:sp>
      <p:sp>
        <p:nvSpPr>
          <p:cNvPr id="7" name="Shape 5"/>
          <p:cNvSpPr/>
          <p:nvPr/>
        </p:nvSpPr>
        <p:spPr>
          <a:xfrm>
            <a:off x="822960" y="2423160"/>
            <a:ext cx="329184" cy="329184"/>
          </a:xfrm>
          <a:prstGeom prst="rect">
            <a:avLst/>
          </a:prstGeom>
          <a:solidFill>
            <a:srgbClr val="C1571A"/>
          </a:solidFill>
          <a:ln/>
        </p:spPr>
      </p:sp>
      <p:sp>
        <p:nvSpPr>
          <p:cNvPr id="8" name="Text 6"/>
          <p:cNvSpPr/>
          <p:nvPr/>
        </p:nvSpPr>
        <p:spPr>
          <a:xfrm>
            <a:off x="822960" y="24231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417320" y="23134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Mục tiêu bài học phải viết theo công thức: Chủ thể + Động từ hành động + Nội dung + Tiêu chí đánh giá.</a:t>
            </a:r>
            <a:endParaRPr lang="en-US" sz="1450" dirty="0"/>
          </a:p>
        </p:txBody>
      </p:sp>
      <p:sp>
        <p:nvSpPr>
          <p:cNvPr id="10" name="Shape 8"/>
          <p:cNvSpPr/>
          <p:nvPr/>
        </p:nvSpPr>
        <p:spPr>
          <a:xfrm>
            <a:off x="822960" y="3108960"/>
            <a:ext cx="329184" cy="329184"/>
          </a:xfrm>
          <a:prstGeom prst="rect">
            <a:avLst/>
          </a:prstGeom>
          <a:solidFill>
            <a:srgbClr val="C1571A"/>
          </a:solidFill>
          <a:ln/>
        </p:spPr>
      </p:sp>
      <p:sp>
        <p:nvSpPr>
          <p:cNvPr id="11" name="Text 9"/>
          <p:cNvSpPr/>
          <p:nvPr/>
        </p:nvSpPr>
        <p:spPr>
          <a:xfrm>
            <a:off x="822960" y="31089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417320" y="29992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Bốn hoạt động (Mở đầu – Hình thành KT mới – Luyện tập – Vận dụng) phải liên kết, tăng tiến và mở.</a:t>
            </a:r>
            <a:endParaRPr lang="en-US" sz="1450" dirty="0"/>
          </a:p>
        </p:txBody>
      </p:sp>
      <p:sp>
        <p:nvSpPr>
          <p:cNvPr id="13" name="Shape 11"/>
          <p:cNvSpPr/>
          <p:nvPr/>
        </p:nvSpPr>
        <p:spPr>
          <a:xfrm>
            <a:off x="822960" y="3794760"/>
            <a:ext cx="329184" cy="329184"/>
          </a:xfrm>
          <a:prstGeom prst="rect">
            <a:avLst/>
          </a:prstGeom>
          <a:solidFill>
            <a:srgbClr val="C1571A"/>
          </a:solidFill>
          <a:ln/>
        </p:spPr>
      </p:sp>
      <p:sp>
        <p:nvSpPr>
          <p:cNvPr id="14" name="Text 12"/>
          <p:cNvSpPr/>
          <p:nvPr/>
        </p:nvSpPr>
        <p:spPr>
          <a:xfrm>
            <a:off x="822960" y="37947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417320" y="36850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Nguyên tắc “50% thực hành” là chuẩn tối thiểu cho một tiết Tin học đạt chất lượng.</a:t>
            </a:r>
            <a:endParaRPr lang="en-US" sz="1450" dirty="0"/>
          </a:p>
        </p:txBody>
      </p:sp>
      <p:sp>
        <p:nvSpPr>
          <p:cNvPr id="16" name="Shape 14"/>
          <p:cNvSpPr/>
          <p:nvPr/>
        </p:nvSpPr>
        <p:spPr>
          <a:xfrm>
            <a:off x="822960" y="4480560"/>
            <a:ext cx="329184" cy="329184"/>
          </a:xfrm>
          <a:prstGeom prst="rect">
            <a:avLst/>
          </a:prstGeom>
          <a:solidFill>
            <a:srgbClr val="C1571A"/>
          </a:solidFill>
          <a:ln/>
        </p:spPr>
      </p:sp>
      <p:sp>
        <p:nvSpPr>
          <p:cNvPr id="17" name="Text 15"/>
          <p:cNvSpPr/>
          <p:nvPr/>
        </p:nvSpPr>
        <p:spPr>
          <a:xfrm>
            <a:off x="822960" y="44805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417320" y="43708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Bắt đầu từ Yêu cầu cần đạt của chương trình rồi mới chọn nội dung từ SGK — không làm ngược lại.</a:t>
            </a:r>
            <a:endParaRPr lang="en-US" sz="1450" dirty="0"/>
          </a:p>
        </p:txBody>
      </p:sp>
      <p:sp>
        <p:nvSpPr>
          <p:cNvPr id="19" name="Shape 17"/>
          <p:cNvSpPr/>
          <p:nvPr/>
        </p:nvSpPr>
        <p:spPr>
          <a:xfrm>
            <a:off x="822960" y="5166360"/>
            <a:ext cx="329184" cy="329184"/>
          </a:xfrm>
          <a:prstGeom prst="rect">
            <a:avLst/>
          </a:prstGeom>
          <a:solidFill>
            <a:srgbClr val="C1571A"/>
          </a:solidFill>
          <a:ln/>
        </p:spPr>
      </p:sp>
      <p:sp>
        <p:nvSpPr>
          <p:cNvPr id="20" name="Text 18"/>
          <p:cNvSpPr/>
          <p:nvPr/>
        </p:nvSpPr>
        <p:spPr>
          <a:xfrm>
            <a:off x="822960" y="51663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417320" y="50566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Tích hợp liên môn nên bắt đầu từ mức Lồng ghép, Kết nối trước khi tiến tới Tích hợp đầy đủ.</a:t>
            </a:r>
            <a:endParaRPr lang="en-US" sz="1450" dirty="0"/>
          </a:p>
        </p:txBody>
      </p:sp>
      <p:sp>
        <p:nvSpPr>
          <p:cNvPr id="22" name="Shape 20"/>
          <p:cNvSpPr/>
          <p:nvPr/>
        </p:nvSpPr>
        <p:spPr>
          <a:xfrm>
            <a:off x="822960" y="5852160"/>
            <a:ext cx="329184" cy="329184"/>
          </a:xfrm>
          <a:prstGeom prst="rect">
            <a:avLst/>
          </a:prstGeom>
          <a:solidFill>
            <a:srgbClr val="C1571A"/>
          </a:solidFill>
          <a:ln/>
        </p:spPr>
      </p:sp>
      <p:sp>
        <p:nvSpPr>
          <p:cNvPr id="23" name="Text 21"/>
          <p:cNvSpPr/>
          <p:nvPr/>
        </p:nvSpPr>
        <p:spPr>
          <a:xfrm>
            <a:off x="822960" y="5852160"/>
            <a:ext cx="329184" cy="329184"/>
          </a:xfrm>
          <a:prstGeom prst="rect">
            <a:avLst/>
          </a:prstGeom>
          <a:noFill/>
          <a:ln/>
        </p:spPr>
        <p:txBody>
          <a:bodyPr wrap="square" rtlCol="0" anchor="ctr"/>
          <a:lstStyle/>
          <a:p>
            <a:pPr algn="ctr" indent="0" marL="0">
              <a:buNone/>
            </a:pPr>
            <a:r>
              <a:rPr lang="en-US" sz="1400" b="1" dirty="0">
                <a:solidFill>
                  <a:srgbClr val="16324F"/>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1417320" y="5742432"/>
            <a:ext cx="10058400" cy="621792"/>
          </a:xfrm>
          <a:prstGeom prst="rect">
            <a:avLst/>
          </a:prstGeom>
          <a:noFill/>
          <a:ln/>
        </p:spPr>
        <p:txBody>
          <a:bodyPr wrap="square" rtlCol="0" anchor="ctr"/>
          <a:lstStyle/>
          <a:p>
            <a:pPr indent="0" marL="0">
              <a:buNone/>
            </a:pPr>
            <a:r>
              <a:rPr lang="en-US" sz="1450" dirty="0">
                <a:solidFill>
                  <a:srgbClr val="E6EEF6"/>
                </a:solidFill>
                <a:latin typeface="Calibri" pitchFamily="34" charset="0"/>
                <a:ea typeface="Calibri" pitchFamily="34" charset="-122"/>
                <a:cs typeface="Calibri" pitchFamily="34" charset="-120"/>
              </a:rPr>
              <a:t>Một kế hoạch bài dạy tốt là kế hoạch thể hiện rõ nhất tư duy sư phạm, không phải dài nhất hay đẹp nhất.</a:t>
            </a:r>
            <a:endParaRPr lang="en-US" sz="1450" dirty="0"/>
          </a:p>
        </p:txBody>
      </p:sp>
      <p:sp>
        <p:nvSpPr>
          <p:cNvPr id="25" name="Text 23"/>
          <p:cNvSpPr/>
          <p:nvPr/>
        </p:nvSpPr>
        <p:spPr>
          <a:xfrm>
            <a:off x="457200" y="6473952"/>
            <a:ext cx="9144000" cy="292608"/>
          </a:xfrm>
          <a:prstGeom prst="rect">
            <a:avLst/>
          </a:prstGeom>
          <a:noFill/>
          <a:ln/>
        </p:spPr>
        <p:txBody>
          <a:bodyPr wrap="square" rtlCol="0" anchor="ctr"/>
          <a:lstStyle/>
          <a:p>
            <a:pPr algn="l" indent="0" marL="0">
              <a:buNone/>
            </a:pPr>
            <a:r>
              <a:rPr lang="en-US" sz="1000" dirty="0">
                <a:solidFill>
                  <a:srgbClr val="5B6B79"/>
                </a:solidFill>
                <a:latin typeface="Calibri" pitchFamily="34" charset="0"/>
                <a:ea typeface="Calibri" pitchFamily="34" charset="-122"/>
                <a:cs typeface="Calibri" pitchFamily="34" charset="-120"/>
              </a:rPr>
              <a:t>Cảm ơn — Chương 5: Thiết kế kế hoạch dạy học môn Tin học</a:t>
            </a:r>
            <a:endParaRPr lang="en-US" sz="1000" dirty="0"/>
          </a:p>
        </p:txBody>
      </p:sp>
      <p:sp>
        <p:nvSpPr>
          <p:cNvPr id="26" name="Text 24"/>
          <p:cNvSpPr/>
          <p:nvPr/>
        </p:nvSpPr>
        <p:spPr>
          <a:xfrm>
            <a:off x="11274552" y="6473952"/>
            <a:ext cx="457200" cy="292608"/>
          </a:xfrm>
          <a:prstGeom prst="rect">
            <a:avLst/>
          </a:prstGeom>
          <a:noFill/>
          <a:ln/>
        </p:spPr>
        <p:txBody>
          <a:bodyPr wrap="square"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2026-09-12T15:08:51Z</dcterms:created>
  <dcterms:modified xsi:type="dcterms:W3CDTF">2026-09-12T15:08:51Z</dcterms:modified>
</cp:coreProperties>
</file>