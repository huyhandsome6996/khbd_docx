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Lst>
  <p:notesMasterIdLst>
    <p:notesMasterId r:id="rId1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notesMaster" Target="notesMasters/notesMaster1.xml"/><Relationship Id="rId123" Type="http://schemas.openxmlformats.org/officeDocument/2006/relationships/presProps" Target="presProps.xml"/><Relationship Id="rId124" Type="http://schemas.openxmlformats.org/officeDocument/2006/relationships/viewProps" Target="viewProps.xml"/><Relationship Id="rId125" Type="http://schemas.openxmlformats.org/officeDocument/2006/relationships/theme" Target="theme/theme1.xml"/><Relationship Id="rId1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1874520"/>
            <a:ext cx="7315200" cy="548640"/>
          </a:xfrm>
          <a:prstGeom prst="rect">
            <a:avLst/>
          </a:prstGeom>
          <a:noFill/>
          <a:ln/>
        </p:spPr>
        <p:txBody>
          <a:bodyPr wrap="square" rtlCol="0" anchor="ctr"/>
          <a:lstStyle/>
          <a:p>
            <a:pPr indent="0" marL="0">
              <a:buNone/>
            </a:pPr>
            <a:r>
              <a:rPr lang="en-US" sz="1900" b="1" spc="300" kern="0" dirty="0">
                <a:solidFill>
                  <a:srgbClr val="C1571A"/>
                </a:solidFill>
                <a:latin typeface="Calibri" pitchFamily="34" charset="0"/>
                <a:ea typeface="Calibri" pitchFamily="34" charset="-122"/>
                <a:cs typeface="Calibri" pitchFamily="34" charset="-120"/>
              </a:rPr>
              <a:t>CHƯƠNG 6</a:t>
            </a:r>
            <a:endParaRPr lang="en-US" sz="1900" dirty="0"/>
          </a:p>
        </p:txBody>
      </p:sp>
      <p:sp>
        <p:nvSpPr>
          <p:cNvPr id="3" name="Text 1"/>
          <p:cNvSpPr/>
          <p:nvPr/>
        </p:nvSpPr>
        <p:spPr>
          <a:xfrm>
            <a:off x="822960" y="2377440"/>
            <a:ext cx="10607040" cy="1828800"/>
          </a:xfrm>
          <a:prstGeom prst="rect">
            <a:avLst/>
          </a:prstGeom>
          <a:noFill/>
          <a:ln/>
        </p:spPr>
        <p:txBody>
          <a:bodyPr wrap="square" rtlCol="0" anchor="ctr"/>
          <a:lstStyle/>
          <a:p>
            <a:pPr algn="l" indent="0" marL="0">
              <a:lnSpc>
                <a:spcPct val="108000"/>
              </a:lnSpc>
              <a:buNone/>
            </a:pPr>
            <a:r>
              <a:rPr lang="en-US" sz="4400" b="1" dirty="0">
                <a:solidFill>
                  <a:srgbClr val="FFFFFF"/>
                </a:solidFill>
                <a:latin typeface="Calibri" pitchFamily="34" charset="0"/>
                <a:ea typeface="Calibri" pitchFamily="34" charset="-122"/>
                <a:cs typeface="Calibri" pitchFamily="34" charset="-120"/>
              </a:rPr>
              <a:t>TỔ CHỨC DẠY HỌC</a:t>
            </a:r>
            <a:endParaRPr lang="en-US" sz="4400" dirty="0"/>
          </a:p>
          <a:p>
            <a:pPr algn="l" indent="0" marL="0">
              <a:lnSpc>
                <a:spcPct val="108000"/>
              </a:lnSpc>
              <a:buNone/>
            </a:pPr>
            <a:r>
              <a:rPr lang="en-US" sz="4400" b="1" dirty="0">
                <a:solidFill>
                  <a:srgbClr val="FFFFFF"/>
                </a:solidFill>
                <a:latin typeface="Calibri" pitchFamily="34" charset="0"/>
                <a:ea typeface="Calibri" pitchFamily="34" charset="-122"/>
                <a:cs typeface="Calibri" pitchFamily="34" charset="-120"/>
              </a:rPr>
              <a:t>TIN HỌC</a:t>
            </a:r>
            <a:endParaRPr lang="en-US" sz="4400" dirty="0"/>
          </a:p>
        </p:txBody>
      </p:sp>
      <p:sp>
        <p:nvSpPr>
          <p:cNvPr id="4" name="Text 2"/>
          <p:cNvSpPr/>
          <p:nvPr/>
        </p:nvSpPr>
        <p:spPr>
          <a:xfrm>
            <a:off x="822960" y="4434840"/>
            <a:ext cx="9144000" cy="45720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Lý luận và Phương pháp dạy học Tin học</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MỞ ĐẦU</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Mục tiêu của chương</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Phân tích được nội dung, đối tượng và điều kiện dạy học để lựa chọn hình thức tổ chức dạy học Tin học phù hợp.</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Vận dụng được các phương pháp dạy học thực hành trong tổ chức hoạt động học tập.</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Tổ chức, điều hành và xử lý hiệu quả các tình huống sư phạm trong dạy học Tin học.</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Ứng dụng được các mô hình và công cụ công nghệ (Blended Learning, lớp học đảo ngược, AI) trong dạy học.</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Thực hiện đúng yêu cầu nghề nghiệp: an toàn, đạo đức, văn hóa số và tác phong chuyên nghiệp.</a:t>
            </a:r>
            <a:endParaRPr lang="en-US" sz="20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Chương này hướng đến CÁCH LÀM — cần thực hành thiết kế và dạy thử, không chỉ đọc lý thuyết. Thước đo cuối cùng là chất lượng KHBD và khả năng tổ chức giờ học thực sự trước lớp.</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MỞ ĐẦU</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Nội dung chương (1/2)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6.1. Khái niệm và đặc điểm của tổ chức dạy học Tin học</a:t>
            </a:r>
            <a:endParaRPr lang="en-US" sz="2400" dirty="0"/>
          </a:p>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6.2. Thiết kế kế hoạch tổ chức dạy học Tin học</a:t>
            </a:r>
            <a:endParaRPr lang="en-US" sz="2400" dirty="0"/>
          </a:p>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6.3. Tổ chức dạy thực hành Tin học</a:t>
            </a:r>
            <a:endParaRPr lang="en-US" sz="2400" dirty="0"/>
          </a:p>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6.4. Các hình thức tổ chức dạy học trong phòng máy</a:t>
            </a:r>
            <a:endParaRPr lang="en-US" sz="24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MỞ ĐẦU</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Nội dung chương (2/2)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6.5. Tổ chức dạy học Tin học với sự hỗ trợ của AI</a:t>
            </a:r>
            <a:endParaRPr lang="en-US" sz="2400" dirty="0"/>
          </a:p>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6.6. Quản lý lớp học và đánh giá trong dạy học Tin học</a:t>
            </a:r>
            <a:endParaRPr lang="en-US" sz="2400" dirty="0"/>
          </a:p>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6.7. Tổ chức dạy học tiết ôn tập trong dạy học Tin học</a:t>
            </a:r>
            <a:endParaRPr lang="en-US" sz="2400" dirty="0"/>
          </a:p>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6.8. Thực hành tổ chức dạy học Tin học</a:t>
            </a:r>
            <a:endParaRPr lang="en-US" sz="24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6.1</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Khái niệm và đặc điểm của tổ chức dạy học Tin học</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6.1.1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Khái niệm tổ chức dạy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b="1" dirty="0">
                <a:solidFill>
                  <a:srgbClr val="222B33"/>
                </a:solidFill>
                <a:latin typeface="Calibri" pitchFamily="34" charset="0"/>
                <a:ea typeface="Calibri" pitchFamily="34" charset="-122"/>
                <a:cs typeface="Calibri" pitchFamily="34" charset="-120"/>
              </a:rPr>
              <a:t>Là hoạt động của giáo viên nhằm thiết kế, sắp xếp và điều phối toàn bộ các yếu tố của quá trình dạy học — mục tiêu, nội dung, phương pháp, phương tiện, hình thức tổ chức và đánh giá — để học sinh tích cực tham gia, chủ động kiến tạo tri thức.</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KHÔNG đơn thuần là “lên lớp dạy bài” mà là một quá trình có chủ đích.</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6.1.1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Ba giai đoạn liên tiếp của tổ chức dạy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Trước giờ học</a:t>
            </a:r>
            <a:endParaRPr lang="en-US" sz="2100" dirty="0"/>
          </a:p>
          <a:p>
            <a:pPr algn="l" lvl="1" marL="508000" indent="-254000">
              <a:lnSpc>
                <a:spcPct val="115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Lập kế hoạch bài học, chuẩn bị nội dung, phương tiện và học liệu.</a:t>
            </a:r>
            <a:endParaRPr lang="en-US" sz="2100" dirty="0"/>
          </a:p>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Trong giờ học</a:t>
            </a:r>
            <a:endParaRPr lang="en-US" sz="2100" dirty="0"/>
          </a:p>
          <a:p>
            <a:pPr algn="l" lvl="1" marL="508000" indent="-254000">
              <a:lnSpc>
                <a:spcPct val="115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Triển khai các hoạt động học tập, điều phối tương tác, xử lý tình huống sư phạm.</a:t>
            </a:r>
            <a:endParaRPr lang="en-US" sz="2100" dirty="0"/>
          </a:p>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Sau giờ học</a:t>
            </a:r>
            <a:endParaRPr lang="en-US" sz="2100" dirty="0"/>
          </a:p>
          <a:p>
            <a:pPr algn="l" lvl="1" marL="508000" indent="-254000">
              <a:lnSpc>
                <a:spcPct val="115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Đánh giá kết quả, phản hồi, điều chỉnh kế hoạch dạy học tiếp theo.</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6.1.2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Đặc điểm tổ chức dạy học môn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Chương trình GDPT 2018 xác định 3 mạch kiến thức hòa quyện: DL (Học vấn số hóa phổ thông), ICT (Công nghệ thông tin &amp; Truyền thông), CS (Khoa học máy tính) — và 5 thành phần năng lực Tin học (NLa–NLe).</a:t>
            </a:r>
            <a:endParaRPr lang="en-US" sz="1750" dirty="0"/>
          </a:p>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Điều này đòi hỏi GV tổ chức dạy học theo hướng:</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Kết hợp linh hoạt lý thuyết và thực hành trên máy tính.</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Tạo môi trường học tập tích cực, khuyến khích HS làm ra sản phẩm số thiết thực.</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Phân hóa dạy học phù hợp trình độ và định hướng của HS.</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Tích hợp liên môn, giáo dục STEM qua các dự án học tập thực tế.</a:t>
            </a:r>
            <a:endParaRPr lang="en-US" sz="17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6.1.2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Đặc điểm 1: Tính kết hợp lý thuyết và thực hành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b="1" dirty="0">
                <a:solidFill>
                  <a:srgbClr val="222B33"/>
                </a:solidFill>
                <a:latin typeface="Calibri" pitchFamily="34" charset="0"/>
                <a:ea typeface="Calibri" pitchFamily="34" charset="-122"/>
                <a:cs typeface="Calibri" pitchFamily="34" charset="-120"/>
              </a:rPr>
              <a:t>Lý thuyết và thực hành không phải hai pha tách biệt mà gắn kết hữu cơ với nhau.</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GDPT 2018 quy định tỉ lệ thực hành khoảng 35–50% tổng thời lượng tùy cấp học và định hướng.</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Thiết kế bài học theo trình tự: “lý thuyết tối giản → thực hành ngay → tổng kết kiến thức” — thay vì giảng lý thuyết dài rồi mới thực hành.</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Xây dựng hệ thống bài tập phân bậc: từ luyện kỹ năng cơ bản đến giải quyết bài toán thực tế và làm ra sản phẩm số.</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6.1.2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Đặc điểm 2: Dạy học trong môi trường công nghệ</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Phòng máy tính là không gian học tập chủ yếu — có đặc thù riêng về sơ đồ chỗ ngồi, luồng di chuyển, khả năng quan sát học sinh.</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Phần mềm và hệ thống mạng là phương tiện đặc thù, có thể phát sinh sự cố kỹ thuật.</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Môi trường Internet mang lại nguồn tài nguyên phong phú nhưng tiềm ẩn nguy cơ mất tập trung.</a:t>
            </a:r>
            <a:endParaRPr lang="en-US" sz="1900" dirty="0"/>
          </a:p>
          <a:p>
            <a:pPr algn="l" marL="228600" indent="-228600">
              <a:lnSpc>
                <a:spcPct val="115000"/>
              </a:lnSpc>
              <a:spcAft>
                <a:spcPts val="1300"/>
              </a:spcAft>
              <a:buSzPct val="100000"/>
              <a:buChar char="▪"/>
            </a:pPr>
            <a:r>
              <a:rPr lang="en-US" sz="1900" b="1" dirty="0">
                <a:solidFill>
                  <a:srgbClr val="222B33"/>
                </a:solidFill>
                <a:latin typeface="Calibri" pitchFamily="34" charset="0"/>
                <a:ea typeface="Calibri" pitchFamily="34" charset="-122"/>
                <a:cs typeface="Calibri" pitchFamily="34" charset="-120"/>
              </a:rPr>
              <a:t>GV cần thiết lập “môi trường học tập số có kiểm soát” — tận dụng tối đa lợi ích công nghệ trong khi hạn chế tác động tiêu cực.</a:t>
            </a:r>
            <a:endParaRPr lang="en-US" sz="19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6.1.2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Đặc điểm 3: Khác biệt về trình độ CNTT của học sinh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Học sinh bước vào giờ Tin học với xuất phát điểm rất khác nhau — do điều kiện kinh tế gia đình, khu vực địa lý và kinh nghiệm cá nhân.</a:t>
            </a:r>
            <a:endParaRPr lang="en-US" sz="2100" dirty="0"/>
          </a:p>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Giáo viên cần:</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Tổ chức khảo sát trình độ đầu vào.</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Thiết kế bài tập có nhiều tầng mức.</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Tổ chức học nhóm dị biệt để học sinh hỗ trợ lẫn nhau.</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6.1.2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Đặc điểm 4: Đặc thù phòng máy và thiết bị</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Bàn máy thường xếp hàng dọc hướng vào màn hình — màn hình vừa là công cụ học tập vừa có thể che khuất giao tiếp giữa thầy và trò.</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Sự cố kỹ thuật là thực tế thường gặp.</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Số lượng máy tính trong phòng thực hành ảnh hưởng nhiều đến cách tổ chức học nhóm hay cá nhân.</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6.2</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Thiết kế kế hoạch tổ chức dạy học Tin học</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Kế hoạch bài học — công cụ tư duy, không phải thủ tục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400" b="1" i="1" dirty="0">
                <a:solidFill>
                  <a:srgbClr val="222B33"/>
                </a:solidFill>
                <a:latin typeface="Calibri" pitchFamily="34" charset="0"/>
                <a:ea typeface="Calibri" pitchFamily="34" charset="-122"/>
                <a:cs typeface="Calibri" pitchFamily="34" charset="-120"/>
              </a:rPr>
              <a:t>Kế hoạch bài học (KHBH) là công cụ tư duy và làm việc của người giáo viên — không phải thủ tục hành chính.</a:t>
            </a:r>
            <a:endParaRPr lang="en-US" sz="2400" dirty="0"/>
          </a:p>
          <a:p>
            <a:pPr algn="l" marL="228600" indent="-228600">
              <a:lnSpc>
                <a:spcPct val="115000"/>
              </a:lnSpc>
              <a:spcAft>
                <a:spcPts val="1300"/>
              </a:spcAft>
              <a:buSzPct val="100000"/>
              <a:buChar char="▪"/>
            </a:pPr>
            <a:r>
              <a:rPr lang="en-US" sz="2400" dirty="0">
                <a:solidFill>
                  <a:srgbClr val="222B33"/>
                </a:solidFill>
                <a:latin typeface="Calibri" pitchFamily="34" charset="0"/>
                <a:ea typeface="Calibri" pitchFamily="34" charset="-122"/>
                <a:cs typeface="Calibri" pitchFamily="34" charset="-120"/>
              </a:rPr>
              <a:t>Một KHBH Tin học chất lượng phải thể hiện sự suy nghĩ kỹ lưỡng về học sinh, về nội dung và về các tình huống có thể xảy ra.</a:t>
            </a:r>
            <a:endParaRPr lang="en-US" sz="24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Phân tích mục tiêu bài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b="1" i="1" dirty="0">
                <a:solidFill>
                  <a:srgbClr val="222B33"/>
                </a:solidFill>
                <a:latin typeface="Calibri" pitchFamily="34" charset="0"/>
                <a:ea typeface="Calibri" pitchFamily="34" charset="-122"/>
                <a:cs typeface="Calibri" pitchFamily="34" charset="-120"/>
              </a:rPr>
              <a:t>Câu hỏi đầu tiên: Sau tiết học này, học sinh có thể làm được gì mà trước đó chưa làm được?</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GV cần đọc và hiểu Yêu cầu cần đạt (YCCĐ) trực tiếp từ Chương trình GDPT 2018, không chỉ từ sách giáo khoa.</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Mục tiêu cần phân loại theo 3 chiều (kiến thức, kỹ năng, thái độ và năng lực chung).</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Diễn đạt theo động từ hành động cụ thể, quan sát được và đánh giá được — tránh các động từ mơ hồ như “nắm được”, “hiểu được”, “biết về”.</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so sánh mục tiêu</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b="1" dirty="0">
                <a:solidFill>
                  <a:srgbClr val="222B33"/>
                </a:solidFill>
                <a:latin typeface="Calibri" pitchFamily="34" charset="0"/>
                <a:ea typeface="Calibri" pitchFamily="34" charset="-122"/>
                <a:cs typeface="Calibri" pitchFamily="34" charset="-120"/>
              </a:rPr>
              <a:t>Mục tiêu chưa tốt:</a:t>
            </a:r>
            <a:endParaRPr lang="en-US" sz="2200" dirty="0"/>
          </a:p>
          <a:p>
            <a:pPr algn="l" lvl="1" marL="508000" indent="-254000">
              <a:lnSpc>
                <a:spcPct val="115000"/>
              </a:lnSpc>
              <a:spcAft>
                <a:spcPts val="900"/>
              </a:spcAft>
              <a:buSzPct val="100000"/>
              <a:buChar char="–"/>
            </a:pPr>
            <a:r>
              <a:rPr lang="en-US" sz="1900" i="1" dirty="0">
                <a:solidFill>
                  <a:srgbClr val="5B6B79"/>
                </a:solidFill>
                <a:latin typeface="Calibri" pitchFamily="34" charset="0"/>
                <a:ea typeface="Calibri" pitchFamily="34" charset="-122"/>
                <a:cs typeface="Calibri" pitchFamily="34" charset="-120"/>
              </a:rPr>
              <a:t>“Học sinh hiểu được cấu trúc lặp trong lập trình.”</a:t>
            </a:r>
            <a:endParaRPr lang="en-US" sz="2200" dirty="0"/>
          </a:p>
          <a:p>
            <a:pPr algn="l" marL="228600" indent="-228600">
              <a:lnSpc>
                <a:spcPct val="115000"/>
              </a:lnSpc>
              <a:spcAft>
                <a:spcPts val="1300"/>
              </a:spcAft>
              <a:buSzPct val="100000"/>
              <a:buChar char="▪"/>
            </a:pPr>
            <a:r>
              <a:rPr lang="en-US" sz="2200" b="1" dirty="0">
                <a:solidFill>
                  <a:srgbClr val="222B33"/>
                </a:solidFill>
                <a:latin typeface="Calibri" pitchFamily="34" charset="0"/>
                <a:ea typeface="Calibri" pitchFamily="34" charset="-122"/>
                <a:cs typeface="Calibri" pitchFamily="34" charset="-120"/>
              </a:rPr>
              <a:t>Mục tiêu tốt hơn:</a:t>
            </a:r>
            <a:endParaRPr lang="en-US" sz="2200" dirty="0"/>
          </a:p>
          <a:p>
            <a:pPr algn="l" lvl="1" marL="508000" indent="-254000">
              <a:lnSpc>
                <a:spcPct val="115000"/>
              </a:lnSpc>
              <a:spcAft>
                <a:spcPts val="900"/>
              </a:spcAft>
              <a:buSzPct val="100000"/>
              <a:buChar char="–"/>
            </a:pPr>
            <a:r>
              <a:rPr lang="en-US" sz="1900" i="1" dirty="0">
                <a:solidFill>
                  <a:srgbClr val="5B6B79"/>
                </a:solidFill>
                <a:latin typeface="Calibri" pitchFamily="34" charset="0"/>
                <a:ea typeface="Calibri" pitchFamily="34" charset="-122"/>
                <a:cs typeface="Calibri" pitchFamily="34" charset="-120"/>
              </a:rPr>
              <a:t>“Học sinh viết được chương trình Python sử dụng vòng lặp for để tính tổng các số từ 1 đến n với n do người dùng nhập vào.”</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Mục tiêu cốt lõi và mục tiêu mở rộng</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300" b="1" dirty="0">
                <a:solidFill>
                  <a:srgbClr val="222B33"/>
                </a:solidFill>
                <a:latin typeface="Calibri" pitchFamily="34" charset="0"/>
                <a:ea typeface="Calibri" pitchFamily="34" charset="-122"/>
                <a:cs typeface="Calibri" pitchFamily="34" charset="-120"/>
              </a:rPr>
              <a:t>Mục tiêu cốt lõi</a:t>
            </a:r>
            <a:endParaRPr lang="en-US" sz="2300" dirty="0"/>
          </a:p>
          <a:p>
            <a:pPr algn="l" lvl="1" marL="508000" indent="-254000">
              <a:lnSpc>
                <a:spcPct val="115000"/>
              </a:lnSpc>
              <a:spcAft>
                <a:spcPts val="900"/>
              </a:spcAft>
              <a:buSzPct val="100000"/>
              <a:buChar char="–"/>
            </a:pPr>
            <a:r>
              <a:rPr lang="en-US" sz="2000" dirty="0">
                <a:solidFill>
                  <a:srgbClr val="5B6B79"/>
                </a:solidFill>
                <a:latin typeface="Calibri" pitchFamily="34" charset="0"/>
                <a:ea typeface="Calibri" pitchFamily="34" charset="-122"/>
                <a:cs typeface="Calibri" pitchFamily="34" charset="-120"/>
              </a:rPr>
              <a:t>Tất cả học sinh phải đạt.</a:t>
            </a:r>
            <a:endParaRPr lang="en-US" sz="2300" dirty="0"/>
          </a:p>
          <a:p>
            <a:pPr algn="l" marL="228600" indent="-228600">
              <a:lnSpc>
                <a:spcPct val="115000"/>
              </a:lnSpc>
              <a:spcAft>
                <a:spcPts val="1300"/>
              </a:spcAft>
              <a:buSzPct val="100000"/>
              <a:buChar char="▪"/>
            </a:pPr>
            <a:r>
              <a:rPr lang="en-US" sz="2300" b="1" dirty="0">
                <a:solidFill>
                  <a:srgbClr val="222B33"/>
                </a:solidFill>
                <a:latin typeface="Calibri" pitchFamily="34" charset="0"/>
                <a:ea typeface="Calibri" pitchFamily="34" charset="-122"/>
                <a:cs typeface="Calibri" pitchFamily="34" charset="-120"/>
              </a:rPr>
              <a:t>Mục tiêu mở rộng</a:t>
            </a:r>
            <a:endParaRPr lang="en-US" sz="2300" dirty="0"/>
          </a:p>
          <a:p>
            <a:pPr algn="l" lvl="1" marL="508000" indent="-254000">
              <a:lnSpc>
                <a:spcPct val="115000"/>
              </a:lnSpc>
              <a:spcAft>
                <a:spcPts val="900"/>
              </a:spcAft>
              <a:buSzPct val="100000"/>
              <a:buChar char="–"/>
            </a:pPr>
            <a:r>
              <a:rPr lang="en-US" sz="2000" dirty="0">
                <a:solidFill>
                  <a:srgbClr val="5B6B79"/>
                </a:solidFill>
                <a:latin typeface="Calibri" pitchFamily="34" charset="0"/>
                <a:ea typeface="Calibri" pitchFamily="34" charset="-122"/>
                <a:cs typeface="Calibri" pitchFamily="34" charset="-120"/>
              </a:rPr>
              <a:t>Dành cho học sinh học tốt.</a:t>
            </a:r>
            <a:endParaRPr lang="en-US" sz="23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Sự phân biệt này ảnh hưởng trực tiếp đến cách phân bổ thời gian và thiết kế bài tập phân hóa.</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Cấu trúc kế hoạch bài học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Thông tin chung: tên bài, lớp, thời lượng, loại bài (lý thuyết/thực hành/hỗn hợp/dự án).</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Mục tiêu bài học diễn đạt theo chuẩn đầu ra.</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Chuẩn bị: phương tiện, phần mềm, học liệu số, cấu hình phòng máy.</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Tiến trình dạy học theo 4 giai đoạn.</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Phương án đánh giá với tiêu chí rõ ràng.</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Phương án dự phòng khi sự cố kỹ thuật xảy ra.</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1 — Khởi động (5–7 phút)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50" b="1" dirty="0">
                <a:solidFill>
                  <a:srgbClr val="222B33"/>
                </a:solidFill>
                <a:latin typeface="Calibri" pitchFamily="34" charset="0"/>
                <a:ea typeface="Calibri" pitchFamily="34" charset="-122"/>
                <a:cs typeface="Calibri" pitchFamily="34" charset="-120"/>
              </a:rPr>
              <a:t>Mục đích: tạo hứng khởi, kích hoạt kiến thức nền, đặt vấn đề dẫn nhập.</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Trình chiếu sản phẩm số hấp dẫn và đặt câu hỏi “Làm sao tạo ra được thứ này?”</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Nêu tình huống thực tế cần giải quyết bằng tin học.</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Tổ chức trò chơi nhanh liên quan đến nội dung sắp học.</a:t>
            </a:r>
            <a:endParaRPr lang="en-US" sz="20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Giai đoạn này có vai trò đặc biệt quan trọng vì học sinh cần được định hướng trước khi tiếp xúc với máy tính.</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2 — Hình thành kiến thức (10–15 phút)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Cung cấp kiến thức/kỹ năng mới qua giảng giải, demo, khám phá có hướng dẫn.</a:t>
            </a:r>
            <a:endParaRPr lang="en-US" sz="1950" dirty="0"/>
          </a:p>
          <a:p>
            <a:pPr algn="l" marL="228600" indent="-228600">
              <a:lnSpc>
                <a:spcPct val="115000"/>
              </a:lnSpc>
              <a:spcAft>
                <a:spcPts val="1300"/>
              </a:spcAft>
              <a:buSzPct val="100000"/>
              <a:buChar char="▪"/>
            </a:pPr>
            <a:r>
              <a:rPr lang="en-US" sz="1950" b="1" dirty="0">
                <a:solidFill>
                  <a:srgbClr val="222B33"/>
                </a:solidFill>
                <a:latin typeface="Calibri" pitchFamily="34" charset="0"/>
                <a:ea typeface="Calibri" pitchFamily="34" charset="-122"/>
                <a:cs typeface="Calibri" pitchFamily="34" charset="-120"/>
              </a:rPr>
              <a:t>Nguyên tắc “tối giản lý thuyết, tối đa thực hành”: không cần giảng hết toàn bộ trước khi cho HS thực hành, mà cung cấp đủ để HS bắt đầu thao tác, rồi bổ sung dần.</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Khi demo trên máy chiếu, cần liên tục đặt câu hỏi để HS dự đoán bước tiếp theo — demo thụ động có hiệu quả thấp và dễ khiến HS mất tập trung.</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3 &amp; 4 — Luyện tập và Tổng kết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50" b="1" dirty="0">
                <a:solidFill>
                  <a:srgbClr val="222B33"/>
                </a:solidFill>
                <a:latin typeface="Calibri" pitchFamily="34" charset="0"/>
                <a:ea typeface="Calibri" pitchFamily="34" charset="-122"/>
                <a:cs typeface="Calibri" pitchFamily="34" charset="-120"/>
              </a:rPr>
              <a:t>Giai đoạn 3 — Luyện tập/Thực hành (20–25 phút)</a:t>
            </a:r>
            <a:endParaRPr lang="en-US" sz="2050" dirty="0"/>
          </a:p>
          <a:p>
            <a:pPr algn="l" lvl="1" marL="508000" indent="-254000">
              <a:lnSpc>
                <a:spcPct val="115000"/>
              </a:lnSpc>
              <a:spcAft>
                <a:spcPts val="900"/>
              </a:spcAft>
              <a:buSzPct val="100000"/>
              <a:buChar char="–"/>
            </a:pPr>
            <a:r>
              <a:rPr lang="en-US" sz="1750" dirty="0">
                <a:solidFill>
                  <a:srgbClr val="5B6B79"/>
                </a:solidFill>
                <a:latin typeface="Calibri" pitchFamily="34" charset="0"/>
                <a:ea typeface="Calibri" pitchFamily="34" charset="-122"/>
                <a:cs typeface="Calibri" pitchFamily="34" charset="-120"/>
              </a:rPr>
              <a:t>Học sinh thực hành trên máy theo hệ thống bài tập phân bậc. Đây là giai đoạn chiếm nhiều thời gian nhất và quan trọng nhất trong tiết Tin học.</a:t>
            </a:r>
            <a:endParaRPr lang="en-US" sz="2050" dirty="0"/>
          </a:p>
          <a:p>
            <a:pPr algn="l" marL="228600" indent="-228600">
              <a:lnSpc>
                <a:spcPct val="115000"/>
              </a:lnSpc>
              <a:spcAft>
                <a:spcPts val="1300"/>
              </a:spcAft>
              <a:buSzPct val="100000"/>
              <a:buChar char="▪"/>
            </a:pPr>
            <a:r>
              <a:rPr lang="en-US" sz="2050" b="1" dirty="0">
                <a:solidFill>
                  <a:srgbClr val="222B33"/>
                </a:solidFill>
                <a:latin typeface="Calibri" pitchFamily="34" charset="0"/>
                <a:ea typeface="Calibri" pitchFamily="34" charset="-122"/>
                <a:cs typeface="Calibri" pitchFamily="34" charset="-120"/>
              </a:rPr>
              <a:t>Giai đoạn 4 — Tổng kết và vận dụng (5–8 phút)</a:t>
            </a:r>
            <a:endParaRPr lang="en-US" sz="2050" dirty="0"/>
          </a:p>
          <a:p>
            <a:pPr algn="l" lvl="1" marL="508000" indent="-254000">
              <a:lnSpc>
                <a:spcPct val="115000"/>
              </a:lnSpc>
              <a:spcAft>
                <a:spcPts val="900"/>
              </a:spcAft>
              <a:buSzPct val="100000"/>
              <a:buChar char="–"/>
            </a:pPr>
            <a:r>
              <a:rPr lang="en-US" sz="1750" dirty="0">
                <a:solidFill>
                  <a:srgbClr val="5B6B79"/>
                </a:solidFill>
                <a:latin typeface="Calibri" pitchFamily="34" charset="0"/>
                <a:ea typeface="Calibri" pitchFamily="34" charset="-122"/>
                <a:cs typeface="Calibri" pitchFamily="34" charset="-120"/>
              </a:rPr>
              <a:t>Học sinh chia sẻ kết quả, giáo viên chốt kiến thức, giao nhiệm vụ tiếp nối.</a:t>
            </a:r>
            <a:endParaRPr lang="en-US" sz="20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Ba tầng bậc của bài tập thực hành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Bài tập cơ bản (bắt buộc)</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Tất cả học sinh phải hoàn thành, tập trung kỹ năng/kiến thức cốt lõi, có hướng dẫn từng bước nếu cần.</a:t>
            </a:r>
            <a:endParaRPr lang="en-US" sz="1750" dirty="0"/>
          </a:p>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Bài tập nâng cao (khuyến khích)</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Dành cho HS hoàn thành bài cơ bản sớm, yêu cầu vận dụng sáng tạo hoặc kết hợp kiến thức.</a:t>
            </a:r>
            <a:endParaRPr lang="en-US" sz="1750" dirty="0"/>
          </a:p>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Bài tập mở rộng (tự chọn)</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Kết nối với thực tế, có thể là một sản phẩm số nhỏ, tạo cơ hội cho HS có năng khiếu thể hiện.</a:t>
            </a:r>
            <a:endParaRPr lang="en-US" sz="17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Bối cảnh có ý nghĩa &amp; yêu cầu rõ ràng</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i="1" dirty="0">
                <a:solidFill>
                  <a:srgbClr val="222B33"/>
                </a:solidFill>
                <a:latin typeface="Calibri" pitchFamily="34" charset="0"/>
                <a:ea typeface="Calibri" pitchFamily="34" charset="-122"/>
                <a:cs typeface="Calibri" pitchFamily="34" charset="-120"/>
              </a:rPr>
              <a:t>Bài tập KHÔNG nên: “viết chương trình tính tổng 1+2+...+n” (bối cảnh trừu tượng).</a:t>
            </a:r>
            <a:endParaRPr lang="en-US" sz="2100" dirty="0"/>
          </a:p>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NÊN là: “viết chương trình giúp thủ quỹ lớp tính tổng tiền quỹ thu được trong tháng” (bối cảnh có ý nghĩa).</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Mỗi nhiệm vụ thực hành cần nêu rõ học sinh nộp gì (file code, file thiết kế, ảnh chụp màn hình...) và sản phẩm đó phải đáp ứng tiêu chí gì.</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6.2.4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Dự kiến tình huống sư phạm</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b="1" dirty="0">
                <a:solidFill>
                  <a:srgbClr val="222B33"/>
                </a:solidFill>
                <a:latin typeface="Calibri" pitchFamily="34" charset="0"/>
                <a:ea typeface="Calibri" pitchFamily="34" charset="-122"/>
                <a:cs typeface="Calibri" pitchFamily="34" charset="-120"/>
              </a:rPr>
              <a:t>Một kế hoạch bài học chỉ thực sự vững chắc khi GV đã nghĩ trước những gì có thể xảy ra ngoài dự kiến.</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Tình huống kỹ thuật: máy hỏng, phần mềm lỗi, mất mạng.</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Tình huống về tiến độ: học sinh hoàn thành quá sớm hoặc không theo kịp.</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Tình huống hành vi: truy cập game, sao chép bài nhau.</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Tình huống kiến thức: câu hỏi vượt nội dung, HS phát hiện cách giải hay hơn.</a:t>
            </a:r>
            <a:endParaRPr lang="en-US" sz="19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Khi học sinh phát hiện cách giải hay hơn cách GV hướng dẫn: trân trọng và chia sẻ với cả lớp — đây là khoảnh khắc học tập có giá trị cao nhất.</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6.3</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Tổ chức dạy thực hành Tin học</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Khái niệm dạy thực hành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Là quá trình tổ chức cho học sinh trực tiếp thao tác trên máy tính, phần mềm và môi trường số nhằm hình thành và phát triển kỹ năng, kỹ xảo Tin học thông qua sự hướng dẫn, làm mẫu và hỗ trợ của giáo viên.</a:t>
            </a:r>
            <a:endParaRPr lang="en-US" sz="2100" dirty="0"/>
          </a:p>
          <a:p>
            <a:pPr algn="l" marL="228600" indent="-228600">
              <a:lnSpc>
                <a:spcPct val="115000"/>
              </a:lnSpc>
              <a:spcAft>
                <a:spcPts val="1300"/>
              </a:spcAft>
              <a:buSzPct val="100000"/>
              <a:buChar char="▪"/>
            </a:pPr>
            <a:r>
              <a:rPr lang="en-US" sz="2100" i="1" dirty="0">
                <a:solidFill>
                  <a:srgbClr val="222B33"/>
                </a:solidFill>
                <a:latin typeface="Calibri" pitchFamily="34" charset="0"/>
                <a:ea typeface="Calibri" pitchFamily="34" charset="-122"/>
                <a:cs typeface="Calibri" pitchFamily="34" charset="-120"/>
              </a:rPr>
              <a:t>Hoạt động thực hành giữ vai trò trung tâm trong dạy học Tin học, bảo đảm sự gắn kết chặt chẽ giữa lý thuyết và ứng dụng. (Đặng Thành Hưng, 2002)</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Nhiệm vụ của giờ thực hành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Củng cố và hoàn thiện tri thức lý thuyết thông qua kiểm nghiệm trực tiếp trên máy tính.</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Hình thành và rèn luyện kỹ năng sử dụng phần mềm, thao tác máy tính và lập trình.</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Phát triển tư duy Tin học: tư duy thuật toán, tư duy logic, năng lực giải quyết vấn đề.</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Giáo dục thái độ và tác phong làm việc: khoa học, tuân thủ quy định phòng máy, an toàn và văn hóa số.</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Phân loại bài thực hành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Thực hành nhận biết</a:t>
            </a:r>
            <a:endParaRPr lang="en-US" sz="2100" dirty="0"/>
          </a:p>
          <a:p>
            <a:pPr algn="l" lvl="1" marL="508000" indent="-254000">
              <a:lnSpc>
                <a:spcPct val="115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Làm quen giao diện phần mềm, thiết bị.</a:t>
            </a:r>
            <a:endParaRPr lang="en-US" sz="2100" dirty="0"/>
          </a:p>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Thực hành thao tác cơ bản</a:t>
            </a:r>
            <a:endParaRPr lang="en-US" sz="2100" dirty="0"/>
          </a:p>
          <a:p>
            <a:pPr algn="l" lvl="1" marL="508000" indent="-254000">
              <a:lnSpc>
                <a:spcPct val="115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Gõ phím, sử dụng chuột, lệnh cơ bản trong phần mềm.</a:t>
            </a:r>
            <a:endParaRPr lang="en-US" sz="2100" dirty="0"/>
          </a:p>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Thực hành theo quy trình/công việc</a:t>
            </a:r>
            <a:endParaRPr lang="en-US" sz="2100" dirty="0"/>
          </a:p>
          <a:p>
            <a:pPr algn="l" lvl="1" marL="508000" indent="-254000">
              <a:lnSpc>
                <a:spcPct val="115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Thực hiện trọn vẹn một sản phẩm số (văn bản, bảng tính, chương trình).</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Phương pháp 4 bước (Làm mẫu – Bắt chước)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00" b="1" dirty="0">
                <a:solidFill>
                  <a:srgbClr val="222B33"/>
                </a:solidFill>
                <a:latin typeface="Calibri" pitchFamily="34" charset="0"/>
                <a:ea typeface="Calibri" pitchFamily="34" charset="-122"/>
                <a:cs typeface="Calibri" pitchFamily="34" charset="-120"/>
              </a:rPr>
              <a:t>Phù hợp: bài thực hành cơ bản, học sinh mới làm quen với công cụ hoặc thao tác mới.</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Bước 1 — Thông tin mở đầu: nêu mục tiêu, yêu cầu bài thực hành.</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Bước 2 — Giáo viên làm mẫu và giải thích thao tác.</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Bước 3 — Học sinh làm lại theo mẫu, có giải thích.</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Bước 4 — Học sinh luyện tập độc lập, giáo viên hỗ trợ.</a:t>
            </a:r>
            <a:endParaRPr lang="en-US" sz="19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Định dạng tiêu đề trong Word (Lớp 6)</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Bước 1: GV nêu mục tiêu — “Định dạng tiêu đề cho văn bản ‘Em yêu trường em’”.</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Bước 2: GV làm mẫu trực tiếp trên màn hình — bôi đen tiêu đề → chọn Font → Size → Bold → Center.</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Bước 3: 1–2 học sinh lên bảng thao tác lại và trình bày các bước.</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Bước 4: HS tự thực hành định dạng tiêu đề văn bản của mình; GV quan sát và sửa lỗi.</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Phương pháp 3 bước (Thực hành theo quy trình)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Phù hợp: bài thực hành tổng hợp, nâng cao; học sinh đã có kiến thức và kỹ năng nền tảng.</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Bước 1 — Thông tin nhiệm vụ: nêu yêu cầu sản phẩm, tiêu chí đánh giá.</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Bước 2 — Trình bày quy trình và điều kiện thực hiện: giới thiệu các bước chính.</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Bước 3 — Tổ chức luyện tập: HS thực hành theo quy trình; GV giám sát, hỗ trợ.</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Đơn xin nghỉ học (Lớp 7)</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Bước 1: GV nêu yêu cầu sản phẩm và công bố tiêu chí đánh giá.</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Bước 2: GV trình chiếu quy trình 5 bước: Gõ nội dung → Định dạng tiêu đề → Căn lề, giãn dòng → Trình bày phần ký tên → Kiểm tra và lưu file.</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Bước 3: HS thực hành cá nhân theo quy trình; GV không làm mẫu chi tiết mà hỗ trợ khi cần.</a:t>
            </a:r>
            <a:endParaRPr lang="en-US" sz="19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Phương pháp 3 bước giúp HS hình thành tư duy làm việc có kế hoạch và biết tuân thủ quy trình khi giải quyết nhiệm vụ Tin học.</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Phương pháp 6 bước (Định hướng hành động / Dự án)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b="1" dirty="0">
                <a:solidFill>
                  <a:srgbClr val="222B33"/>
                </a:solidFill>
                <a:latin typeface="Calibri" pitchFamily="34" charset="0"/>
                <a:ea typeface="Calibri" pitchFamily="34" charset="-122"/>
                <a:cs typeface="Calibri" pitchFamily="34" charset="-120"/>
              </a:rPr>
              <a:t>Phù hợp: thực hành nâng cao, bài tập lớn, dạy học dự án.</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1. Thông tin nhiệm vụ   →   2. Lập kế hoạch   →   3. Ra quyết định</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4. Thực hiện   →   5. Kiểm tra   →   6. Đánh giá</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Thiết kế bài trình chiếu danh lam thắng cảnh (Lớp 9)</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Bước 1: GV giao nhiệm vụ và tiêu chí đánh giá.</a:t>
            </a:r>
            <a:endParaRPr lang="en-US" sz="1800" dirty="0"/>
          </a:p>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Bước 2: HS lập kế hoạch nội dung từng slide.</a:t>
            </a:r>
            <a:endParaRPr lang="en-US" sz="1800" dirty="0"/>
          </a:p>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Bước 3: Nhóm thống nhất bố cục, màu sắc, hiệu ứng.</a:t>
            </a:r>
            <a:endParaRPr lang="en-US" sz="1800" dirty="0"/>
          </a:p>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Bước 4: HS thiết kế trên PowerPoint/Google Slides.</a:t>
            </a:r>
            <a:endParaRPr lang="en-US" sz="1800" dirty="0"/>
          </a:p>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Bước 5: HS tự kiểm tra, chỉnh sửa sản phẩm.</a:t>
            </a:r>
            <a:endParaRPr lang="en-US" sz="1800" dirty="0"/>
          </a:p>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Bước 6: Trình bày sản phẩm, GV và HS cùng đánh giá.</a:t>
            </a:r>
            <a:endParaRPr lang="en-US" sz="18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So sánh ba phương pháp thực hành (1/2)</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377440"/>
                <a:gridCol w="3017520"/>
                <a:gridCol w="2880360"/>
                <a:gridCol w="292608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Tiêu chí</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4 bước</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3 bước</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6 bước</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Phù hợp với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Kỹ năng mới, cơ bản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Tổng hợp, quy trình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Dự án, nâng cao</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Vai trò GV</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Làm mẫu, chỉ dẫn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Trình bày quy trình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Cố vấn, hỗ trợ</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Mức độ tự chủ HS</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Thấp → tăng dần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Trung bình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Cao</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So sánh ba phương pháp thực hành (2/2)</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377440"/>
                <a:gridCol w="3017520"/>
                <a:gridCol w="2880360"/>
                <a:gridCol w="2926080"/>
              </a:tblGrid>
              <a:tr h="566928">
                <a:tc>
                  <a:txBody>
                    <a:bodyPr/>
                    <a:lstStyle/>
                    <a:p>
                      <a:pPr algn="l" indent="0" marL="0">
                        <a:buNone/>
                      </a:pPr>
                      <a:r>
                        <a:rPr lang="en-US" sz="1750" b="1" dirty="0">
                          <a:solidFill>
                            <a:srgbClr val="FFFFFF"/>
                          </a:solidFill>
                          <a:latin typeface="Calibri" pitchFamily="34" charset="0"/>
                          <a:ea typeface="Calibri" pitchFamily="34" charset="-122"/>
                          <a:cs typeface="Calibri" pitchFamily="34" charset="-120"/>
                        </a:rPr>
                        <a:t>Tiêu chí</a:t>
                      </a:r>
                      <a:endParaRPr lang="en-US" sz="17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50" b="1" dirty="0">
                          <a:solidFill>
                            <a:srgbClr val="FFFFFF"/>
                          </a:solidFill>
                          <a:latin typeface="Calibri" pitchFamily="34" charset="0"/>
                          <a:ea typeface="Calibri" pitchFamily="34" charset="-122"/>
                          <a:cs typeface="Calibri" pitchFamily="34" charset="-120"/>
                        </a:rPr>
                        <a:t>4 bước</a:t>
                      </a:r>
                      <a:endParaRPr lang="en-US" sz="17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50" b="1" dirty="0">
                          <a:solidFill>
                            <a:srgbClr val="FFFFFF"/>
                          </a:solidFill>
                          <a:latin typeface="Calibri" pitchFamily="34" charset="0"/>
                          <a:ea typeface="Calibri" pitchFamily="34" charset="-122"/>
                          <a:cs typeface="Calibri" pitchFamily="34" charset="-120"/>
                        </a:rPr>
                        <a:t>3 bước</a:t>
                      </a:r>
                      <a:endParaRPr lang="en-US" sz="17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50" b="1" dirty="0">
                          <a:solidFill>
                            <a:srgbClr val="FFFFFF"/>
                          </a:solidFill>
                          <a:latin typeface="Calibri" pitchFamily="34" charset="0"/>
                          <a:ea typeface="Calibri" pitchFamily="34" charset="-122"/>
                          <a:cs typeface="Calibri" pitchFamily="34" charset="-120"/>
                        </a:rPr>
                        <a:t>6 bước</a:t>
                      </a:r>
                      <a:endParaRPr lang="en-US" sz="17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714500">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Thời gian</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1 tiết</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1–2 tiết</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Nhiều tiết</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714500">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Sản phẩm học tập</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Kỹ năng thao tác</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Sản phẩm quy trình</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Sản phẩm dự án</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053328"/>
            <a:ext cx="11201400" cy="566928"/>
          </a:xfrm>
          <a:prstGeom prst="rect">
            <a:avLst/>
          </a:prstGeom>
          <a:noFill/>
          <a:ln/>
        </p:spPr>
        <p:txBody>
          <a:bodyPr wrap="square" rtlCol="0" anchor="t"/>
          <a:lstStyle/>
          <a:p>
            <a:pPr indent="0" marL="0">
              <a:buNone/>
            </a:pPr>
            <a:r>
              <a:rPr lang="en-US" sz="1250" i="1" dirty="0">
                <a:solidFill>
                  <a:srgbClr val="5B6B79"/>
                </a:solidFill>
                <a:latin typeface="Calibri" pitchFamily="34" charset="0"/>
                <a:ea typeface="Calibri" pitchFamily="34" charset="-122"/>
                <a:cs typeface="Calibri" pitchFamily="34" charset="-120"/>
              </a:rPr>
              <a:t>Kết hợp linh hoạt ba phương pháp tạo thành lộ trình sư phạm phù hợp, giúp HS phát triển từ kỹ năng thao tác cơ bản đến năng lực giải quyết vấn đề và sáng tạo sản phẩm số.</a:t>
            </a:r>
            <a:endParaRPr lang="en-US" sz="1250" dirty="0"/>
          </a:p>
        </p:txBody>
      </p:sp>
      <p:sp>
        <p:nvSpPr>
          <p:cNvPr id="7"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Quy trình tổ chức giờ dạy thực hành (1)</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1. Ổn định tổ chức, kiểm tra điều kiện phòng máy — đến sớm 10–15 phút.</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2. Nêu mục tiêu, yêu cầu và sản phẩm cần đạt — hiển thị yêu cầu trên màn hình suốt buổi.</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3. Hướng dẫn (làm mẫu hoặc trình bày quy trình) — phù hợp phương pháp đã chọn.</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Quy trình tổ chức giờ dạy thực hành (2)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4. Tổ chức cho học sinh thực hành — theo trình tự: đọc hiểu yêu cầu → phân tích bài toán → lên kế hoạch → thực hiện từng bước → kiểm tra kết quả.</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5. Theo dõi, hỗ trợ, uốn nắn sai sót — di chuyển liên tục, hỗ trợ theo mức độ “gợi mở trước, chỉ dẫn sau, làm mẫu cuối cùng”.</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6. Kiểm tra, đánh giá và tổng kết giờ học — HS lưu bài, báo cáo sản phẩm; GV chốt kiến thức và giao nhiệm vụ tiếp nối.</a:t>
            </a:r>
            <a:endParaRPr lang="en-US" sz="19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Ví dụ (Lớp 8, Scratch – câu lệnh if): GV kiểm tra máy, nêu mục tiêu → làm mẫu nhân vật nói “Xin chào” khi nhấn phím → HS viết chương trình tương tự và mở rộng → GV kiểm tra sản phẩm, rút kinh nghiệm.</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6.3.6</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Nhận biết sớm học sinh cần hỗ trợ</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Học sinh thường không chủ động giơ tay khi gặp khó — đặc biệt học sinh e dè.</a:t>
            </a:r>
            <a:endParaRPr lang="en-US" sz="2100" dirty="0"/>
          </a:p>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Các dấu hiệu cần nhận biết:</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Ngồi im không thao tác quá 3 phút.</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Liên tục xóa và gõ lại cùng một đoạn.</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Nhìn sang màn hình bạn bên cạnh.</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6.3.6</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Hướng dẫn theo mức độ phân bậc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Bước 1 — Gợi mở</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Đặt câu hỏi dẫn dắt: “Em đang muốn làm gì? Máy báo lỗi gì?”</a:t>
            </a:r>
            <a:endParaRPr lang="en-US" sz="1750" dirty="0"/>
          </a:p>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Bước 2 — Chỉ dẫn</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Chỉ ra hướng giải quyết mà không làm thay: “Em hãy kiểm tra lại dòng số 5, xem biến đó đã được khởi tạo chưa”.</a:t>
            </a:r>
            <a:endParaRPr lang="en-US" sz="1750" dirty="0"/>
          </a:p>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Bước 3 — Làm mẫu</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Chỉ thực hiện trực tiếp khi HS thực sự không thể tiến tiếp, và phải giải thích từng bước.</a:t>
            </a:r>
            <a:endParaRPr lang="en-US" sz="17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Khi hỗ trợ, tay GV không đặt lên chuột/bàn phím của HS — trừ trường hợp cực kỳ cần thiết.</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6.3.6</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Kỹ thuật đặt câu hỏi Socratic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Khi học sinh gặp khó khăn, đặt chuỗi câu hỏi dẫn dắt:</a:t>
            </a:r>
            <a:endParaRPr lang="en-US" sz="2100" dirty="0"/>
          </a:p>
          <a:p>
            <a:pPr algn="l" marL="228600" indent="-228600">
              <a:lnSpc>
                <a:spcPct val="115000"/>
              </a:lnSpc>
              <a:spcAft>
                <a:spcPts val="1300"/>
              </a:spcAft>
              <a:buSzPct val="100000"/>
              <a:buChar char="▪"/>
            </a:pPr>
            <a:r>
              <a:rPr lang="en-US" sz="2100" i="1" dirty="0">
                <a:solidFill>
                  <a:srgbClr val="222B33"/>
                </a:solidFill>
                <a:latin typeface="Calibri" pitchFamily="34" charset="0"/>
                <a:ea typeface="Calibri" pitchFamily="34" charset="-122"/>
                <a:cs typeface="Calibri" pitchFamily="34" charset="-120"/>
              </a:rPr>
              <a:t>“Chương trình đang làm gì ở dòng này?”</a:t>
            </a:r>
            <a:endParaRPr lang="en-US" sz="2100" dirty="0"/>
          </a:p>
          <a:p>
            <a:pPr algn="l" marL="228600" indent="-228600">
              <a:lnSpc>
                <a:spcPct val="115000"/>
              </a:lnSpc>
              <a:spcAft>
                <a:spcPts val="1300"/>
              </a:spcAft>
              <a:buSzPct val="100000"/>
              <a:buChar char="▪"/>
            </a:pPr>
            <a:r>
              <a:rPr lang="en-US" sz="2100" i="1" dirty="0">
                <a:solidFill>
                  <a:srgbClr val="222B33"/>
                </a:solidFill>
                <a:latin typeface="Calibri" pitchFamily="34" charset="0"/>
                <a:ea typeface="Calibri" pitchFamily="34" charset="-122"/>
                <a:cs typeface="Calibri" pitchFamily="34" charset="-120"/>
              </a:rPr>
              <a:t>“Em muốn nó làm gì?”</a:t>
            </a:r>
            <a:endParaRPr lang="en-US" sz="2100" dirty="0"/>
          </a:p>
          <a:p>
            <a:pPr algn="l" marL="228600" indent="-228600">
              <a:lnSpc>
                <a:spcPct val="115000"/>
              </a:lnSpc>
              <a:spcAft>
                <a:spcPts val="1300"/>
              </a:spcAft>
              <a:buSzPct val="100000"/>
              <a:buChar char="▪"/>
            </a:pPr>
            <a:r>
              <a:rPr lang="en-US" sz="2100" i="1" dirty="0">
                <a:solidFill>
                  <a:srgbClr val="222B33"/>
                </a:solidFill>
                <a:latin typeface="Calibri" pitchFamily="34" charset="0"/>
                <a:ea typeface="Calibri" pitchFamily="34" charset="-122"/>
                <a:cs typeface="Calibri" pitchFamily="34" charset="-120"/>
              </a:rPr>
              <a:t>“Sự khác biệt giữa điều đang xảy ra và điều em muốn là gì?”</a:t>
            </a:r>
            <a:endParaRPr lang="en-US" sz="21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Học sinh tự phát hiện lỗi và hiểu sâu hơn nhiều so với việc được giáo viên chỉ ra ngay.</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6.3.6</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Chiến lược “3 trước 1” &amp; hỗ trợ lẫn nhau</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Chiến lược “3 trước 1”</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Trước khi hỏi GV, HS thử ít nhất 3 nguồn hỗ trợ: (1) tự đọc lại yêu cầu bài tập, (2) hỏi bạn ngồi cạnh, (3) tìm kiếm thông tin (nếu được phép).</a:t>
            </a:r>
            <a:endParaRPr lang="en-US" sz="1850" dirty="0"/>
          </a:p>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Tổ chức học sinh hỗ trợ lẫn nhau</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Phân công “học sinh trợ giảng” (hoàn thành bài sớm) hỗ trợ các bạn còn khó khăn — vừa tạo mạng lưới hỗ trợ vừa tiết kiệm năng lực giáo viên.</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6.4</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Các hình thức tổ chức dạy học trong phòng máy</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toàn lớp và theo nhóm</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Dạy học toàn lớp</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Toàn thể HS cùng thực hiện một công việc dưới sự điều khiển trực tiếp của GV. Phù hợp khi GV hướng dẫn chung, làm mẫu, tổng kết kiến thức.</a:t>
            </a:r>
            <a:endParaRPr lang="en-US" sz="2000" dirty="0"/>
          </a:p>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Dạy học theo nhóm</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Chia lớp thành nhóm nhỏ (2–4 HS) — đặc biệt hiệu quả khi: làm dự án nhiều hạng mục phân công song song, giải bài toán phức tạp cần thảo luận thuật toán, hoặc phân tích/đánh giá sản phẩm của nhau.</a:t>
            </a:r>
            <a:endParaRPr lang="en-US" sz="20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Khi giảng bài chung, yêu cầu HS tắt màn hình hoặc quay màn hình ra xa để tập trung lắng nghe.</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Phân công vai trò trong nhóm</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300" dirty="0">
                <a:solidFill>
                  <a:srgbClr val="222B33"/>
                </a:solidFill>
                <a:latin typeface="Calibri" pitchFamily="34" charset="0"/>
                <a:ea typeface="Calibri" pitchFamily="34" charset="-122"/>
                <a:cs typeface="Calibri" pitchFamily="34" charset="-120"/>
              </a:rPr>
              <a:t>Người điều phối.</a:t>
            </a:r>
            <a:endParaRPr lang="en-US" sz="2300" dirty="0"/>
          </a:p>
          <a:p>
            <a:pPr algn="l" marL="228600" indent="-228600">
              <a:lnSpc>
                <a:spcPct val="115000"/>
              </a:lnSpc>
              <a:spcAft>
                <a:spcPts val="1300"/>
              </a:spcAft>
              <a:buSzPct val="100000"/>
              <a:buChar char="▪"/>
            </a:pPr>
            <a:r>
              <a:rPr lang="en-US" sz="2300" dirty="0">
                <a:solidFill>
                  <a:srgbClr val="222B33"/>
                </a:solidFill>
                <a:latin typeface="Calibri" pitchFamily="34" charset="0"/>
                <a:ea typeface="Calibri" pitchFamily="34" charset="-122"/>
                <a:cs typeface="Calibri" pitchFamily="34" charset="-120"/>
              </a:rPr>
              <a:t>Người gõ phím / thao tác chính.</a:t>
            </a:r>
            <a:endParaRPr lang="en-US" sz="2300" dirty="0"/>
          </a:p>
          <a:p>
            <a:pPr algn="l" marL="228600" indent="-228600">
              <a:lnSpc>
                <a:spcPct val="115000"/>
              </a:lnSpc>
              <a:spcAft>
                <a:spcPts val="1300"/>
              </a:spcAft>
              <a:buSzPct val="100000"/>
              <a:buChar char="▪"/>
            </a:pPr>
            <a:r>
              <a:rPr lang="en-US" sz="2300" dirty="0">
                <a:solidFill>
                  <a:srgbClr val="222B33"/>
                </a:solidFill>
                <a:latin typeface="Calibri" pitchFamily="34" charset="0"/>
                <a:ea typeface="Calibri" pitchFamily="34" charset="-122"/>
                <a:cs typeface="Calibri" pitchFamily="34" charset="-120"/>
              </a:rPr>
              <a:t>Người phát hiện lỗi và kiểm tra.</a:t>
            </a:r>
            <a:endParaRPr lang="en-US" sz="2300" dirty="0"/>
          </a:p>
          <a:p>
            <a:pPr algn="l" marL="228600" indent="-228600">
              <a:lnSpc>
                <a:spcPct val="115000"/>
              </a:lnSpc>
              <a:spcAft>
                <a:spcPts val="1300"/>
              </a:spcAft>
              <a:buSzPct val="100000"/>
              <a:buChar char="▪"/>
            </a:pPr>
            <a:r>
              <a:rPr lang="en-US" sz="2300" dirty="0">
                <a:solidFill>
                  <a:srgbClr val="222B33"/>
                </a:solidFill>
                <a:latin typeface="Calibri" pitchFamily="34" charset="0"/>
                <a:ea typeface="Calibri" pitchFamily="34" charset="-122"/>
                <a:cs typeface="Calibri" pitchFamily="34" charset="-120"/>
              </a:rPr>
              <a:t>Người ghi chép và chuẩn bị báo cáo.</a:t>
            </a:r>
            <a:endParaRPr lang="en-US" sz="23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Vai trò nên được luân phiên giữa các buổi học.</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Pair Programming (Lập trình đôi)</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Hai học sinh ngồi trước một máy tính:</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“Người lái” — gõ code, tập trung vào cú pháp.</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“Người dẫn đường” — quan sát toàn bộ, phát hiện lỗi logic, gợi ý cải tiến.</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Hai vai trò luân chuyển sau mỗi 10–15 phút.</a:t>
            </a:r>
            <a:endParaRPr lang="en-US" sz="21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Nghiên cứu cho thấy: code ít lỗi hơn, HS yếu được hỗ trợ tự nhiên, HS giỏi củng cố hiểu biết qua việc giải thích.</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cá nhân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b="1" dirty="0">
                <a:solidFill>
                  <a:srgbClr val="222B33"/>
                </a:solidFill>
                <a:latin typeface="Calibri" pitchFamily="34" charset="0"/>
                <a:ea typeface="Calibri" pitchFamily="34" charset="-122"/>
                <a:cs typeface="Calibri" pitchFamily="34" charset="-120"/>
              </a:rPr>
              <a:t>Từng học sinh thực hiện nhiệm vụ độc lập.</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Phù hợp khi: rèn luyện kỹ năng thao tác (gõ phím, vẽ hình).</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Làm bài tập trắc nghiệm trực tuyến.</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Học sinh tự nghiên cứu mở rộng theo năng lực cá nhân.</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Ba kiểu bố trí không gian phòng máy</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Hàng dọc song song</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Dễ quan sát màn hình từ phía sau, hạn chế giao tiếp mặt đối mặt.</a:t>
            </a:r>
            <a:endParaRPr lang="en-US" sz="2000" dirty="0"/>
          </a:p>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Hình chữ U</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GV di chuyển vào giữa và quan sát được mọi màn hình; cần phòng đủ rộng.</a:t>
            </a:r>
            <a:endParaRPr lang="en-US" sz="2000" dirty="0"/>
          </a:p>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Nhóm / cụm</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Phù hợp dạy học dự án nhóm, ít phù hợp thực hành cá nhân.</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Phân chỗ ngồi có chủ đích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Đặt học sinh yếu ở vị trí dễ quan sát và hỗ trợ — thường là hàng đầu hoặc gần lối đi.</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Tách những cặp bạn thường nói chuyện riêng.</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Đặt học sinh giỏi ở các vị trí có thể hỗ trợ bạn xung quanh.</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Quy ước rõ ràng &amp; phần mềm quản lý phòng máy</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Thiết lập quy ước rõ ràng từ đầu năm học:</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Quy trình bật/tắt máy; quy định truy cập Internet; cách báo lỗi kỹ thuật; quy ước tín hiệu (giơ tay khi cần hỗ trợ, lật ngửa bàn phím khi hoàn thành bài tập).</a:t>
            </a:r>
            <a:endParaRPr lang="en-US" sz="1850" dirty="0"/>
          </a:p>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Sử dụng phần mềm quản lý phòng máy (NetSupport School, iTALC, Veyon...):</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Xem màn hình tất cả HS từ máy chủ, khóa màn hình, chia sẻ màn hình HS lên máy chiếu, gửi file bài tập trực tiếp.</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Biện pháp kiểm soát hiệu quả nhất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Biện pháp hiệu quả nhất để ngăn học sinh truy cập nội dung không liên quan KHÔNG phải là ngăn chặn kỹ thuật (dễ bị học sinh lách qua)...</a:t>
            </a:r>
            <a:endParaRPr lang="en-US" sz="2400" dirty="0"/>
          </a:p>
          <a:p>
            <a:pPr algn="l" marL="228600" indent="-228600">
              <a:lnSpc>
                <a:spcPct val="115000"/>
              </a:lnSpc>
              <a:spcAft>
                <a:spcPts val="1300"/>
              </a:spcAft>
              <a:buSzPct val="100000"/>
              <a:buChar char="▪"/>
            </a:pPr>
            <a:r>
              <a:rPr lang="en-US" sz="2400" b="1" i="1" dirty="0">
                <a:solidFill>
                  <a:srgbClr val="222B33"/>
                </a:solidFill>
                <a:latin typeface="Calibri" pitchFamily="34" charset="0"/>
                <a:ea typeface="Calibri" pitchFamily="34" charset="-122"/>
                <a:cs typeface="Calibri" pitchFamily="34" charset="-120"/>
              </a:rPr>
              <a:t>...mà là thiết kế nhiệm vụ thực hành đủ hấp dẫn và đủ thách thức để học sinh không có động cơ và thời gian làm việc khác.</a:t>
            </a:r>
            <a:endParaRPr lang="en-US" sz="24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Xử lý sự cố kỹ thuật (1/2)</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566160"/>
                <a:gridCol w="7635240"/>
              </a:tblGrid>
              <a:tr h="566928">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Tình huống</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Cách xử lý</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Phần mềm báo lỗi hoặc treo</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Hướng dẫn HS thói quen lưu bài thường xuyên; thử lưu và khởi động lại phần mềm; tắt ép và mở lại nếu không được.</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Máy không vào được hệ điều hành</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Hướng dẫn HS di chuyển sang máy dự phòng hoặc ghép đôi với bạn bên cạnh; dán nhãn máy lỗi và báo sau giờ học.</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Xử lý sự cố kỹ thuật (2/2)</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566160"/>
                <a:gridCol w="7635240"/>
              </a:tblGrid>
              <a:tr h="566928">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Tình huống</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Cách xử lý</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Mất kết nối mạng toàn phòng</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Chuyển sang học liệu offline đã chuẩn bị sẵn; tổ chức hoạt động không cần mạng (thực hành thuật toán bằng giấy, thảo luận thiết kế hệ thống).</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Máy chiếu hỏng</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Chuẩn bị sẵn phiếu hướng dẫn in sẵn, hoặc dùng màn hình một máy tính làm điểm tham chiếu cho nhóm nhỏ HS xung quanh.</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6.4.4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Thái độ khi xử lý sự cố kỹ thuật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b="1" i="1" dirty="0">
                <a:solidFill>
                  <a:srgbClr val="222B33"/>
                </a:solidFill>
                <a:latin typeface="Calibri" pitchFamily="34" charset="0"/>
                <a:ea typeface="Calibri" pitchFamily="34" charset="-122"/>
                <a:cs typeface="Calibri" pitchFamily="34" charset="-120"/>
              </a:rPr>
              <a:t>Sự cố kỹ thuật là điều chắc chắn sẽ xảy ra — không phải NẾU mà là KHI NÀO.</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Trong thời gian chờ xử lý sự cố, tuyệt đối không để lớp ngồi chờ thụ động.</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Thái độ điềm tĩnh của giáo viên trước sự cố kỹ thuật cũng là cơ hội dạy học sinh thái độ chuyên nghiệp khi đối mặt với lỗi kỹ thuật trong thực tế.</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6.5</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Tổ chức dạy học Tin học với sự hỗ trợ của AI</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AI không thay thế giáo viên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Trí tuệ nhân tạo (AI) đang nhanh chóng trở thành một đối tác đáng tin cậy trong thiết kế và tổ chức dạy học.</a:t>
            </a:r>
            <a:endParaRPr lang="en-US" sz="2000" dirty="0"/>
          </a:p>
          <a:p>
            <a:pPr algn="l" marL="228600" indent="-228600">
              <a:lnSpc>
                <a:spcPct val="115000"/>
              </a:lnSpc>
              <a:spcAft>
                <a:spcPts val="1300"/>
              </a:spcAft>
              <a:buSzPct val="100000"/>
              <a:buChar char="▪"/>
            </a:pPr>
            <a:r>
              <a:rPr lang="en-US" sz="2000" b="1" i="1" dirty="0">
                <a:solidFill>
                  <a:srgbClr val="222B33"/>
                </a:solidFill>
                <a:latin typeface="Calibri" pitchFamily="34" charset="0"/>
                <a:ea typeface="Calibri" pitchFamily="34" charset="-122"/>
                <a:cs typeface="Calibri" pitchFamily="34" charset="-120"/>
              </a:rPr>
              <a:t>AI KHÔNG thay thế giáo viên — AI hỗ trợ giáo viên thực hiện hiệu quả hơn những công việc mang tính lặp lại.</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Nhờ đó GV có thêm thời gian và nguồn lực để tập trung vào: tương tác cảm xúc với học sinh, điều chỉnh sư phạm linh hoạt theo bối cảnh lớp học, và định hướng giá trị cho người học.</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AI hỗ trợ thiết kế kế hoạch bài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Phác thảo nhanh bộ khung KHBH từ mục tiêu và nội dung được cung cấp.</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Gợi ý các hoạt động học tập phù hợp với từng loại nội dung Tin học.</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Tạo nhiều phiên bản bài tập có độ khó khác nhau để phân hóa.</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Soạn câu hỏi kiểm tra theo các mức tư duy khác nhau.</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Gợi ý các tình huống sư phạm có thể xảy ra trong giờ học.</a:t>
            </a:r>
            <a:endParaRPr lang="en-US" sz="17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Ví dụ prompt: “Thiết kế tiết dạy Python về vòng lặp for cho lớp 10, trình độ trung bình, 45 phút, phòng 15 máy cho 30 HS. Gợi ý cấu trúc và 5 bài tập độ khó tăng dần.”</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AI hỗ trợ tạo học liệu &amp; phân tích kết quả</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AI hỗ trợ tạo học liệu:</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Tạo bộ câu hỏi trắc nghiệm; giải thích một khái niệm theo nhiều cách khác nhau; tạo ví dụ minh họa mới lạ phù hợp bối cảnh địa phương; soạn phiếu bài tập đủ mức độ từ cơ bản đến nâng cao.</a:t>
            </a:r>
            <a:endParaRPr lang="en-US" sz="1800" dirty="0"/>
          </a:p>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AI hỗ trợ phân tích kết quả học tập:</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Khi HS nộp bài qua LMS, AI có thể phân tích nhanh các lỗi phổ biến và cung cấp báo cáo — giúp GV nhanh chóng xác định điểm cần giảng lại hoặc hỗ trợ thêm.</a:t>
            </a:r>
            <a:endParaRPr lang="en-US" sz="18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AI hỗ trợ debug và hiểu lỗi lập trình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Khi gặp lỗi code không tự giải quyết được, HS có thể dán code vào AI và yêu cầu GIẢI THÍCH lỗi — không phải yêu cầu viết lại code hoàn chỉnh.</a:t>
            </a:r>
            <a:endParaRPr lang="en-US" sz="2000" dirty="0"/>
          </a:p>
          <a:p>
            <a:pPr algn="l" marL="228600" indent="-228600">
              <a:lnSpc>
                <a:spcPct val="115000"/>
              </a:lnSpc>
              <a:spcAft>
                <a:spcPts val="1300"/>
              </a:spcAft>
              <a:buSzPct val="100000"/>
              <a:buChar char="▪"/>
            </a:pPr>
            <a:r>
              <a:rPr lang="en-US" sz="2000" i="1" dirty="0">
                <a:solidFill>
                  <a:srgbClr val="222B33"/>
                </a:solidFill>
                <a:latin typeface="Calibri" pitchFamily="34" charset="0"/>
                <a:ea typeface="Calibri" pitchFamily="34" charset="-122"/>
                <a:cs typeface="Calibri" pitchFamily="34" charset="-120"/>
              </a:rPr>
              <a:t>Thay vì “Sửa code này giúp tôi”...</a:t>
            </a:r>
            <a:endParaRPr lang="en-US" sz="2000" dirty="0"/>
          </a:p>
          <a:p>
            <a:pPr algn="l" marL="228600" indent="-228600">
              <a:lnSpc>
                <a:spcPct val="115000"/>
              </a:lnSpc>
              <a:spcAft>
                <a:spcPts val="1300"/>
              </a:spcAft>
              <a:buSzPct val="100000"/>
              <a:buChar char="▪"/>
            </a:pPr>
            <a:r>
              <a:rPr lang="en-US" sz="2000" b="1" i="1" dirty="0">
                <a:solidFill>
                  <a:srgbClr val="222B33"/>
                </a:solidFill>
                <a:latin typeface="Calibri" pitchFamily="34" charset="0"/>
                <a:ea typeface="Calibri" pitchFamily="34" charset="-122"/>
                <a:cs typeface="Calibri" pitchFamily="34" charset="-120"/>
              </a:rPr>
              <a:t>...HS học cách hỏi: “Hãy giải thích tại sao dòng này gây lỗi IndexError và tôi nên nghĩ về điều gì để sửa nó.”</a:t>
            </a:r>
            <a:endParaRPr lang="en-US" sz="20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Kỹ năng giao tiếp hiệu quả với AI chính là một kỹ năng Tin học cần được dạy.</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AI hỗ trợ khám phá khái niệm &amp; tự kiểm tra</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b="1" dirty="0">
                <a:solidFill>
                  <a:srgbClr val="222B33"/>
                </a:solidFill>
                <a:latin typeface="Calibri" pitchFamily="34" charset="0"/>
                <a:ea typeface="Calibri" pitchFamily="34" charset="-122"/>
                <a:cs typeface="Calibri" pitchFamily="34" charset="-120"/>
              </a:rPr>
              <a:t>Khám phá khái niệm mới</a:t>
            </a:r>
            <a:endParaRPr lang="en-US" sz="1950" dirty="0"/>
          </a:p>
          <a:p>
            <a:pPr algn="l" lvl="1" marL="508000" indent="-254000">
              <a:lnSpc>
                <a:spcPct val="115000"/>
              </a:lnSpc>
              <a:spcAft>
                <a:spcPts val="900"/>
              </a:spcAft>
              <a:buSzPct val="100000"/>
              <a:buChar char="–"/>
            </a:pPr>
            <a:r>
              <a:rPr lang="en-US" sz="1650" dirty="0">
                <a:solidFill>
                  <a:srgbClr val="5B6B79"/>
                </a:solidFill>
                <a:latin typeface="Calibri" pitchFamily="34" charset="0"/>
                <a:ea typeface="Calibri" pitchFamily="34" charset="-122"/>
                <a:cs typeface="Calibri" pitchFamily="34" charset="-120"/>
              </a:rPr>
              <a:t>Yêu cầu AI giải thích theo nhiều cách khác nhau cho đến khi hiểu, hoặc tạo ví dụ minh họa mới về khái niệm đã học.</a:t>
            </a:r>
            <a:endParaRPr lang="en-US" sz="1950" dirty="0"/>
          </a:p>
          <a:p>
            <a:pPr algn="l" marL="228600" indent="-228600">
              <a:lnSpc>
                <a:spcPct val="115000"/>
              </a:lnSpc>
              <a:spcAft>
                <a:spcPts val="1300"/>
              </a:spcAft>
              <a:buSzPct val="100000"/>
              <a:buChar char="▪"/>
            </a:pPr>
            <a:r>
              <a:rPr lang="en-US" sz="1950" b="1" dirty="0">
                <a:solidFill>
                  <a:srgbClr val="222B33"/>
                </a:solidFill>
                <a:latin typeface="Calibri" pitchFamily="34" charset="0"/>
                <a:ea typeface="Calibri" pitchFamily="34" charset="-122"/>
                <a:cs typeface="Calibri" pitchFamily="34" charset="-120"/>
              </a:rPr>
              <a:t>Kiểm tra hiểu biết của mình</a:t>
            </a:r>
            <a:endParaRPr lang="en-US" sz="1950" dirty="0"/>
          </a:p>
          <a:p>
            <a:pPr algn="l" lvl="1" marL="508000" indent="-254000">
              <a:lnSpc>
                <a:spcPct val="115000"/>
              </a:lnSpc>
              <a:spcAft>
                <a:spcPts val="900"/>
              </a:spcAft>
              <a:buSzPct val="100000"/>
              <a:buChar char="–"/>
            </a:pPr>
            <a:r>
              <a:rPr lang="en-US" sz="1650" dirty="0">
                <a:solidFill>
                  <a:srgbClr val="5B6B79"/>
                </a:solidFill>
                <a:latin typeface="Calibri" pitchFamily="34" charset="0"/>
                <a:ea typeface="Calibri" pitchFamily="34" charset="-122"/>
                <a:cs typeface="Calibri" pitchFamily="34" charset="-120"/>
              </a:rPr>
              <a:t>Yêu cầu AI đặt câu hỏi về chủ đề vừa học, tự trả lời và nhận phản hồi — ôn tập chủ động, phù hợp học ở nhà trong mô hình B-learning.</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về AI trong chương trình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Chương trình GDPT 2018 đưa AI vào như nội dung học tập: AI là gì, hoạt động thế nào, ứng dụng vào đâu, tác động xã hội/đạo đức gì.</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Gắn nội dung với ứng dụng thực tế HS đã biết: TikTok gợi ý video, Google phân loại ảnh, trợ lý giọng nói Siri/Google.</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Sử dụng trực quan hóa và mô phỏng để minh họa các khái niệm trừu tượng như mạng nơ-ron.</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Thảo luận khía cạnh đạo đức — AI có thể sai, có thể bị lạm dụng, trách nhiệm thuộc về ai khi AI gây hại.</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Lưu ý khi tích hợp AI vào dạy học (1/2)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Đạo đức, liêm chính học thuật và trách nhiệm của GV</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AI chỉ là công cụ hỗ trợ, không thay thế trách nhiệm chuyên môn. GV cần chủ động làm chủ công nghệ, minh bạch, và xây dựng quy định rõ ràng về việc sử dụng AI trong lớp — thảo luận cởi mở với HS.</a:t>
            </a:r>
            <a:endParaRPr lang="en-US" sz="1750" dirty="0"/>
          </a:p>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Kiểm chứng đầu ra và phát triển tư duy phản biện</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AI có thể đưa ra thông tin sai lệch, đặc biệt chi tiết kỹ thuật/cú pháp. Cần chủ động kiểm chứng bằng cách chạy thử code, đối chiếu tài liệu gốc, tra cứu nguồn uy tín.</a:t>
            </a:r>
            <a:endParaRPr lang="en-US" sz="17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6.5.4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Lưu ý khi tích hợp AI vào dạy học (2/2)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Bảo vệ dữ liệu cá nhân và an toàn thông tin</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Nghiêm túc tuân thủ các quy định về bảo vệ dữ liệu và bảo mật thông tin khi tương tác, nhập liệu hay lưu trữ trên nền tảng AI.</a:t>
            </a:r>
            <a:endParaRPr lang="en-US" sz="1800" dirty="0"/>
          </a:p>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Đảm bảo tính công bằng trong tiếp cận</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Điều kiện tiếp cận AI của mỗi HS khác nhau — GV cần đảm bảo mọi HS có cơ hội trải nghiệm, hoặc thiết kế bài học sao cho AI chỉ là phương tiện hỗ trợ nâng cao, không bắt buộc.</a:t>
            </a:r>
            <a:endParaRPr lang="en-US" sz="18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6.6</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Quản lý lớp học và đánh giá trong dạy học Tin học</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Tổ chức báo cáo sản phẩm có chủ đích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00" b="1" i="1" dirty="0">
                <a:solidFill>
                  <a:srgbClr val="222B33"/>
                </a:solidFill>
                <a:latin typeface="Calibri" pitchFamily="34" charset="0"/>
                <a:ea typeface="Calibri" pitchFamily="34" charset="-122"/>
                <a:cs typeface="Calibri" pitchFamily="34" charset="-120"/>
              </a:rPr>
              <a:t>Giai đoạn chia sẻ sản phẩm thường bị bỏ qua hoặc thực hiện qua loa do thiếu thời gian — nhưng đây lại là giai đoạn có giá trị học tập cao nhất.</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Chọn lọc 2–3 sản phẩm tiêu biểu để trình chiếu và thảo luận:</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Một sản phẩm tốt làm mẫu.</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Một sản phẩm có lỗi điển hình để phân tích.</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Một sản phẩm có cách tiếp cận sáng tạo để truyền cảm hứng.</a:t>
            </a:r>
            <a:endParaRPr lang="en-US" sz="19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Đánh giá sản phẩm số theo năm chiều</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Tính đúng đắn — sản phẩm hoạt động đúng yêu cầu không.</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Tính hoàn chỉnh — có đủ các thành phần theo yêu cầu không.</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Tính hiệu quả — với lập trình: code có gọn, dễ đọc không.</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Tính thẩm mỹ — giao diện/bố cục có hợp lý không.</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Tính sáng tạo — học sinh có thêm điều gì vượt yêu cầu cơ bản không.</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Sử dụng Rubric (bảng tiêu chí đánh giá)</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300" b="1" dirty="0">
                <a:solidFill>
                  <a:srgbClr val="222B33"/>
                </a:solidFill>
                <a:latin typeface="Calibri" pitchFamily="34" charset="0"/>
                <a:ea typeface="Calibri" pitchFamily="34" charset="-122"/>
                <a:cs typeface="Calibri" pitchFamily="34" charset="-120"/>
              </a:rPr>
              <a:t>Rubric đặc biệt phù hợp với Tin học vì sản phẩm số rất đa dạng và khó đánh giá bằng thang điểm đơn giản.</a:t>
            </a:r>
            <a:endParaRPr lang="en-US" sz="2300" dirty="0"/>
          </a:p>
          <a:p>
            <a:pPr algn="l" marL="228600" indent="-228600">
              <a:lnSpc>
                <a:spcPct val="115000"/>
              </a:lnSpc>
              <a:spcAft>
                <a:spcPts val="1300"/>
              </a:spcAft>
              <a:buSzPct val="100000"/>
              <a:buChar char="▪"/>
            </a:pPr>
            <a:r>
              <a:rPr lang="en-US" sz="2300" b="1" i="1" dirty="0">
                <a:solidFill>
                  <a:srgbClr val="222B33"/>
                </a:solidFill>
                <a:latin typeface="Calibri" pitchFamily="34" charset="0"/>
                <a:ea typeface="Calibri" pitchFamily="34" charset="-122"/>
                <a:cs typeface="Calibri" pitchFamily="34" charset="-120"/>
              </a:rPr>
              <a:t>Nguyên tắc quan trọng: rubric phải được công bố TRƯỚC khi học sinh bắt đầu làm bài, không phải sau khi nộp.</a:t>
            </a:r>
            <a:endParaRPr lang="en-US" sz="23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rubric lập trình — Tiêu chí “Tính đúng đắn”</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474720"/>
                <a:gridCol w="7726680"/>
              </a:tblGrid>
              <a:tr h="566928">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Mức</a:t>
                      </a:r>
                      <a:endParaRPr lang="en-US" sz="18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Mô tả</a:t>
                      </a:r>
                      <a:endParaRPr lang="en-US" sz="18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Xuất sắc (4đ)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Chạy đúng với mọi trường hợp kể cả đặc biệt</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Đạt (3đ)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Chạy đúng với trường hợp thông thường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Cần cải thiện (2đ)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Chạy được nhưng có lỗi ở một số trường hợp</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Chưa đạt (1đ)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Không chạy được hoặc kết quả sai</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rubric lập trình — Tiêu chí “Chất lượng code”</a:t>
            </a:r>
            <a:endParaRPr lang="en-US" sz="30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474720"/>
                <a:gridCol w="7726680"/>
              </a:tblGrid>
              <a:tr h="566928">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Mức</a:t>
                      </a:r>
                      <a:endParaRPr lang="en-US" sz="18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Mô tả</a:t>
                      </a:r>
                      <a:endParaRPr lang="en-US" sz="18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Xuất sắc (4đ)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Code gọn, có chú thích, dễ đọc</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Đạt (3đ)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Code đúng nhưng dài hoặc thiếu chú thích</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Cần cải thiện (2đ)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Code lộn xộn, khó theo dõi</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Chưa đạt (1đ)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Code không có cấu trúc rõ ràng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rubric lập trình — Tiêu chí “Hoàn chỉnh”</a:t>
            </a:r>
            <a:endParaRPr lang="en-US" sz="3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474720"/>
                <a:gridCol w="7726680"/>
              </a:tblGrid>
              <a:tr h="566928">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Mức</a:t>
                      </a:r>
                      <a:endParaRPr lang="en-US" sz="18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Mô tả</a:t>
                      </a:r>
                      <a:endParaRPr lang="en-US" sz="18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Xuất sắc (4đ)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Đủ tất cả yêu cầu kể cả nâng cao</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Đạt (3đ)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Đủ yêu cầu cơ bản</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Cần cải thiện (2đ)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Thiếu một phần yêu cầu cơ bản</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Chưa đạt (1đ)</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50" dirty="0">
                          <a:solidFill>
                            <a:srgbClr val="222B33"/>
                          </a:solidFill>
                          <a:latin typeface="Calibri" pitchFamily="34" charset="0"/>
                          <a:ea typeface="Calibri" pitchFamily="34" charset="-122"/>
                          <a:cs typeface="Calibri" pitchFamily="34" charset="-120"/>
                        </a:rPr>
                        <a:t>Thiếu nhiều phần yêu cầu</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Đánh giá đồng đẳng có hướng dẫn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Học sinh đánh giá sản phẩm của nhau là hình thức đánh giá có giá trị kép:</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Người được đánh giá nhận phản hồi đa chiều.</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Người đánh giá phát triển tư duy phân tích.</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Để hiệu quả: GV phải cung cấp tiêu chí đánh giá cụ thể và hướng dẫn cách đưa ra nhận xét có tính xây dựng.</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70</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Phản hồi kịp thời và có giá trị cải thiện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b="1" dirty="0">
                <a:solidFill>
                  <a:srgbClr val="222B33"/>
                </a:solidFill>
                <a:latin typeface="Calibri" pitchFamily="34" charset="0"/>
                <a:ea typeface="Calibri" pitchFamily="34" charset="-122"/>
                <a:cs typeface="Calibri" pitchFamily="34" charset="-120"/>
              </a:rPr>
              <a:t>Phản hồi cần:</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Kịp thời — trong hoặc ngay sau tiết học.</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Cụ thể — chỉ ra đúng điểm cần cải thiện.</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Hướng đến tương lai — gợi ý cách làm tốt hơn lần sau.</a:t>
            </a:r>
            <a:endParaRPr lang="en-US" sz="22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Một nhận xét ngắn ghi trực tiếp vào file của học sinh đôi khi có giá trị hơn nhiều so với điểm số.</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Xây dựng văn hóa lớp học tôn trọng thiết bị và dữ liệu</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Ngay từ đầu năm học, giáo viên cần hình thành ở học sinh ý thức:</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Thiết bị phòng máy là tài sản chung cần được bảo quản.</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Dữ liệu của người khác phải được tôn trọng — không xem, không sửa, không xóa file của bạn.</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Tài khoản cá nhân cần được bảo vệ — không chia sẻ mật khẩu, đăng xuất sau khi dùng xong.</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72</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Hướng dẫn học sinh an toàn thông tin thực tế</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50" b="1" dirty="0">
                <a:solidFill>
                  <a:srgbClr val="222B33"/>
                </a:solidFill>
                <a:latin typeface="Calibri" pitchFamily="34" charset="0"/>
                <a:ea typeface="Calibri" pitchFamily="34" charset="-122"/>
                <a:cs typeface="Calibri" pitchFamily="34" charset="-120"/>
              </a:rPr>
              <a:t>Giáo viên Tin học có trách nhiệm đặc biệt trong việc hình thành thói quen an toàn thông tin cho học sinh:</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Thoát tài khoản sau khi sử dụng máy công cộng.</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Không lưu mật khẩu trên máy dùng chung.</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Nhận diện email và đường dẫn lừa đảo.</a:t>
            </a:r>
            <a:endParaRPr lang="en-US" sz="20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Những hành vi này cần được nhắc nhở và củng cố thường xuyên trong giờ học, không chỉ được dạy một lần.</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73</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6.6.2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Hướng dẫn lưu và bảo vệ sản phẩm học tập</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300" dirty="0">
                <a:solidFill>
                  <a:srgbClr val="222B33"/>
                </a:solidFill>
                <a:latin typeface="Calibri" pitchFamily="34" charset="0"/>
                <a:ea typeface="Calibri" pitchFamily="34" charset="-122"/>
                <a:cs typeface="Calibri" pitchFamily="34" charset="-120"/>
              </a:rPr>
              <a:t>Rèn luyện thói quen lưu bài thường xuyên.</a:t>
            </a:r>
            <a:endParaRPr lang="en-US" sz="2300" dirty="0"/>
          </a:p>
          <a:p>
            <a:pPr algn="l" marL="228600" indent="-228600">
              <a:lnSpc>
                <a:spcPct val="115000"/>
              </a:lnSpc>
              <a:spcAft>
                <a:spcPts val="1300"/>
              </a:spcAft>
              <a:buSzPct val="100000"/>
              <a:buChar char="▪"/>
            </a:pPr>
            <a:r>
              <a:rPr lang="en-US" sz="2300" dirty="0">
                <a:solidFill>
                  <a:srgbClr val="222B33"/>
                </a:solidFill>
                <a:latin typeface="Calibri" pitchFamily="34" charset="0"/>
                <a:ea typeface="Calibri" pitchFamily="34" charset="-122"/>
                <a:cs typeface="Calibri" pitchFamily="34" charset="-120"/>
              </a:rPr>
              <a:t>Đặt tên file có quy tắc (họ tên – lớp – tên bài – ngày).</a:t>
            </a:r>
            <a:endParaRPr lang="en-US" sz="2300" dirty="0"/>
          </a:p>
          <a:p>
            <a:pPr algn="l" marL="228600" indent="-228600">
              <a:lnSpc>
                <a:spcPct val="115000"/>
              </a:lnSpc>
              <a:spcAft>
                <a:spcPts val="1300"/>
              </a:spcAft>
              <a:buSzPct val="100000"/>
              <a:buChar char="▪"/>
            </a:pPr>
            <a:r>
              <a:rPr lang="en-US" sz="2300" dirty="0">
                <a:solidFill>
                  <a:srgbClr val="222B33"/>
                </a:solidFill>
                <a:latin typeface="Calibri" pitchFamily="34" charset="0"/>
                <a:ea typeface="Calibri" pitchFamily="34" charset="-122"/>
                <a:cs typeface="Calibri" pitchFamily="34" charset="-120"/>
              </a:rPr>
              <a:t>Lưu bài vào đúng thư mục được chỉ định.</a:t>
            </a:r>
            <a:endParaRPr lang="en-US" sz="23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Những thói quen tưởng nhỏ nhặt này hình thành phong cách làm việc chuyên nghiệp.</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74</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6.7</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Tổ chức dạy học tiết ôn tập trong dạy học Tin học</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75</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Bản chất của tiết ôn tập</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b="1" i="1" dirty="0">
                <a:solidFill>
                  <a:srgbClr val="222B33"/>
                </a:solidFill>
                <a:latin typeface="Calibri" pitchFamily="34" charset="0"/>
                <a:ea typeface="Calibri" pitchFamily="34" charset="-122"/>
                <a:cs typeface="Calibri" pitchFamily="34" charset="-120"/>
              </a:rPr>
              <a:t>Tiết ôn tập KHÔNG phải là tiết “dạy lại những gì đã dạy” — đây là quan niệm sai lầm phổ biến nhất.</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Bản chất: tổ chức cho HS tái cấu trúc, hệ thống hóa kiến thức đã tích lũy, đồng thời phát hiện và lấp đầy khoảng trống, nâng mức vận dụng lên cao hơn.</a:t>
            </a:r>
            <a:endParaRPr lang="en-US" sz="1950" dirty="0"/>
          </a:p>
          <a:p>
            <a:pPr algn="l" marL="228600" indent="-228600">
              <a:lnSpc>
                <a:spcPct val="115000"/>
              </a:lnSpc>
              <a:spcAft>
                <a:spcPts val="1300"/>
              </a:spcAft>
              <a:buSzPct val="100000"/>
              <a:buChar char="▪"/>
            </a:pPr>
            <a:r>
              <a:rPr lang="en-US" sz="1950" b="1" dirty="0">
                <a:solidFill>
                  <a:srgbClr val="222B33"/>
                </a:solidFill>
                <a:latin typeface="Calibri" pitchFamily="34" charset="0"/>
                <a:ea typeface="Calibri" pitchFamily="34" charset="-122"/>
                <a:cs typeface="Calibri" pitchFamily="34" charset="-120"/>
              </a:rPr>
              <a:t>Khác biệt căn bản: trong tiết ôn tập, HỌC SINH LÀ CHỦ THỂ TÁI KIẾN TẠO — không phải người nhận thông tin lần đầu.</a:t>
            </a:r>
            <a:endParaRPr lang="en-US" sz="19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Một tiết ôn tập tốt là tiết HS ra về với bức tranh toàn cảnh rõ hơn — không phải chỉ nhớ lại từng mảnh kiến thức rời rạc.</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76</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Vai trò đặc thù trong dạy học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550" b="1" dirty="0">
                <a:solidFill>
                  <a:srgbClr val="222B33"/>
                </a:solidFill>
                <a:latin typeface="Calibri" pitchFamily="34" charset="0"/>
                <a:ea typeface="Calibri" pitchFamily="34" charset="-122"/>
                <a:cs typeface="Calibri" pitchFamily="34" charset="-120"/>
              </a:rPr>
              <a:t>Thứ nhất — Tính phân tầng cao</a:t>
            </a:r>
            <a:endParaRPr lang="en-US" sz="1550" dirty="0"/>
          </a:p>
          <a:p>
            <a:pPr algn="l" lvl="1" marL="508000" indent="-254000">
              <a:lnSpc>
                <a:spcPct val="115000"/>
              </a:lnSpc>
              <a:spcAft>
                <a:spcPts val="900"/>
              </a:spcAft>
              <a:buSzPct val="100000"/>
              <a:buChar char="–"/>
            </a:pPr>
            <a:r>
              <a:rPr lang="en-US" sz="1250" dirty="0">
                <a:solidFill>
                  <a:srgbClr val="5B6B79"/>
                </a:solidFill>
                <a:latin typeface="Calibri" pitchFamily="34" charset="0"/>
                <a:ea typeface="Calibri" pitchFamily="34" charset="-122"/>
                <a:cs typeface="Calibri" pitchFamily="34" charset="-120"/>
              </a:rPr>
              <a:t>Kiến thức Tin học phụ thuộc lẫn nhau rất cao (không hiểu vòng lặp thì không viết được hàm). Tiết ôn tập củng cố các mắt xích quan trọng, tránh “học bài sau, quên bài trước”.</a:t>
            </a:r>
            <a:endParaRPr lang="en-US" sz="1550" dirty="0"/>
          </a:p>
          <a:p>
            <a:pPr algn="l" marL="228600" indent="-228600">
              <a:lnSpc>
                <a:spcPct val="115000"/>
              </a:lnSpc>
              <a:spcAft>
                <a:spcPts val="1300"/>
              </a:spcAft>
              <a:buSzPct val="100000"/>
              <a:buChar char="▪"/>
            </a:pPr>
            <a:r>
              <a:rPr lang="en-US" sz="1550" b="1" dirty="0">
                <a:solidFill>
                  <a:srgbClr val="222B33"/>
                </a:solidFill>
                <a:latin typeface="Calibri" pitchFamily="34" charset="0"/>
                <a:ea typeface="Calibri" pitchFamily="34" charset="-122"/>
                <a:cs typeface="Calibri" pitchFamily="34" charset="-120"/>
              </a:rPr>
              <a:t>Thứ hai — Luyện tập có chủ đích</a:t>
            </a:r>
            <a:endParaRPr lang="en-US" sz="1550" dirty="0"/>
          </a:p>
          <a:p>
            <a:pPr algn="l" lvl="1" marL="508000" indent="-254000">
              <a:lnSpc>
                <a:spcPct val="115000"/>
              </a:lnSpc>
              <a:spcAft>
                <a:spcPts val="900"/>
              </a:spcAft>
              <a:buSzPct val="100000"/>
              <a:buChar char="–"/>
            </a:pPr>
            <a:r>
              <a:rPr lang="en-US" sz="1250" dirty="0">
                <a:solidFill>
                  <a:srgbClr val="5B6B79"/>
                </a:solidFill>
                <a:latin typeface="Calibri" pitchFamily="34" charset="0"/>
                <a:ea typeface="Calibri" pitchFamily="34" charset="-122"/>
                <a:cs typeface="Calibri" pitchFamily="34" charset="-120"/>
              </a:rPr>
              <a:t>Kỹ năng thực hành đòi hỏi luyện tập lặp lại có chủ đích (deliberate practice) — tiết ôn tập cung cấp thêm một chu kỳ luyện tập ở mức tích hợp, nâng cao hơn.</a:t>
            </a:r>
            <a:endParaRPr lang="en-US" sz="1550" dirty="0"/>
          </a:p>
          <a:p>
            <a:pPr algn="l" marL="228600" indent="-228600">
              <a:lnSpc>
                <a:spcPct val="115000"/>
              </a:lnSpc>
              <a:spcAft>
                <a:spcPts val="1300"/>
              </a:spcAft>
              <a:buSzPct val="100000"/>
              <a:buChar char="▪"/>
            </a:pPr>
            <a:r>
              <a:rPr lang="en-US" sz="1550" b="1" dirty="0">
                <a:solidFill>
                  <a:srgbClr val="222B33"/>
                </a:solidFill>
                <a:latin typeface="Calibri" pitchFamily="34" charset="0"/>
                <a:ea typeface="Calibri" pitchFamily="34" charset="-122"/>
                <a:cs typeface="Calibri" pitchFamily="34" charset="-120"/>
              </a:rPr>
              <a:t>Thứ ba — Chẩn đoán hệ thống</a:t>
            </a:r>
            <a:endParaRPr lang="en-US" sz="1550" dirty="0"/>
          </a:p>
          <a:p>
            <a:pPr algn="l" lvl="1" marL="508000" indent="-254000">
              <a:lnSpc>
                <a:spcPct val="115000"/>
              </a:lnSpc>
              <a:spcAft>
                <a:spcPts val="900"/>
              </a:spcAft>
              <a:buSzPct val="100000"/>
              <a:buChar char="–"/>
            </a:pPr>
            <a:r>
              <a:rPr lang="en-US" sz="1250" dirty="0">
                <a:solidFill>
                  <a:srgbClr val="5B6B79"/>
                </a:solidFill>
                <a:latin typeface="Calibri" pitchFamily="34" charset="0"/>
                <a:ea typeface="Calibri" pitchFamily="34" charset="-122"/>
                <a:cs typeface="Calibri" pitchFamily="34" charset="-120"/>
              </a:rPr>
              <a:t>Thời điểm lý tưởng để GV đánh giá bức tranh toàn diện về mức độ nắm vững của HS trước khi kiểm tra chính thức.</a:t>
            </a:r>
            <a:endParaRPr lang="en-US" sz="15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77</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Ba loại tiết ôn tập</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Ôn tập cuối chủ đề</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Sau một chủ đề (3–5 bài) — hệ thống hóa kiến thức trong phạm vi chủ đề, đảm bảo mọi HS đạt mục tiêu tối thiểu.</a:t>
            </a:r>
            <a:endParaRPr lang="en-US" sz="1800" dirty="0"/>
          </a:p>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Ôn tập cuối học kỳ / cuối năm</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Phạm vi rộng hơn — kết nối các chủ đề thành bức tranh tổng thể qua “bài toán tích hợp”.</a:t>
            </a:r>
            <a:endParaRPr lang="en-US" sz="1800" dirty="0"/>
          </a:p>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Ôn tập trước kiểm tra</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Mục tiêu hẹp, tính “phòng thủ” — tập trung điểm còn yếu, làm rõ yêu cầu kiểm tra, tạo tự tin.</a:t>
            </a:r>
            <a:endParaRPr lang="en-US" sz="18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78</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Nguyên tắc thiết kế tiết ôn tập (1/2)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500" b="1" dirty="0">
                <a:solidFill>
                  <a:srgbClr val="222B33"/>
                </a:solidFill>
                <a:latin typeface="Calibri" pitchFamily="34" charset="0"/>
                <a:ea typeface="Calibri" pitchFamily="34" charset="-122"/>
                <a:cs typeface="Calibri" pitchFamily="34" charset="-120"/>
              </a:rPr>
              <a:t>Nguyên tắc 1 — Học sinh là người ôn tập, không phải giáo viên</a:t>
            </a:r>
            <a:endParaRPr lang="en-US" sz="1500" dirty="0"/>
          </a:p>
          <a:p>
            <a:pPr algn="l" lvl="1" marL="508000" indent="-254000">
              <a:lnSpc>
                <a:spcPct val="115000"/>
              </a:lnSpc>
              <a:spcAft>
                <a:spcPts val="900"/>
              </a:spcAft>
              <a:buSzPct val="100000"/>
              <a:buChar char="–"/>
            </a:pPr>
            <a:r>
              <a:rPr lang="en-US" sz="1200" dirty="0">
                <a:solidFill>
                  <a:srgbClr val="5B6B79"/>
                </a:solidFill>
                <a:latin typeface="Calibri" pitchFamily="34" charset="0"/>
                <a:ea typeface="Calibri" pitchFamily="34" charset="-122"/>
                <a:cs typeface="Calibri" pitchFamily="34" charset="-120"/>
              </a:rPr>
              <a:t>GV không chiếm thời gian “tóm tắt lại” và “giải lại bài mẫu” — HS phải là người tóm tắt, người giải, người nhận xét.</a:t>
            </a:r>
            <a:endParaRPr lang="en-US" sz="1500" dirty="0"/>
          </a:p>
          <a:p>
            <a:pPr algn="l" marL="228600" indent="-228600">
              <a:lnSpc>
                <a:spcPct val="115000"/>
              </a:lnSpc>
              <a:spcAft>
                <a:spcPts val="1300"/>
              </a:spcAft>
              <a:buSzPct val="100000"/>
              <a:buChar char="▪"/>
            </a:pPr>
            <a:r>
              <a:rPr lang="en-US" sz="1500" b="1" dirty="0">
                <a:solidFill>
                  <a:srgbClr val="222B33"/>
                </a:solidFill>
                <a:latin typeface="Calibri" pitchFamily="34" charset="0"/>
                <a:ea typeface="Calibri" pitchFamily="34" charset="-122"/>
                <a:cs typeface="Calibri" pitchFamily="34" charset="-120"/>
              </a:rPr>
              <a:t>Nguyên tắc 2 — Ôn có hệ thống, không theo thứ tự bài học</a:t>
            </a:r>
            <a:endParaRPr lang="en-US" sz="1500" dirty="0"/>
          </a:p>
          <a:p>
            <a:pPr algn="l" lvl="1" marL="508000" indent="-254000">
              <a:lnSpc>
                <a:spcPct val="115000"/>
              </a:lnSpc>
              <a:spcAft>
                <a:spcPts val="900"/>
              </a:spcAft>
              <a:buSzPct val="100000"/>
              <a:buChar char="–"/>
            </a:pPr>
            <a:r>
              <a:rPr lang="en-US" sz="1200" dirty="0">
                <a:solidFill>
                  <a:srgbClr val="5B6B79"/>
                </a:solidFill>
                <a:latin typeface="Calibri" pitchFamily="34" charset="0"/>
                <a:ea typeface="Calibri" pitchFamily="34" charset="-122"/>
                <a:cs typeface="Calibri" pitchFamily="34" charset="-120"/>
              </a:rPr>
              <a:t>Tổ chức lại kiến thức theo cấu trúc logic (nguyên nhân–kết quả, đơn giản đến phức tạp). Sơ đồ tư duy/bảng tổng hợp là công cụ phù hợp.</a:t>
            </a:r>
            <a:endParaRPr lang="en-US" sz="1500" dirty="0"/>
          </a:p>
          <a:p>
            <a:pPr algn="l" marL="228600" indent="-228600">
              <a:lnSpc>
                <a:spcPct val="115000"/>
              </a:lnSpc>
              <a:spcAft>
                <a:spcPts val="1300"/>
              </a:spcAft>
              <a:buSzPct val="100000"/>
              <a:buChar char="▪"/>
            </a:pPr>
            <a:r>
              <a:rPr lang="en-US" sz="1500" b="1" dirty="0">
                <a:solidFill>
                  <a:srgbClr val="222B33"/>
                </a:solidFill>
                <a:latin typeface="Calibri" pitchFamily="34" charset="0"/>
                <a:ea typeface="Calibri" pitchFamily="34" charset="-122"/>
                <a:cs typeface="Calibri" pitchFamily="34" charset="-120"/>
              </a:rPr>
              <a:t>Nguyên tắc 3 — Bài tập ôn tập ở mức cao hơn bài học mới</a:t>
            </a:r>
            <a:endParaRPr lang="en-US" sz="1500" dirty="0"/>
          </a:p>
          <a:p>
            <a:pPr algn="l" lvl="1" marL="508000" indent="-254000">
              <a:lnSpc>
                <a:spcPct val="115000"/>
              </a:lnSpc>
              <a:spcAft>
                <a:spcPts val="900"/>
              </a:spcAft>
              <a:buSzPct val="100000"/>
              <a:buChar char="–"/>
            </a:pPr>
            <a:r>
              <a:rPr lang="en-US" sz="1200" dirty="0">
                <a:solidFill>
                  <a:srgbClr val="5B6B79"/>
                </a:solidFill>
                <a:latin typeface="Calibri" pitchFamily="34" charset="0"/>
                <a:ea typeface="Calibri" pitchFamily="34" charset="-122"/>
                <a:cs typeface="Calibri" pitchFamily="34" charset="-120"/>
              </a:rPr>
              <a:t>Cần ít nhất một yếu tố: kết hợp nhiều đơn vị kiến thức, bối cảnh thực tế mới, hoặc đảo ngược chiều tư duy (đọc code tìm lỗi thay vì viết code).</a:t>
            </a:r>
            <a:endParaRPr lang="en-US" sz="15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79</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Nguyên tắc thiết kế tiết ôn tập (2/2)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00" b="1" dirty="0">
                <a:solidFill>
                  <a:srgbClr val="222B33"/>
                </a:solidFill>
                <a:latin typeface="Calibri" pitchFamily="34" charset="0"/>
                <a:ea typeface="Calibri" pitchFamily="34" charset="-122"/>
                <a:cs typeface="Calibri" pitchFamily="34" charset="-120"/>
              </a:rPr>
              <a:t>Nguyên tắc 4 — Phân hóa ngay trong tiết ôn tập</a:t>
            </a:r>
            <a:endParaRPr lang="en-US" sz="1900" dirty="0"/>
          </a:p>
          <a:p>
            <a:pPr algn="l" lvl="1" marL="508000" indent="-254000">
              <a:lnSpc>
                <a:spcPct val="115000"/>
              </a:lnSpc>
              <a:spcAft>
                <a:spcPts val="900"/>
              </a:spcAft>
              <a:buSzPct val="100000"/>
              <a:buChar char="–"/>
            </a:pPr>
            <a:r>
              <a:rPr lang="en-US" sz="1600" dirty="0">
                <a:solidFill>
                  <a:srgbClr val="5B6B79"/>
                </a:solidFill>
                <a:latin typeface="Calibri" pitchFamily="34" charset="0"/>
                <a:ea typeface="Calibri" pitchFamily="34" charset="-122"/>
                <a:cs typeface="Calibri" pitchFamily="34" charset="-120"/>
              </a:rPr>
              <a:t>Chênh lệch kiến thức lộ rõ nhất lúc này — thiết kế bài tập nhiều tầng bậc; áp dụng mô hình hỗ trợ đồng đẳng.</a:t>
            </a:r>
            <a:endParaRPr lang="en-US" sz="1900" dirty="0"/>
          </a:p>
          <a:p>
            <a:pPr algn="l" marL="228600" indent="-228600">
              <a:lnSpc>
                <a:spcPct val="115000"/>
              </a:lnSpc>
              <a:spcAft>
                <a:spcPts val="1300"/>
              </a:spcAft>
              <a:buSzPct val="100000"/>
              <a:buChar char="▪"/>
            </a:pPr>
            <a:r>
              <a:rPr lang="en-US" sz="1900" b="1" dirty="0">
                <a:solidFill>
                  <a:srgbClr val="222B33"/>
                </a:solidFill>
                <a:latin typeface="Calibri" pitchFamily="34" charset="0"/>
                <a:ea typeface="Calibri" pitchFamily="34" charset="-122"/>
                <a:cs typeface="Calibri" pitchFamily="34" charset="-120"/>
              </a:rPr>
              <a:t>Nguyên tắc 5 — Tạo ra sản phẩm hệ thống hóa</a:t>
            </a:r>
            <a:endParaRPr lang="en-US" sz="1900" dirty="0"/>
          </a:p>
          <a:p>
            <a:pPr algn="l" lvl="1" marL="508000" indent="-254000">
              <a:lnSpc>
                <a:spcPct val="115000"/>
              </a:lnSpc>
              <a:spcAft>
                <a:spcPts val="900"/>
              </a:spcAft>
              <a:buSzPct val="100000"/>
              <a:buChar char="–"/>
            </a:pPr>
            <a:r>
              <a:rPr lang="en-US" sz="1600" dirty="0">
                <a:solidFill>
                  <a:srgbClr val="5B6B79"/>
                </a:solidFill>
                <a:latin typeface="Calibri" pitchFamily="34" charset="0"/>
                <a:ea typeface="Calibri" pitchFamily="34" charset="-122"/>
                <a:cs typeface="Calibri" pitchFamily="34" charset="-120"/>
              </a:rPr>
              <a:t>Mỗi tiết nên kết thúc bằng sơ đồ tư duy, bảng tổng hợp, checklist kỹ năng hoặc sản phẩm số tích hợp nhỏ — bằng chứng cụ thể, tài liệu để ôn tiếp ở nhà.</a:t>
            </a:r>
            <a:endParaRPr lang="en-US" sz="19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80</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1 — Khởi động và định hướng (5–7 phút)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Mục tiêu: kích hoạt kiến thức nền, đặt vấn đề tổng thể, tạo hứng khởi.</a:t>
            </a:r>
            <a:endParaRPr lang="en-US" sz="2050" dirty="0"/>
          </a:p>
          <a:p>
            <a:pPr algn="l" marL="228600" indent="-228600">
              <a:lnSpc>
                <a:spcPct val="115000"/>
              </a:lnSpc>
              <a:spcAft>
                <a:spcPts val="1300"/>
              </a:spcAft>
              <a:buSzPct val="100000"/>
              <a:buChar char="▪"/>
            </a:pPr>
            <a:r>
              <a:rPr lang="en-US" sz="2050" i="1" dirty="0">
                <a:solidFill>
                  <a:srgbClr val="222B33"/>
                </a:solidFill>
                <a:latin typeface="Calibri" pitchFamily="34" charset="0"/>
                <a:ea typeface="Calibri" pitchFamily="34" charset="-122"/>
                <a:cs typeface="Calibri" pitchFamily="34" charset="-120"/>
              </a:rPr>
              <a:t>Trả lời câu hỏi: “Chúng ta đã đi qua những gì, và hôm nay sẽ nhìn lại tổng thể như thế nào?”</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Có thể mở đầu bằng một bài toán “thách đố” tích hợp nhiều kiến thức — chưa cần giải ngay, chỉ để HS nhận ra cần dùng bao nhiêu kiến thức đã học.</a:t>
            </a:r>
            <a:endParaRPr lang="en-US" sz="20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81</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khởi động (Ôn tập Python cơ bản, Lớp 10)</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50" i="1" dirty="0">
                <a:solidFill>
                  <a:srgbClr val="222B33"/>
                </a:solidFill>
                <a:latin typeface="Calibri" pitchFamily="34" charset="0"/>
                <a:ea typeface="Calibri" pitchFamily="34" charset="-122"/>
                <a:cs typeface="Calibri" pitchFamily="34" charset="-120"/>
              </a:rPr>
              <a:t>GV chiếu bài toán: “Nhận danh sách điểm HS, tìm điểm cao nhất, tính điểm trung bình lớp, in danh sách HS trên trung bình sắp xếp giảm dần.”</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HS nhận ra: bài này cần vòng lặp, hàm, danh sách, điều kiện, sắp xếp — gần như toàn bộ nội dung vừa học.</a:t>
            </a:r>
            <a:endParaRPr lang="en-US" sz="1950" dirty="0"/>
          </a:p>
          <a:p>
            <a:pPr algn="l" marL="228600" indent="-228600">
              <a:lnSpc>
                <a:spcPct val="115000"/>
              </a:lnSpc>
              <a:spcAft>
                <a:spcPts val="1300"/>
              </a:spcAft>
              <a:buSzPct val="100000"/>
              <a:buChar char="▪"/>
            </a:pPr>
            <a:r>
              <a:rPr lang="en-US" sz="1950" dirty="0">
                <a:solidFill>
                  <a:srgbClr val="222B33"/>
                </a:solidFill>
                <a:latin typeface="Calibri" pitchFamily="34" charset="0"/>
                <a:ea typeface="Calibri" pitchFamily="34" charset="-122"/>
                <a:cs typeface="Calibri" pitchFamily="34" charset="-120"/>
              </a:rPr>
              <a:t>GV: “Chúng ta sẽ ôn lại từng phần rồi cuối tiết cùng giải bài này.”</a:t>
            </a:r>
            <a:endParaRPr lang="en-US" sz="19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Cách khác: hỏi “Nếu hôm nay em phải giải thích cho người chưa học Tin học hiểu về [chủ đề X], em sẽ nói gì trong một phút?”</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82</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2 — Hệ thống hóa kiến thức (10–12 phút)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Mục tiêu: cấu trúc lại kiến thức theo hệ thống logic, do học sinh chủ động thực hiện.</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Xây dựng sơ đồ tư duy nhóm: mỗi nhóm 3–4 HS xây sơ đồ cho một phần kiến thức, rồi chia sẻ, bổ sung cho nhau.</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Kỹ thuật “mảnh ghép” (Jigsaw): mỗi HS hệ thống hóa một phần, rồi “dạy lại” cho bạn trong nhóm.</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Bảng tổng hợp do học sinh điền: GV chuẩn bị bảng có cấu trúc (khái niệm, cú pháp, ví dụ, lỗi thường gặp) để trống, HS điền trong 5 phút.</a:t>
            </a:r>
            <a:endParaRPr lang="en-US" sz="17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83</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bảng tổng hợp — Cấu trúc điều khiển Python (1/2)</a:t>
            </a:r>
            <a:endParaRPr lang="en-US" sz="30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194560"/>
                <a:gridCol w="2468880"/>
                <a:gridCol w="3291840"/>
                <a:gridCol w="3246120"/>
              </a:tblGrid>
              <a:tr h="56692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Cấu trúc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Cú pháp cơ bản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Dùng khi nào</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Lỗi phổ biến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Rẽ nhánh if-else</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if ĐK: ... else: ...</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Cần chọn 1 trong 2 hoặc nhiều trường hợp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Quên :, sai thụt lề</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Vòng lặp for</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for i in range(...):</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Biết trước số lần lặp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Dùng range(n) thay vì range(1, n+1)</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84</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bảng tổng hợp — Cấu trúc điều khiển Python (2/2)</a:t>
            </a:r>
            <a:endParaRPr lang="en-US" sz="30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194560"/>
                <a:gridCol w="2468880"/>
                <a:gridCol w="3291840"/>
                <a:gridCol w="3246120"/>
              </a:tblGrid>
              <a:tr h="56692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Cấu trúc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Cú pháp cơ bản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Dùng khi nào</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Lỗi phổ biến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Vòng lặp while</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while ĐK: ...</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Không biết trước số lần lặp, dừng theo điều kiện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Quên cập nhật biến → vòng lặp vô hạn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Break / Continue</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break / continue</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Thoát vòng lặp sớm / bỏ qua một vòng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Đặt ngoài vòng lặp → lỗi cú pháp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85</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3 — Ba tầng bài tập ôn tập (20–22 phút)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00" b="1" dirty="0">
                <a:solidFill>
                  <a:srgbClr val="222B33"/>
                </a:solidFill>
                <a:latin typeface="Calibri" pitchFamily="34" charset="0"/>
                <a:ea typeface="Calibri" pitchFamily="34" charset="-122"/>
                <a:cs typeface="Calibri" pitchFamily="34" charset="-120"/>
              </a:rPr>
              <a:t>Tầng 1 — Bài tập củng cố (bắt buộc)</a:t>
            </a:r>
            <a:endParaRPr lang="en-US" sz="1700" dirty="0"/>
          </a:p>
          <a:p>
            <a:pPr algn="l" lvl="1" marL="508000" indent="-254000">
              <a:lnSpc>
                <a:spcPct val="115000"/>
              </a:lnSpc>
              <a:spcAft>
                <a:spcPts val="900"/>
              </a:spcAft>
              <a:buSzPct val="100000"/>
              <a:buChar char="–"/>
            </a:pPr>
            <a:r>
              <a:rPr lang="en-US" sz="1400" dirty="0">
                <a:solidFill>
                  <a:srgbClr val="5B6B79"/>
                </a:solidFill>
                <a:latin typeface="Calibri" pitchFamily="34" charset="0"/>
                <a:ea typeface="Calibri" pitchFamily="34" charset="-122"/>
                <a:cs typeface="Calibri" pitchFamily="34" charset="-120"/>
              </a:rPr>
              <a:t>Tất cả HS phải hoàn thành; vận dụng chính xác từng đơn vị kiến thức, bối cảnh thực tế đơn giản.</a:t>
            </a:r>
            <a:endParaRPr lang="en-US" sz="1700" dirty="0"/>
          </a:p>
          <a:p>
            <a:pPr algn="l" marL="228600" indent="-228600">
              <a:lnSpc>
                <a:spcPct val="115000"/>
              </a:lnSpc>
              <a:spcAft>
                <a:spcPts val="1300"/>
              </a:spcAft>
              <a:buSzPct val="100000"/>
              <a:buChar char="▪"/>
            </a:pPr>
            <a:r>
              <a:rPr lang="en-US" sz="1700" b="1" dirty="0">
                <a:solidFill>
                  <a:srgbClr val="222B33"/>
                </a:solidFill>
                <a:latin typeface="Calibri" pitchFamily="34" charset="0"/>
                <a:ea typeface="Calibri" pitchFamily="34" charset="-122"/>
                <a:cs typeface="Calibri" pitchFamily="34" charset="-120"/>
              </a:rPr>
              <a:t>Tầng 2 — Bài tập kết hợp (khuyến khích)</a:t>
            </a:r>
            <a:endParaRPr lang="en-US" sz="1700" dirty="0"/>
          </a:p>
          <a:p>
            <a:pPr algn="l" lvl="1" marL="508000" indent="-254000">
              <a:lnSpc>
                <a:spcPct val="115000"/>
              </a:lnSpc>
              <a:spcAft>
                <a:spcPts val="900"/>
              </a:spcAft>
              <a:buSzPct val="100000"/>
              <a:buChar char="–"/>
            </a:pPr>
            <a:r>
              <a:rPr lang="en-US" sz="1400" dirty="0">
                <a:solidFill>
                  <a:srgbClr val="5B6B79"/>
                </a:solidFill>
                <a:latin typeface="Calibri" pitchFamily="34" charset="0"/>
                <a:ea typeface="Calibri" pitchFamily="34" charset="-122"/>
                <a:cs typeface="Calibri" pitchFamily="34" charset="-120"/>
              </a:rPr>
              <a:t>Kết hợp 2+ đơn vị kiến thức để giải vấn đề phức tạp hơn — “kiểm tra sự kết nối”.</a:t>
            </a:r>
            <a:endParaRPr lang="en-US" sz="1700" dirty="0"/>
          </a:p>
          <a:p>
            <a:pPr algn="l" marL="228600" indent="-228600">
              <a:lnSpc>
                <a:spcPct val="115000"/>
              </a:lnSpc>
              <a:spcAft>
                <a:spcPts val="1300"/>
              </a:spcAft>
              <a:buSzPct val="100000"/>
              <a:buChar char="▪"/>
            </a:pPr>
            <a:r>
              <a:rPr lang="en-US" sz="1700" b="1" dirty="0">
                <a:solidFill>
                  <a:srgbClr val="222B33"/>
                </a:solidFill>
                <a:latin typeface="Calibri" pitchFamily="34" charset="0"/>
                <a:ea typeface="Calibri" pitchFamily="34" charset="-122"/>
                <a:cs typeface="Calibri" pitchFamily="34" charset="-120"/>
              </a:rPr>
              <a:t>Tầng 3 — Bài tập nâng cao / mở (tự chọn)</a:t>
            </a:r>
            <a:endParaRPr lang="en-US" sz="1700" dirty="0"/>
          </a:p>
          <a:p>
            <a:pPr algn="l" lvl="1" marL="508000" indent="-254000">
              <a:lnSpc>
                <a:spcPct val="115000"/>
              </a:lnSpc>
              <a:spcAft>
                <a:spcPts val="900"/>
              </a:spcAft>
              <a:buSzPct val="100000"/>
              <a:buChar char="–"/>
            </a:pPr>
            <a:r>
              <a:rPr lang="en-US" sz="1400" dirty="0">
                <a:solidFill>
                  <a:srgbClr val="5B6B79"/>
                </a:solidFill>
                <a:latin typeface="Calibri" pitchFamily="34" charset="0"/>
                <a:ea typeface="Calibri" pitchFamily="34" charset="-122"/>
                <a:cs typeface="Calibri" pitchFamily="34" charset="-120"/>
              </a:rPr>
              <a:t>Bối cảnh thực tế phức tạp, hoặc tư duy phản biện (phân tích/đánh giá code người khác).</a:t>
            </a:r>
            <a:endParaRPr lang="en-US" sz="17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86</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hệ thống bài tập 3 tầng (Python, Lớp 10)</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Tầng 1: Nhập n số nguyên, đếm số chẵn và số lẻ.</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Tầng 2: Nhập danh sách điểm HS (kết thúc bằng −1), tính điểm TB và phân loại Giỏi/Khá/TB/Yếu, in số HS mỗi loại.</a:t>
            </a:r>
            <a:endParaRPr lang="en-US" sz="1900" dirty="0"/>
          </a:p>
          <a:p>
            <a:pPr algn="l" marL="228600" indent="-228600">
              <a:lnSpc>
                <a:spcPct val="115000"/>
              </a:lnSpc>
              <a:spcAft>
                <a:spcPts val="1300"/>
              </a:spcAft>
              <a:buSzPct val="100000"/>
              <a:buChar char="▪"/>
            </a:pPr>
            <a:r>
              <a:rPr lang="en-US" sz="1900" dirty="0">
                <a:solidFill>
                  <a:srgbClr val="222B33"/>
                </a:solidFill>
                <a:latin typeface="Calibri" pitchFamily="34" charset="0"/>
                <a:ea typeface="Calibri" pitchFamily="34" charset="-122"/>
                <a:cs typeface="Calibri" pitchFamily="34" charset="-120"/>
              </a:rPr>
              <a:t>Tầng 3: Cho đoạn code có lỗi logic khi tính điểm TB — HS chạy tay với dữ liệu mẫu để tìm lỗi, giải thích nguyên nhân, sửa code.</a:t>
            </a:r>
            <a:endParaRPr lang="en-US" sz="19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87</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Lộ trình di chuyển và quan sát của giáo viên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GV không đứng yên một chỗ — lộ trình di chuyển cần có chủ đích.</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Ưu tiên quan sát/hỗ trợ HS ở Tầng 1 trong 7 phút đầu (cần hỗ trợ nhiều nhất), sau đó dịch chuyển sang Tầng 2–3 và đặt câu hỏi gợi mở.</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Nguyên tắc hỗ trợ vẫn giữ nguyên: “gợi mở trước, chỉ dẫn sau, làm mẫu cuối cùng”.</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Ghi nhận các lỗi phổ biến xuất hiện ở nhiều HS để đưa ra thảo luận chung ở giai đoạn 4 — thay vì sửa từng em một.</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88</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4 — Chia sẻ, chữa bài và chốt (8–10 phút)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00" b="1" i="1" dirty="0">
                <a:solidFill>
                  <a:srgbClr val="222B33"/>
                </a:solidFill>
                <a:latin typeface="Calibri" pitchFamily="34" charset="0"/>
                <a:ea typeface="Calibri" pitchFamily="34" charset="-122"/>
                <a:cs typeface="Calibri" pitchFamily="34" charset="-120"/>
              </a:rPr>
              <a:t>Không phải “GV chữa bài từ đầu đến cuối” mà là “HS chia sẻ và thảo luận, GV điều phối và chốt”.</a:t>
            </a:r>
            <a:endParaRPr lang="en-US" sz="1800" dirty="0"/>
          </a:p>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Chọn lọc có mục đích: trình chiếu 2–3 bài làm tiêu biểu (ẩn tên) — một đúng và gọn, một có lỗi điển hình nhiều HS mắc, một sáng tạo/khác biệt.</a:t>
            </a:r>
            <a:endParaRPr lang="en-US" sz="1800" dirty="0"/>
          </a:p>
          <a:p>
            <a:pPr algn="l" marL="228600" indent="-228600">
              <a:lnSpc>
                <a:spcPct val="115000"/>
              </a:lnSpc>
              <a:spcAft>
                <a:spcPts val="1300"/>
              </a:spcAft>
              <a:buSzPct val="100000"/>
              <a:buChar char="▪"/>
            </a:pPr>
            <a:r>
              <a:rPr lang="en-US" sz="1800" dirty="0">
                <a:solidFill>
                  <a:srgbClr val="222B33"/>
                </a:solidFill>
                <a:latin typeface="Calibri" pitchFamily="34" charset="0"/>
                <a:ea typeface="Calibri" pitchFamily="34" charset="-122"/>
                <a:cs typeface="Calibri" pitchFamily="34" charset="-120"/>
              </a:rPr>
              <a:t>Phân tích lỗi có chiều sâu: không nói “sai” mà tổ chức HS thảo luận “Tại sao đoạn code này cho kết quả sai? Hãy chạy tay với ví dụ này.”</a:t>
            </a:r>
            <a:endParaRPr lang="en-US" sz="18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89</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Kết nối lại và chốt kiến thức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Kết nối lại với bài toán mở đầu</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Nếu giai đoạn 1 đặt bài toán thách đố, đây là lúc quay lại giải quyết nó — HS cảm nhận sự tự tin khi giải bài trước đó tưởng như quá khó.</a:t>
            </a:r>
            <a:endParaRPr lang="en-US" sz="2000" dirty="0"/>
          </a:p>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Chốt kiến thức cô đọng</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Dành 2–3 phút cuối “đóng khung” — nhấn mạnh 3–5 điểm quan trọng nhất, điểm dễ nhầm lẫn và kết nối quan trọng giữa các đơn vị kiến thức.</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90</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Giai đoạn 5 — Đánh giá và hướng dẫn tự ôn tập (3–5 phút)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Mục tiêu: học sinh tự đánh giá mức độ nắm vững và biết mình cần làm gì tiếp theo.</a:t>
            </a:r>
            <a:endParaRPr lang="en-US" sz="1850" dirty="0"/>
          </a:p>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Phiếu tự đánh giá nhanh (Exit Ticket) — 3 câu hỏi:</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(1) Điều em tự tin nhất sau tiết ôn tập là gì?</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(2) Điều em vẫn còn chưa chắc hoặc cần ôn thêm là gì?</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(3) Một câu hỏi em muốn hỏi thêm về nội dung vừa ôn?</a:t>
            </a:r>
            <a:endParaRPr lang="en-US" sz="18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Hướng dẫn tự ôn tại nhà nên cá nhân hóa theo kết quả exit ticket, không giao chung “làm lại bài trong sách”.</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91</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Trạm ôn tập (Station Rotation) — Ví dụ CSDL &amp; SQL (1/2)</a:t>
            </a:r>
            <a:endParaRPr lang="en-US" sz="30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291840"/>
                <a:gridCol w="2560320"/>
                <a:gridCol w="534924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Trạm</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Hình thức</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Nội dung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Trạm 1 — Hệ thống hóa</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Cá nhân / cặp đôi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Hoàn thành sơ đồ tư duy tóm tắt kiến thức CSDL</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Trạm 2 — Thực hành truy vấn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Cá nhân trên máy</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Làm 3 bài tập SQL tăng dần độ khó</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92</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Trạm ôn tập (Station Rotation) — Ví dụ CSDL &amp; SQL (2/2)</a:t>
            </a:r>
            <a:endParaRPr lang="en-US" sz="30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291840"/>
                <a:gridCol w="2560320"/>
                <a:gridCol w="534924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Trạm</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Hình thức</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Nội dung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71450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Trạm 3 — Phân tích lỗi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Cặp đôi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Đọc 3 đoạn code SQL có lỗi, tìm và sửa lỗi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71450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Trạm 4 — Hướng dẫn nhỏ</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Nhóm 4–5 HS với GV</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Giáo viên giải đáp câu hỏi khó, hỗ trợ trực tiếp</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053328"/>
            <a:ext cx="11201400" cy="566928"/>
          </a:xfrm>
          <a:prstGeom prst="rect">
            <a:avLst/>
          </a:prstGeom>
          <a:noFill/>
          <a:ln/>
        </p:spPr>
        <p:txBody>
          <a:bodyPr wrap="square" rtlCol="0" anchor="t"/>
          <a:lstStyle/>
          <a:p>
            <a:pPr indent="0" marL="0">
              <a:buNone/>
            </a:pPr>
            <a:r>
              <a:rPr lang="en-US" sz="1250" i="1" dirty="0">
                <a:solidFill>
                  <a:srgbClr val="5B6B79"/>
                </a:solidFill>
                <a:latin typeface="Calibri" pitchFamily="34" charset="0"/>
                <a:ea typeface="Calibri" pitchFamily="34" charset="-122"/>
                <a:cs typeface="Calibri" pitchFamily="34" charset="-120"/>
              </a:rPr>
              <a:t>Mỗi nhóm 4–5 HS di chuyển theo thứ tự, mỗi trạm 10–12 phút.</a:t>
            </a:r>
            <a:endParaRPr lang="en-US" sz="1250" dirty="0"/>
          </a:p>
        </p:txBody>
      </p:sp>
      <p:sp>
        <p:nvSpPr>
          <p:cNvPr id="7"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93</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Debate kỹ thuật &amp; Ôn tập qua trò chơi số</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00" b="1" dirty="0">
                <a:solidFill>
                  <a:srgbClr val="222B33"/>
                </a:solidFill>
                <a:latin typeface="Calibri" pitchFamily="34" charset="0"/>
                <a:ea typeface="Calibri" pitchFamily="34" charset="-122"/>
                <a:cs typeface="Calibri" pitchFamily="34" charset="-120"/>
              </a:rPr>
              <a:t>Debate kỹ thuật (Technical Debate)</a:t>
            </a:r>
            <a:endParaRPr lang="en-US" sz="1700" dirty="0"/>
          </a:p>
          <a:p>
            <a:pPr algn="l" lvl="1" marL="508000" indent="-254000">
              <a:lnSpc>
                <a:spcPct val="115000"/>
              </a:lnSpc>
              <a:spcAft>
                <a:spcPts val="900"/>
              </a:spcAft>
              <a:buSzPct val="100000"/>
              <a:buChar char="–"/>
            </a:pPr>
            <a:r>
              <a:rPr lang="en-US" sz="1400" dirty="0">
                <a:solidFill>
                  <a:srgbClr val="5B6B79"/>
                </a:solidFill>
                <a:latin typeface="Calibri" pitchFamily="34" charset="0"/>
                <a:ea typeface="Calibri" pitchFamily="34" charset="-122"/>
                <a:cs typeface="Calibri" pitchFamily="34" charset="-120"/>
              </a:rPr>
              <a:t>GV đưa bài toán có nhiều cách giải, chia nhóm bảo vệ từng phương án (VD: for hay while?) — mỗi nhóm 3 phút lập luận + 2 phút phản biện. Phát triển tư duy phê phán và kỹ năng lập luận kỹ thuật.</a:t>
            </a:r>
            <a:endParaRPr lang="en-US" sz="1700" dirty="0"/>
          </a:p>
          <a:p>
            <a:pPr algn="l" marL="228600" indent="-228600">
              <a:lnSpc>
                <a:spcPct val="115000"/>
              </a:lnSpc>
              <a:spcAft>
                <a:spcPts val="1300"/>
              </a:spcAft>
              <a:buSzPct val="100000"/>
              <a:buChar char="▪"/>
            </a:pPr>
            <a:r>
              <a:rPr lang="en-US" sz="1700" b="1" dirty="0">
                <a:solidFill>
                  <a:srgbClr val="222B33"/>
                </a:solidFill>
                <a:latin typeface="Calibri" pitchFamily="34" charset="0"/>
                <a:ea typeface="Calibri" pitchFamily="34" charset="-122"/>
                <a:cs typeface="Calibri" pitchFamily="34" charset="-120"/>
              </a:rPr>
              <a:t>Ôn tập qua trò chơi số (Kahoot!, Quizizz, Blooket)</a:t>
            </a:r>
            <a:endParaRPr lang="en-US" sz="1700" dirty="0"/>
          </a:p>
          <a:p>
            <a:pPr algn="l" lvl="1" marL="508000" indent="-254000">
              <a:lnSpc>
                <a:spcPct val="115000"/>
              </a:lnSpc>
              <a:spcAft>
                <a:spcPts val="900"/>
              </a:spcAft>
              <a:buSzPct val="100000"/>
              <a:buChar char="–"/>
            </a:pPr>
            <a:r>
              <a:rPr lang="en-US" sz="1400" dirty="0">
                <a:solidFill>
                  <a:srgbClr val="5B6B79"/>
                </a:solidFill>
                <a:latin typeface="Calibri" pitchFamily="34" charset="0"/>
                <a:ea typeface="Calibri" pitchFamily="34" charset="-122"/>
                <a:cs typeface="Calibri" pitchFamily="34" charset="-120"/>
              </a:rPr>
              <a:t>Phù hợp nhất ở khởi động hoặc cuối tiết. Hiệu quả cho kiến thức mức nhớ–hiểu, không phù hợp ôn luyện kỹ năng lập trình hay tư duy thuật toán.</a:t>
            </a:r>
            <a:endParaRPr lang="en-US" sz="17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94</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Peer Teaching (Học sinh dạy học sinh)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50" b="1" dirty="0">
                <a:solidFill>
                  <a:srgbClr val="222B33"/>
                </a:solidFill>
                <a:latin typeface="Calibri" pitchFamily="34" charset="0"/>
                <a:ea typeface="Calibri" pitchFamily="34" charset="-122"/>
                <a:cs typeface="Calibri" pitchFamily="34" charset="-120"/>
              </a:rPr>
              <a:t>Học sinh đã nắm vững được giao nhiệm vụ “giảng” lại một đơn vị kiến thức cho bạn chưa hiểu.</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GV thiết kế phiếu hướng dẫn để “học sinh trợ giảng” biết cách giảng (đặt câu hỏi gợi mở, không đưa đáp án ngay).</a:t>
            </a:r>
            <a:endParaRPr lang="en-US" sz="2050" dirty="0"/>
          </a:p>
          <a:p>
            <a:pPr algn="l" marL="228600" indent="-228600">
              <a:lnSpc>
                <a:spcPct val="115000"/>
              </a:lnSpc>
              <a:spcAft>
                <a:spcPts val="1300"/>
              </a:spcAft>
              <a:buSzPct val="100000"/>
              <a:buChar char="▪"/>
            </a:pPr>
            <a:r>
              <a:rPr lang="en-US" sz="2050" dirty="0">
                <a:solidFill>
                  <a:srgbClr val="222B33"/>
                </a:solidFill>
                <a:latin typeface="Calibri" pitchFamily="34" charset="0"/>
                <a:ea typeface="Calibri" pitchFamily="34" charset="-122"/>
                <a:cs typeface="Calibri" pitchFamily="34" charset="-120"/>
              </a:rPr>
              <a:t>Người giải thích học được nhiều hơn người được giải thích — có lợi cho cả học sinh yếu và học sinh giỏi.</a:t>
            </a:r>
            <a:endParaRPr lang="en-US" sz="20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95</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6.7.6</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Lỗi thiết kế cần tránh (1/2)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600" b="1" dirty="0">
                <a:solidFill>
                  <a:srgbClr val="222B33"/>
                </a:solidFill>
                <a:latin typeface="Calibri" pitchFamily="34" charset="0"/>
                <a:ea typeface="Calibri" pitchFamily="34" charset="-122"/>
                <a:cs typeface="Calibri" pitchFamily="34" charset="-120"/>
              </a:rPr>
              <a:t>Lỗi 1 — Biến tiết ôn tập thành tiết giảng lại</a:t>
            </a:r>
            <a:endParaRPr lang="en-US" sz="1600" dirty="0"/>
          </a:p>
          <a:p>
            <a:pPr algn="l" lvl="1" marL="508000" indent="-254000">
              <a:lnSpc>
                <a:spcPct val="115000"/>
              </a:lnSpc>
              <a:spcAft>
                <a:spcPts val="900"/>
              </a:spcAft>
              <a:buSzPct val="100000"/>
              <a:buChar char="–"/>
            </a:pPr>
            <a:r>
              <a:rPr lang="en-US" sz="1300" dirty="0">
                <a:solidFill>
                  <a:srgbClr val="5B6B79"/>
                </a:solidFill>
                <a:latin typeface="Calibri" pitchFamily="34" charset="0"/>
                <a:ea typeface="Calibri" pitchFamily="34" charset="-122"/>
                <a:cs typeface="Calibri" pitchFamily="34" charset="-120"/>
              </a:rPr>
              <a:t>GV dành 20–25 phút trình bày lại lý thuyết → HS tiếp thu thụ động, không đủ thời gian luyện tập, không đạt mục tiêu hệ thống hóa.</a:t>
            </a:r>
            <a:endParaRPr lang="en-US" sz="1600" dirty="0"/>
          </a:p>
          <a:p>
            <a:pPr algn="l" marL="228600" indent="-228600">
              <a:lnSpc>
                <a:spcPct val="115000"/>
              </a:lnSpc>
              <a:spcAft>
                <a:spcPts val="1300"/>
              </a:spcAft>
              <a:buSzPct val="100000"/>
              <a:buChar char="▪"/>
            </a:pPr>
            <a:r>
              <a:rPr lang="en-US" sz="1600" b="1" dirty="0">
                <a:solidFill>
                  <a:srgbClr val="222B33"/>
                </a:solidFill>
                <a:latin typeface="Calibri" pitchFamily="34" charset="0"/>
                <a:ea typeface="Calibri" pitchFamily="34" charset="-122"/>
                <a:cs typeface="Calibri" pitchFamily="34" charset="-120"/>
              </a:rPr>
              <a:t>Lỗi 2 — Dùng lại bài tập cũ</a:t>
            </a:r>
            <a:endParaRPr lang="en-US" sz="1600" dirty="0"/>
          </a:p>
          <a:p>
            <a:pPr algn="l" lvl="1" marL="508000" indent="-254000">
              <a:lnSpc>
                <a:spcPct val="115000"/>
              </a:lnSpc>
              <a:spcAft>
                <a:spcPts val="900"/>
              </a:spcAft>
              <a:buSzPct val="100000"/>
              <a:buChar char="–"/>
            </a:pPr>
            <a:r>
              <a:rPr lang="en-US" sz="1300" dirty="0">
                <a:solidFill>
                  <a:srgbClr val="5B6B79"/>
                </a:solidFill>
                <a:latin typeface="Calibri" pitchFamily="34" charset="0"/>
                <a:ea typeface="Calibri" pitchFamily="34" charset="-122"/>
                <a:cs typeface="Calibri" pitchFamily="34" charset="-120"/>
              </a:rPr>
              <a:t>HS không cần tư duy mới, có thể chép lại kết quả cũ. Bài tập ôn tập cần ít nhất một yếu tố mới.</a:t>
            </a:r>
            <a:endParaRPr lang="en-US" sz="1600" dirty="0"/>
          </a:p>
          <a:p>
            <a:pPr algn="l" marL="228600" indent="-228600">
              <a:lnSpc>
                <a:spcPct val="115000"/>
              </a:lnSpc>
              <a:spcAft>
                <a:spcPts val="1300"/>
              </a:spcAft>
              <a:buSzPct val="100000"/>
              <a:buChar char="▪"/>
            </a:pPr>
            <a:r>
              <a:rPr lang="en-US" sz="1600" b="1" dirty="0">
                <a:solidFill>
                  <a:srgbClr val="222B33"/>
                </a:solidFill>
                <a:latin typeface="Calibri" pitchFamily="34" charset="0"/>
                <a:ea typeface="Calibri" pitchFamily="34" charset="-122"/>
                <a:cs typeface="Calibri" pitchFamily="34" charset="-120"/>
              </a:rPr>
              <a:t>Lỗi 3 — Không có phân hóa</a:t>
            </a:r>
            <a:endParaRPr lang="en-US" sz="1600" dirty="0"/>
          </a:p>
          <a:p>
            <a:pPr algn="l" lvl="1" marL="508000" indent="-254000">
              <a:lnSpc>
                <a:spcPct val="115000"/>
              </a:lnSpc>
              <a:spcAft>
                <a:spcPts val="900"/>
              </a:spcAft>
              <a:buSzPct val="100000"/>
              <a:buChar char="–"/>
            </a:pPr>
            <a:r>
              <a:rPr lang="en-US" sz="1300" dirty="0">
                <a:solidFill>
                  <a:srgbClr val="5B6B79"/>
                </a:solidFill>
                <a:latin typeface="Calibri" pitchFamily="34" charset="0"/>
                <a:ea typeface="Calibri" pitchFamily="34" charset="-122"/>
                <a:cs typeface="Calibri" pitchFamily="34" charset="-120"/>
              </a:rPr>
              <a:t>Tất cả HS làm chung một bộ bài tập, cùng tốc độ — HS yếu bị bỏ lại, HS giỏi mất tập trung.</a:t>
            </a:r>
            <a:endParaRPr lang="en-US" sz="16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96</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6.7.6</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Lỗi thiết kế cần tránh (2/2)</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Lỗi 4 — Chữa bài quá chi tiết</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GV chữa tất cả bài tập, từng bước một, chiếm phần lớn thời gian còn lại — học sinh ngồi xem giáo viên làm.</a:t>
            </a:r>
            <a:endParaRPr lang="en-US" sz="2000" dirty="0"/>
          </a:p>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Lỗi 5 — Không có sản phẩm hệ thống hóa</a:t>
            </a:r>
            <a:endParaRPr lang="en-US" sz="2000" dirty="0"/>
          </a:p>
          <a:p>
            <a:pPr algn="l" lvl="1" marL="508000" indent="-254000">
              <a:lnSpc>
                <a:spcPct val="115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Tiết ôn tập kết thúc mà học sinh không có gì “cầm về” ngoài trí nhớ ngắn hạn.</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97</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6.7.7</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Ví dụ: KHBH tiết ôn tập — Thông tin &amp; Mục tiêu</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Lớp 10 · Chủ đề: Lập trình Python cơ bản (biến, điều kiện, vòng lặp, hàm) · 45 phút.</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Loại tiết: Ôn tập cuối chủ đề (trước kiểm tra 15 phút đầu tiết sau).</a:t>
            </a:r>
            <a:endParaRPr lang="en-US" sz="1750" dirty="0"/>
          </a:p>
          <a:p>
            <a:pPr algn="l" marL="228600" indent="-228600">
              <a:lnSpc>
                <a:spcPct val="115000"/>
              </a:lnSpc>
              <a:spcAft>
                <a:spcPts val="1300"/>
              </a:spcAft>
              <a:buSzPct val="100000"/>
              <a:buChar char="▪"/>
            </a:pPr>
            <a:r>
              <a:rPr lang="en-US" sz="1750" b="1" dirty="0">
                <a:solidFill>
                  <a:srgbClr val="222B33"/>
                </a:solidFill>
                <a:latin typeface="Calibri" pitchFamily="34" charset="0"/>
                <a:ea typeface="Calibri" pitchFamily="34" charset="-122"/>
                <a:cs typeface="Calibri" pitchFamily="34" charset="-120"/>
              </a:rPr>
              <a:t>Mục tiêu:</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HS hệ thống hóa được kiến thức theo bảng tổng hợp cá nhân.</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HS giải được bài tập kết hợp ít nhất ở Tầng 2.</a:t>
            </a:r>
            <a:endParaRPr lang="en-US" sz="1750" dirty="0"/>
          </a:p>
          <a:p>
            <a:pPr algn="l" lvl="1" marL="508000" indent="-254000">
              <a:lnSpc>
                <a:spcPct val="115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HS tự xác định được điểm còn yếu để ôn thêm tại nhà.</a:t>
            </a:r>
            <a:endParaRPr lang="en-US" sz="17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98</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6.7.7</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Chuẩn bị</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Phiếu bảng tổng hợp in sẵn (phát cho HS điền).</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3 bài tập thực hành theo 3 tầng (máy chiếu + Google Classroom).</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Bộ 8 câu hỏi Quizizz chuẩn bị sẵn cho exit ticket cuối tiết.</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Bài toán thách đố cho giai đoạn khởi động.</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99</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6.7.7</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Tiến trình chi tiết (1/2)</a:t>
            </a:r>
            <a:endParaRPr lang="en-US" sz="30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194560"/>
                <a:gridCol w="4572000"/>
                <a:gridCol w="443484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Giai đoạn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Hoạt động của GV</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Hoạt động của HS</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Khởi động (5')</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Chiếu bài toán thách đố tích hợp; hỏi “Em cần dùng kiến thức nào?”</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Suy nghĩ 2 phút, chia sẻ; nhận ra bài cần kết hợp nhiều kiến thức</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Hệ thống hóa (10')</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Phát phiếu tổng hợp; sau 6 phút chiếu đáp án, thảo luận nhanh ô sai nhiều</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Cá nhân điền phiếu (cú pháp, dùng khi nào, lỗi thường gặp)</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100</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6.7.7</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Tiến trình chi tiết (2/2)</a:t>
            </a:r>
            <a:endParaRPr lang="en-US" sz="30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194560"/>
                <a:gridCol w="4572000"/>
                <a:gridCol w="443484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Giai đoạn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Hoạt động của GV</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Hoạt động của HS</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Thực hành (22')</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Di chuyển quan sát; hỗ trợ Tầng 1 (8' đầu); gợi mở Tầng 2–3; ghi nhận lỗi phổ biến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Làm bài theo tầng; xong sớm chuyển tầng cao hơn hoặc hỗ trợ bạn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Chữa bài &amp; chốt (5')</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Chiếu 2 bài (ẩn tên): 1 đúng + 1 lỗi phổ biến; đặt câu hỏi phân tích; chốt 3 điểm chính</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Nhận xét bài bạn; giải thích lỗi; ghi chú điểm cốt lõi</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101</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6.7.7</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Đánh giá (3 phút) &amp; Lời kết</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GV: phát lệnh mở Quizizz, quan sát kết quả realtime, nhận xét nhanh và hướng dẫn ôn tập tại nhà theo kết quả.</a:t>
            </a:r>
            <a:endParaRPr lang="en-US" sz="2200" dirty="0"/>
          </a:p>
          <a:p>
            <a:pPr algn="l" marL="228600" indent="-228600">
              <a:lnSpc>
                <a:spcPct val="115000"/>
              </a:lnSpc>
              <a:spcAft>
                <a:spcPts val="1300"/>
              </a:spcAft>
              <a:buSzPct val="100000"/>
              <a:buChar char="▪"/>
            </a:pPr>
            <a:r>
              <a:rPr lang="en-US" sz="2200" dirty="0">
                <a:solidFill>
                  <a:srgbClr val="222B33"/>
                </a:solidFill>
                <a:latin typeface="Calibri" pitchFamily="34" charset="0"/>
                <a:ea typeface="Calibri" pitchFamily="34" charset="-122"/>
                <a:cs typeface="Calibri" pitchFamily="34" charset="-120"/>
              </a:rPr>
              <a:t>HS: làm exit ticket 8 câu trên Quizizz (cá nhân).</a:t>
            </a:r>
            <a:endParaRPr lang="en-US" sz="22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Tiết ôn tập tốt không phải là tiết HS “ôn lại kiến thức cũ” — mà là tiết HS nhìn lại toàn bộ hành trình học tập, thấy rõ bức tranh tổng thể hơn, và bước ra với sự tự tin lớn hơn.</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102</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6.8</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Thực hành tổ chức dạy học Tin học</a:t>
            </a:r>
            <a:endParaRPr lang="en-US" sz="32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103</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Phân tích tình huống dạy học — Khung 4 bước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(1) Mô tả tình huống — điều gì đang xảy ra?</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(2) Phân tích nguyên nhân — tại sao xảy ra như vậy?</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(3) Đánh giá cách xử lý — giáo viên trong tình huống đã làm gì, có phù hợp không?</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(4) Đề xuất phương án — nếu là mình, sẽ xử lý thế nào?</a:t>
            </a:r>
            <a:endParaRPr lang="en-US" sz="21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Năng lực tổ chức dạy học không hình thành qua việc đọc sách hay nghe giảng — nó chỉ phát triển qua thực hành có phản tư.</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104</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Các tình huống điển hình cần phân tích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Học sinh hoàn thành bài nhanh và bắt đầu chơi game.</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Cả lớp gặp khó khăn tại cùng một bước trong bài thực hành.</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Sự cố mạng xảy ra giữa tiết học.</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Học sinh hỏi câu hỏi vượt nội dung bài.</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Giáo viên không kiểm soát được tiến độ và hết giờ mà chưa chốt bài.</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105</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Tranh luận nhóm &amp; Ngân hàng tình huống cá nhân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Phân tích có tranh luận nhóm</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Sinh viên làm việc nhóm phân tích cùng một tình huống — nhận ra cùng một tình huống có thể hiểu và xử lý theo nhiều cách khác nhau, phát triển tư duy đa chiều.</a:t>
            </a:r>
            <a:endParaRPr lang="en-US" sz="1850" dirty="0"/>
          </a:p>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Xây dựng ngân hàng tình huống cá nhân</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Ghi chép, lưu trữ các tình huống thú vị cùng phân tích và phương án xử lý — trở thành tài sản nghề nghiệp quý giá mang theo suốt sự nghiệp.</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106</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Bốn cấp độ rèn luyện kỹ năng thiết kế KHBH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550" b="1" dirty="0">
                <a:solidFill>
                  <a:srgbClr val="222B33"/>
                </a:solidFill>
                <a:latin typeface="Calibri" pitchFamily="34" charset="0"/>
                <a:ea typeface="Calibri" pitchFamily="34" charset="-122"/>
                <a:cs typeface="Calibri" pitchFamily="34" charset="-120"/>
              </a:rPr>
              <a:t>Cấp độ 1 — Phân tích KHBH mẫu</a:t>
            </a:r>
            <a:endParaRPr lang="en-US" sz="1550" dirty="0"/>
          </a:p>
          <a:p>
            <a:pPr algn="l" lvl="1" marL="508000" indent="-254000">
              <a:lnSpc>
                <a:spcPct val="115000"/>
              </a:lnSpc>
              <a:spcAft>
                <a:spcPts val="900"/>
              </a:spcAft>
              <a:buSzPct val="100000"/>
              <a:buChar char="–"/>
            </a:pPr>
            <a:r>
              <a:rPr lang="en-US" sz="1250" dirty="0">
                <a:solidFill>
                  <a:srgbClr val="5B6B79"/>
                </a:solidFill>
                <a:latin typeface="Calibri" pitchFamily="34" charset="0"/>
                <a:ea typeface="Calibri" pitchFamily="34" charset="-122"/>
                <a:cs typeface="Calibri" pitchFamily="34" charset="-120"/>
              </a:rPr>
              <a:t>Đọc và phân tích KHBH thiết kế tốt, chỉ ra cơ sở lý luận từng lựa chọn sư phạm.</a:t>
            </a:r>
            <a:endParaRPr lang="en-US" sz="1550" dirty="0"/>
          </a:p>
          <a:p>
            <a:pPr algn="l" marL="228600" indent="-228600">
              <a:lnSpc>
                <a:spcPct val="115000"/>
              </a:lnSpc>
              <a:spcAft>
                <a:spcPts val="1300"/>
              </a:spcAft>
              <a:buSzPct val="100000"/>
              <a:buChar char="▪"/>
            </a:pPr>
            <a:r>
              <a:rPr lang="en-US" sz="1550" b="1" dirty="0">
                <a:solidFill>
                  <a:srgbClr val="222B33"/>
                </a:solidFill>
                <a:latin typeface="Calibri" pitchFamily="34" charset="0"/>
                <a:ea typeface="Calibri" pitchFamily="34" charset="-122"/>
                <a:cs typeface="Calibri" pitchFamily="34" charset="-120"/>
              </a:rPr>
              <a:t>Cấp độ 2 — Điều chỉnh KHBH có sẵn</a:t>
            </a:r>
            <a:endParaRPr lang="en-US" sz="1550" dirty="0"/>
          </a:p>
          <a:p>
            <a:pPr algn="l" lvl="1" marL="508000" indent="-254000">
              <a:lnSpc>
                <a:spcPct val="115000"/>
              </a:lnSpc>
              <a:spcAft>
                <a:spcPts val="900"/>
              </a:spcAft>
              <a:buSzPct val="100000"/>
              <a:buChar char="–"/>
            </a:pPr>
            <a:r>
              <a:rPr lang="en-US" sz="1250" dirty="0">
                <a:solidFill>
                  <a:srgbClr val="5B6B79"/>
                </a:solidFill>
                <a:latin typeface="Calibri" pitchFamily="34" charset="0"/>
                <a:ea typeface="Calibri" pitchFamily="34" charset="-122"/>
                <a:cs typeface="Calibri" pitchFamily="34" charset="-120"/>
              </a:rPr>
              <a:t>Nhận KHBH chưa hoàn chỉnh hoặc có điểm yếu, chỉnh sửa và cải thiện.</a:t>
            </a:r>
            <a:endParaRPr lang="en-US" sz="1550" dirty="0"/>
          </a:p>
          <a:p>
            <a:pPr algn="l" marL="228600" indent="-228600">
              <a:lnSpc>
                <a:spcPct val="115000"/>
              </a:lnSpc>
              <a:spcAft>
                <a:spcPts val="1300"/>
              </a:spcAft>
              <a:buSzPct val="100000"/>
              <a:buChar char="▪"/>
            </a:pPr>
            <a:r>
              <a:rPr lang="en-US" sz="1550" b="1" dirty="0">
                <a:solidFill>
                  <a:srgbClr val="222B33"/>
                </a:solidFill>
                <a:latin typeface="Calibri" pitchFamily="34" charset="0"/>
                <a:ea typeface="Calibri" pitchFamily="34" charset="-122"/>
                <a:cs typeface="Calibri" pitchFamily="34" charset="-120"/>
              </a:rPr>
              <a:t>Cấp độ 3 — Thiết kế KHBH từ đầu</a:t>
            </a:r>
            <a:endParaRPr lang="en-US" sz="1550" dirty="0"/>
          </a:p>
          <a:p>
            <a:pPr algn="l" lvl="1" marL="508000" indent="-254000">
              <a:lnSpc>
                <a:spcPct val="115000"/>
              </a:lnSpc>
              <a:spcAft>
                <a:spcPts val="900"/>
              </a:spcAft>
              <a:buSzPct val="100000"/>
              <a:buChar char="–"/>
            </a:pPr>
            <a:r>
              <a:rPr lang="en-US" sz="1250" dirty="0">
                <a:solidFill>
                  <a:srgbClr val="5B6B79"/>
                </a:solidFill>
                <a:latin typeface="Calibri" pitchFamily="34" charset="0"/>
                <a:ea typeface="Calibri" pitchFamily="34" charset="-122"/>
                <a:cs typeface="Calibri" pitchFamily="34" charset="-120"/>
              </a:rPr>
              <a:t>Tự thiết kế KHBH hoàn chỉnh từ phân tích mục tiêu đến dự kiến tình huống.</a:t>
            </a:r>
            <a:endParaRPr lang="en-US" sz="1550" dirty="0"/>
          </a:p>
          <a:p>
            <a:pPr algn="l" marL="228600" indent="-228600">
              <a:lnSpc>
                <a:spcPct val="115000"/>
              </a:lnSpc>
              <a:spcAft>
                <a:spcPts val="1300"/>
              </a:spcAft>
              <a:buSzPct val="100000"/>
              <a:buChar char="▪"/>
            </a:pPr>
            <a:r>
              <a:rPr lang="en-US" sz="1550" b="1" dirty="0">
                <a:solidFill>
                  <a:srgbClr val="222B33"/>
                </a:solidFill>
                <a:latin typeface="Calibri" pitchFamily="34" charset="0"/>
                <a:ea typeface="Calibri" pitchFamily="34" charset="-122"/>
                <a:cs typeface="Calibri" pitchFamily="34" charset="-120"/>
              </a:rPr>
              <a:t>Cấp độ 4 — Thiết kế và bảo vệ trước nhóm</a:t>
            </a:r>
            <a:endParaRPr lang="en-US" sz="1550" dirty="0"/>
          </a:p>
          <a:p>
            <a:pPr algn="l" lvl="1" marL="508000" indent="-254000">
              <a:lnSpc>
                <a:spcPct val="115000"/>
              </a:lnSpc>
              <a:spcAft>
                <a:spcPts val="900"/>
              </a:spcAft>
              <a:buSzPct val="100000"/>
              <a:buChar char="–"/>
            </a:pPr>
            <a:r>
              <a:rPr lang="en-US" sz="1250" dirty="0">
                <a:solidFill>
                  <a:srgbClr val="5B6B79"/>
                </a:solidFill>
                <a:latin typeface="Calibri" pitchFamily="34" charset="0"/>
                <a:ea typeface="Calibri" pitchFamily="34" charset="-122"/>
                <a:cs typeface="Calibri" pitchFamily="34" charset="-120"/>
              </a:rPr>
              <a:t>Trình bày, bảo vệ, giải thích lựa chọn sư phạm trước nhóm và giảng viên.</a:t>
            </a:r>
            <a:endParaRPr lang="en-US" sz="15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107</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Tiêu chí đánh giá kế hoạch bài dạy</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Mục tiêu có cụ thể và phù hợp với yêu cầu cần đạt.</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Hoạt động học tập có phong phú, tích cực và gắn với mục tiêu.</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Hệ thống bài tập thực hành có phân bậc.</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Phương án đánh giá có rõ ràng và khả thi.</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Có dự kiến tình huống và phương án dự phòng.</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108</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Microteaching — Dạy học vi mô</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400" b="1" dirty="0">
                <a:solidFill>
                  <a:srgbClr val="222B33"/>
                </a:solidFill>
                <a:latin typeface="Calibri" pitchFamily="34" charset="0"/>
                <a:ea typeface="Calibri" pitchFamily="34" charset="-122"/>
                <a:cs typeface="Calibri" pitchFamily="34" charset="-120"/>
              </a:rPr>
              <a:t>Sinh viên dạy một đoạn bài ngắn (10–15 phút) trước nhóm nhỏ, được ghi hình, sau đó xem lại và nhận phản hồi để cải thiện.</a:t>
            </a:r>
            <a:endParaRPr lang="en-US" sz="2400" dirty="0"/>
          </a:p>
          <a:p>
            <a:pPr algn="l" marL="228600" indent="-228600">
              <a:lnSpc>
                <a:spcPct val="115000"/>
              </a:lnSpc>
              <a:spcAft>
                <a:spcPts val="1300"/>
              </a:spcAft>
              <a:buSzPct val="100000"/>
              <a:buChar char="▪"/>
            </a:pPr>
            <a:r>
              <a:rPr lang="en-US" sz="2400" i="1" dirty="0">
                <a:solidFill>
                  <a:srgbClr val="222B33"/>
                </a:solidFill>
                <a:latin typeface="Calibri" pitchFamily="34" charset="0"/>
                <a:ea typeface="Calibri" pitchFamily="34" charset="-122"/>
                <a:cs typeface="Calibri" pitchFamily="34" charset="-120"/>
              </a:rPr>
              <a:t>(Allen, D. W., 1966)</a:t>
            </a:r>
            <a:endParaRPr lang="en-US" sz="24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109</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Quy trình 4 bước Microteaching</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Bước 1 — Chuẩn bị: thiết kế đoạn bài 10–15 phút, xác định 1–2 kỹ năng dạy học cần rèn luyện.</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Bước 2 — Thực hiện: dạy trước nhóm 5–8 người đóng vai HS, ghi hình; người quan sát ghi chép theo phiếu có cấu trúc.</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Bước 3 — Phản hồi: tự xem video và tự nhận xét trước; nhận phản hồi theo nguyên tắc “điểm mạnh — điểm cần cải thiện — gợi ý cụ thể”.</a:t>
            </a:r>
            <a:endParaRPr lang="en-US" sz="1750" dirty="0"/>
          </a:p>
          <a:p>
            <a:pPr algn="l" marL="228600" indent="-228600">
              <a:lnSpc>
                <a:spcPct val="115000"/>
              </a:lnSpc>
              <a:spcAft>
                <a:spcPts val="1300"/>
              </a:spcAft>
              <a:buSzPct val="100000"/>
              <a:buChar char="▪"/>
            </a:pPr>
            <a:r>
              <a:rPr lang="en-US" sz="1750" dirty="0">
                <a:solidFill>
                  <a:srgbClr val="222B33"/>
                </a:solidFill>
                <a:latin typeface="Calibri" pitchFamily="34" charset="0"/>
                <a:ea typeface="Calibri" pitchFamily="34" charset="-122"/>
                <a:cs typeface="Calibri" pitchFamily="34" charset="-120"/>
              </a:rPr>
              <a:t>Bước 4 — Dạy lại: điều chỉnh dựa trên phản hồi và dạy lại; so sánh hai lần dạy để thấy sự tiến bộ.</a:t>
            </a:r>
            <a:endParaRPr lang="en-US" sz="17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110</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Kỹ năng cần rèn luyện qua Microteaching (Tin học)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Kỹ năng demo thao tác trên máy tính có sự tham gia của người học.</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Kỹ năng hướng dẫn thực hành lập trình (gợi mở, không làm thay).</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Kỹ năng đặt câu hỏi khi học sinh gặp lỗi.</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Kỹ năng chuyển tiếp linh hoạt giữa giảng lý thuyết và thực hành.</a:t>
            </a:r>
            <a:endParaRPr lang="en-US" sz="1850" dirty="0"/>
          </a:p>
          <a:p>
            <a:pPr algn="l" marL="228600" indent="-228600">
              <a:lnSpc>
                <a:spcPct val="115000"/>
              </a:lnSpc>
              <a:spcAft>
                <a:spcPts val="1300"/>
              </a:spcAft>
              <a:buSzPct val="100000"/>
              <a:buChar char="▪"/>
            </a:pPr>
            <a:r>
              <a:rPr lang="en-US" sz="1850" dirty="0">
                <a:solidFill>
                  <a:srgbClr val="222B33"/>
                </a:solidFill>
                <a:latin typeface="Calibri" pitchFamily="34" charset="0"/>
                <a:ea typeface="Calibri" pitchFamily="34" charset="-122"/>
                <a:cs typeface="Calibri" pitchFamily="34" charset="-120"/>
              </a:rPr>
              <a:t>Kỹ năng quản lý thời gian trong tiết thực hành.</a:t>
            </a:r>
            <a:endParaRPr lang="en-US" sz="185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Nếu có điều kiện, nên thực hiện ít nhất một buổi microteaching trong phòng máy thực sự.</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111</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Chuẩn bị trước thực tập sư phạm</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Nghiên cứu kỹ chương trình Tin học cấp học sẽ thực tập.</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Tìm hiểu điều kiện cơ sở vật chất của trường.</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Chuẩn bị ít nhất 3–5 KHBH hoàn chỉnh.</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Xác định 2–3 năng lực sư phạm cụ thể muốn tập trung phát triển.</a:t>
            </a:r>
            <a:endParaRPr lang="en-US" sz="21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Thực tập sư phạm là giai đoạn học tập quan trọng nhất trong đào tạo giáo viên — nơi lý luận và thực tiễn gặp nhau.</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112</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Học từ giáo viên hướng dẫn</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b="1" dirty="0">
                <a:solidFill>
                  <a:srgbClr val="222B33"/>
                </a:solidFill>
                <a:latin typeface="Calibri" pitchFamily="34" charset="0"/>
                <a:ea typeface="Calibri" pitchFamily="34" charset="-122"/>
                <a:cs typeface="Calibri" pitchFamily="34" charset="-120"/>
              </a:rPr>
              <a:t>Dự giờ với mắt quan sát của một nhà nghiên cứu:</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Cách giáo viên chuyển tiếp giữa các hoạt động.</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Cách xử lý tình huống bất ngờ.</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Cách tương tác với từng loại học sinh.</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Cách tổ chức và kết thúc giờ thực hành.</a:t>
            </a:r>
            <a:endParaRPr lang="en-US" sz="20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Ghi chép phản tư ngay trong ngày sau mỗi buổi dự giờ.</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113</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Tiến trình tăng dần &amp; Nhật ký thực tập</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Tiếp cận theo tiến trình tăng dần:</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Quan sát → hỗ trợ từng phần → dạy toàn bộ tiết có hỗ trợ → dạy độc lập → được quan sát và phản hồi.</a:t>
            </a:r>
            <a:endParaRPr lang="en-US" sz="1850" dirty="0"/>
          </a:p>
          <a:p>
            <a:pPr algn="l" marL="228600" indent="-228600">
              <a:lnSpc>
                <a:spcPct val="115000"/>
              </a:lnSpc>
              <a:spcAft>
                <a:spcPts val="1300"/>
              </a:spcAft>
              <a:buSzPct val="100000"/>
              <a:buChar char="▪"/>
            </a:pPr>
            <a:r>
              <a:rPr lang="en-US" sz="1850" b="1" dirty="0">
                <a:solidFill>
                  <a:srgbClr val="222B33"/>
                </a:solidFill>
                <a:latin typeface="Calibri" pitchFamily="34" charset="0"/>
                <a:ea typeface="Calibri" pitchFamily="34" charset="-122"/>
                <a:cs typeface="Calibri" pitchFamily="34" charset="-120"/>
              </a:rPr>
              <a:t>Ghi nhật ký thực tập có cấu trúc mỗi ngày:</a:t>
            </a:r>
            <a:endParaRPr lang="en-US" sz="1850" dirty="0"/>
          </a:p>
          <a:p>
            <a:pPr algn="l" lvl="1" marL="508000" indent="-254000">
              <a:lnSpc>
                <a:spcPct val="115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Điều gì đã xảy ra? → Tôi đã làm gì/nghĩ gì? → Tại sao lại như vậy? → Tôi sẽ làm khác đi thế nào?</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114</a:t>
            </a:r>
            <a:endParaRPr lang="en-US" sz="1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Đánh giá dựa trên các nhiệm vụ thực hành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Xem xét năng lực qua sản phẩm/hoạt động: phân tích tình huống, thiết kế KHBH, microteaching, thực hành dạy học, thực tập sư phạm.</a:t>
            </a:r>
            <a:endParaRPr lang="en-US" sz="2000" dirty="0"/>
          </a:p>
          <a:p>
            <a:pPr algn="l" marL="228600" indent="-228600">
              <a:lnSpc>
                <a:spcPct val="115000"/>
              </a:lnSpc>
              <a:spcAft>
                <a:spcPts val="1300"/>
              </a:spcAft>
              <a:buSzPct val="100000"/>
              <a:buChar char="▪"/>
            </a:pPr>
            <a:r>
              <a:rPr lang="en-US" sz="2000" dirty="0">
                <a:solidFill>
                  <a:srgbClr val="222B33"/>
                </a:solidFill>
                <a:latin typeface="Calibri" pitchFamily="34" charset="0"/>
                <a:ea typeface="Calibri" pitchFamily="34" charset="-122"/>
                <a:cs typeface="Calibri" pitchFamily="34" charset="-120"/>
              </a:rPr>
              <a:t>Tiêu chí cốt lõi: xác định/thực hiện mục tiêu bài học; tổ chức hoạt động học tập; hướng dẫn HS thực hành; sử dụng PP và kỹ thuật dạy học; quản lý thời gian/lớp học/thiết bị; xử lý tình huống sư phạm; kiểm tra, nhận xét, phản hồi.</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115</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Phản tư sau mỗi lần thực hành</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Câu hỏi cơ bản cần trả lời:</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Điều gì đã diễn ra?</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Điều gì tôi đã thực hiện tốt? Điều gì chưa đạt?</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Nguyên nhân là gì?</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Lần sau tôi sẽ thay đổi điều gì?</a:t>
            </a:r>
            <a:endParaRPr lang="en-US" sz="21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Phản tư cần hướng vào những hành động cụ thể thay vì chỉ đưa ra nhận xét chung chung.</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116</a:t>
            </a:r>
            <a:endParaRPr lang="en-US" sz="1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Chu trình cải thiện liên tục</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2100" b="1" dirty="0">
                <a:solidFill>
                  <a:srgbClr val="222B33"/>
                </a:solidFill>
                <a:latin typeface="Calibri" pitchFamily="34" charset="0"/>
                <a:ea typeface="Calibri" pitchFamily="34" charset="-122"/>
                <a:cs typeface="Calibri" pitchFamily="34" charset="-120"/>
              </a:rPr>
              <a:t>Năng lực tổ chức dạy học phát triển qua chu trình:</a:t>
            </a:r>
            <a:endParaRPr lang="en-US" sz="2100" dirty="0"/>
          </a:p>
          <a:p>
            <a:pPr algn="l" marL="228600" indent="-228600">
              <a:lnSpc>
                <a:spcPct val="115000"/>
              </a:lnSpc>
              <a:spcAft>
                <a:spcPts val="1300"/>
              </a:spcAft>
              <a:buSzPct val="100000"/>
              <a:buChar char="▪"/>
            </a:pPr>
            <a:r>
              <a:rPr lang="en-US" sz="2100" b="1" i="1" dirty="0">
                <a:solidFill>
                  <a:srgbClr val="222B33"/>
                </a:solidFill>
                <a:latin typeface="Calibri" pitchFamily="34" charset="0"/>
                <a:ea typeface="Calibri" pitchFamily="34" charset="-122"/>
                <a:cs typeface="Calibri" pitchFamily="34" charset="-120"/>
              </a:rPr>
              <a:t>Thực hành → nhận phản hồi → phản tư → điều chỉnh → thực hành lại.</a:t>
            </a:r>
            <a:endParaRPr lang="en-US" sz="2100" dirty="0"/>
          </a:p>
          <a:p>
            <a:pPr algn="l" marL="228600" indent="-228600">
              <a:lnSpc>
                <a:spcPct val="115000"/>
              </a:lnSpc>
              <a:spcAft>
                <a:spcPts val="1300"/>
              </a:spcAft>
              <a:buSzPct val="100000"/>
              <a:buChar char="▪"/>
            </a:pPr>
            <a:r>
              <a:rPr lang="en-US" sz="2100" dirty="0">
                <a:solidFill>
                  <a:srgbClr val="222B33"/>
                </a:solidFill>
                <a:latin typeface="Calibri" pitchFamily="34" charset="0"/>
                <a:ea typeface="Calibri" pitchFamily="34" charset="-122"/>
                <a:cs typeface="Calibri" pitchFamily="34" charset="-120"/>
              </a:rPr>
              <a:t>Mỗi lần thực hành nên chọn 1–2 điểm cụ thể để tập trung rèn luyện: đặt câu hỏi gợi mở tốt hơn, hướng dẫn HS gặp lỗi lập trình, quản lý thời gian, hoặc chuyển tiếp linh hoạt giữa các hoạt động.</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117</a:t>
            </a:r>
            <a:endParaRPr lang="en-US" sz="1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6.8.5</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000" b="1" dirty="0">
                <a:solidFill>
                  <a:srgbClr val="1B3A5C"/>
                </a:solidFill>
                <a:latin typeface="Calibri" pitchFamily="34" charset="0"/>
                <a:ea typeface="Calibri" pitchFamily="34" charset="-122"/>
                <a:cs typeface="Calibri" pitchFamily="34" charset="-120"/>
              </a:rPr>
              <a:t>Hồ sơ phát triển nghề nghiệp &amp; Mục tiêu sau tốt nghiệp</a:t>
            </a:r>
            <a:endParaRPr lang="en-US" sz="30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Lưu giữ có hệ thống:</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Các phiên bản KHBH trước/sau chỉnh sửa, phiếu phản hồi, video microteaching, nhật ký phản tư, sản phẩm thực tập, nhận xét của GV hướng dẫn.</a:t>
            </a:r>
            <a:endParaRPr lang="en-US" sz="1800" dirty="0"/>
          </a:p>
          <a:p>
            <a:pPr algn="l" marL="228600" indent="-228600">
              <a:lnSpc>
                <a:spcPct val="115000"/>
              </a:lnSpc>
              <a:spcAft>
                <a:spcPts val="1300"/>
              </a:spcAft>
              <a:buSzPct val="100000"/>
              <a:buChar char="▪"/>
            </a:pPr>
            <a:r>
              <a:rPr lang="en-US" sz="1800" b="1" dirty="0">
                <a:solidFill>
                  <a:srgbClr val="222B33"/>
                </a:solidFill>
                <a:latin typeface="Calibri" pitchFamily="34" charset="0"/>
                <a:ea typeface="Calibri" pitchFamily="34" charset="-122"/>
                <a:cs typeface="Calibri" pitchFamily="34" charset="-120"/>
              </a:rPr>
              <a:t>Xác định mục tiêu phát triển nghề nghiệp:</a:t>
            </a:r>
            <a:endParaRPr lang="en-US" sz="1800" dirty="0"/>
          </a:p>
          <a:p>
            <a:pPr algn="l" lvl="1" marL="508000" indent="-254000">
              <a:lnSpc>
                <a:spcPct val="115000"/>
              </a:lnSpc>
              <a:spcAft>
                <a:spcPts val="900"/>
              </a:spcAft>
              <a:buSzPct val="100000"/>
              <a:buChar char="–"/>
            </a:pPr>
            <a:r>
              <a:rPr lang="en-US" sz="1500" dirty="0">
                <a:solidFill>
                  <a:srgbClr val="5B6B79"/>
                </a:solidFill>
                <a:latin typeface="Calibri" pitchFamily="34" charset="0"/>
                <a:ea typeface="Calibri" pitchFamily="34" charset="-122"/>
                <a:cs typeface="Calibri" pitchFamily="34" charset="-120"/>
              </a:rPr>
              <a:t>Tổ chức giờ thực hành, thiết kế bài học phát triển năng lực, ứng dụng công nghệ và AI, quản lý lớp học, nghiên cứu cải tiến dạy học.</a:t>
            </a:r>
            <a:endParaRPr lang="en-US" sz="18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450" b="1" i="1" dirty="0">
                <a:solidFill>
                  <a:srgbClr val="C1571A"/>
                </a:solidFill>
                <a:latin typeface="Calibri" pitchFamily="34" charset="0"/>
                <a:ea typeface="Calibri" pitchFamily="34" charset="-122"/>
                <a:cs typeface="Calibri" pitchFamily="34" charset="-120"/>
              </a:rPr>
              <a:t>Với giáo viên Tin học, tự học và cập nhật thường xuyên đặc biệt cần thiết do công nghệ, công cụ và chương trình luôn thay đổi.</a:t>
            </a:r>
            <a:endParaRPr lang="en-US" sz="145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6 · Tổ chức dạy học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118</a:t>
            </a:r>
            <a:endParaRPr lang="en-US" sz="1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411480"/>
            <a:ext cx="7315200" cy="457200"/>
          </a:xfrm>
          <a:prstGeom prst="rect">
            <a:avLst/>
          </a:prstGeom>
          <a:noFill/>
          <a:ln/>
        </p:spPr>
        <p:txBody>
          <a:bodyPr wrap="square" rtlCol="0" anchor="ctr"/>
          <a:lstStyle/>
          <a:p>
            <a:pPr indent="0" marL="0">
              <a:buNone/>
            </a:pPr>
            <a:r>
              <a:rPr lang="en-US" sz="1700" b="1" spc="200" kern="0" dirty="0">
                <a:solidFill>
                  <a:srgbClr val="C1571A"/>
                </a:solidFill>
                <a:latin typeface="Calibri" pitchFamily="34" charset="0"/>
                <a:ea typeface="Calibri" pitchFamily="34" charset="-122"/>
                <a:cs typeface="Calibri" pitchFamily="34" charset="-120"/>
              </a:rPr>
              <a:t>TỔNG KẾT CHƯƠNG</a:t>
            </a:r>
            <a:endParaRPr lang="en-US" sz="1700" dirty="0"/>
          </a:p>
        </p:txBody>
      </p:sp>
      <p:sp>
        <p:nvSpPr>
          <p:cNvPr id="3" name="Text 1"/>
          <p:cNvSpPr/>
          <p:nvPr/>
        </p:nvSpPr>
        <p:spPr>
          <a:xfrm>
            <a:off x="822960" y="822960"/>
            <a:ext cx="9601200" cy="64008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Những điểm cốt lõi cần ghi nhớ</a:t>
            </a:r>
            <a:endParaRPr lang="en-US" sz="2700" dirty="0"/>
          </a:p>
        </p:txBody>
      </p:sp>
      <p:sp>
        <p:nvSpPr>
          <p:cNvPr id="4" name="Shape 2"/>
          <p:cNvSpPr/>
          <p:nvPr/>
        </p:nvSpPr>
        <p:spPr>
          <a:xfrm>
            <a:off x="822960" y="1609344"/>
            <a:ext cx="292608" cy="292608"/>
          </a:xfrm>
          <a:prstGeom prst="rect">
            <a:avLst/>
          </a:prstGeom>
          <a:solidFill>
            <a:srgbClr val="C1571A"/>
          </a:solidFill>
          <a:ln/>
        </p:spPr>
      </p:sp>
      <p:sp>
        <p:nvSpPr>
          <p:cNvPr id="5" name="Text 3"/>
          <p:cNvSpPr/>
          <p:nvPr/>
        </p:nvSpPr>
        <p:spPr>
          <a:xfrm>
            <a:off x="822960" y="1609344"/>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1</a:t>
            </a:r>
            <a:endParaRPr lang="en-US" sz="1250" dirty="0"/>
          </a:p>
        </p:txBody>
      </p:sp>
      <p:sp>
        <p:nvSpPr>
          <p:cNvPr id="6" name="Text 4"/>
          <p:cNvSpPr/>
          <p:nvPr/>
        </p:nvSpPr>
        <p:spPr>
          <a:xfrm>
            <a:off x="1353312" y="1499616"/>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Tổ chức dạy học Tin học đặc trưng bởi 4 đặc điểm: kết hợp LT-TH, môi trường công nghệ, khác biệt trình độ HS, đặc thù phòng máy.</a:t>
            </a:r>
            <a:endParaRPr lang="en-US" sz="1250" dirty="0"/>
          </a:p>
        </p:txBody>
      </p:sp>
      <p:sp>
        <p:nvSpPr>
          <p:cNvPr id="7" name="Shape 5"/>
          <p:cNvSpPr/>
          <p:nvPr/>
        </p:nvSpPr>
        <p:spPr>
          <a:xfrm>
            <a:off x="822960" y="2258568"/>
            <a:ext cx="292608" cy="292608"/>
          </a:xfrm>
          <a:prstGeom prst="rect">
            <a:avLst/>
          </a:prstGeom>
          <a:solidFill>
            <a:srgbClr val="C1571A"/>
          </a:solidFill>
          <a:ln/>
        </p:spPr>
      </p:sp>
      <p:sp>
        <p:nvSpPr>
          <p:cNvPr id="8" name="Text 6"/>
          <p:cNvSpPr/>
          <p:nvPr/>
        </p:nvSpPr>
        <p:spPr>
          <a:xfrm>
            <a:off x="822960" y="2258568"/>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2</a:t>
            </a:r>
            <a:endParaRPr lang="en-US" sz="1250" dirty="0"/>
          </a:p>
        </p:txBody>
      </p:sp>
      <p:sp>
        <p:nvSpPr>
          <p:cNvPr id="9" name="Text 7"/>
          <p:cNvSpPr/>
          <p:nvPr/>
        </p:nvSpPr>
        <p:spPr>
          <a:xfrm>
            <a:off x="1353312" y="2148840"/>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KHBH là công cụ tư duy — mục tiêu phải diễn đạt bằng động từ hành động cụ thể, quan sát và đánh giá được.</a:t>
            </a:r>
            <a:endParaRPr lang="en-US" sz="1250" dirty="0"/>
          </a:p>
        </p:txBody>
      </p:sp>
      <p:sp>
        <p:nvSpPr>
          <p:cNvPr id="10" name="Shape 8"/>
          <p:cNvSpPr/>
          <p:nvPr/>
        </p:nvSpPr>
        <p:spPr>
          <a:xfrm>
            <a:off x="822960" y="2907792"/>
            <a:ext cx="292608" cy="292608"/>
          </a:xfrm>
          <a:prstGeom prst="rect">
            <a:avLst/>
          </a:prstGeom>
          <a:solidFill>
            <a:srgbClr val="C1571A"/>
          </a:solidFill>
          <a:ln/>
        </p:spPr>
      </p:sp>
      <p:sp>
        <p:nvSpPr>
          <p:cNvPr id="11" name="Text 9"/>
          <p:cNvSpPr/>
          <p:nvPr/>
        </p:nvSpPr>
        <p:spPr>
          <a:xfrm>
            <a:off x="822960" y="2907792"/>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3</a:t>
            </a:r>
            <a:endParaRPr lang="en-US" sz="1250" dirty="0"/>
          </a:p>
        </p:txBody>
      </p:sp>
      <p:sp>
        <p:nvSpPr>
          <p:cNvPr id="12" name="Text 10"/>
          <p:cNvSpPr/>
          <p:nvPr/>
        </p:nvSpPr>
        <p:spPr>
          <a:xfrm>
            <a:off x="1353312" y="2798064"/>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Ba phương pháp dạy thực hành (4 bước, 3 bước, 6 bước) cần lựa chọn theo mức độ tự chủ và loại nhiệm vụ của học sinh.</a:t>
            </a:r>
            <a:endParaRPr lang="en-US" sz="1250" dirty="0"/>
          </a:p>
        </p:txBody>
      </p:sp>
      <p:sp>
        <p:nvSpPr>
          <p:cNvPr id="13" name="Shape 11"/>
          <p:cNvSpPr/>
          <p:nvPr/>
        </p:nvSpPr>
        <p:spPr>
          <a:xfrm>
            <a:off x="822960" y="3557016"/>
            <a:ext cx="292608" cy="292608"/>
          </a:xfrm>
          <a:prstGeom prst="rect">
            <a:avLst/>
          </a:prstGeom>
          <a:solidFill>
            <a:srgbClr val="C1571A"/>
          </a:solidFill>
          <a:ln/>
        </p:spPr>
      </p:sp>
      <p:sp>
        <p:nvSpPr>
          <p:cNvPr id="14" name="Text 12"/>
          <p:cNvSpPr/>
          <p:nvPr/>
        </p:nvSpPr>
        <p:spPr>
          <a:xfrm>
            <a:off x="822960" y="3557016"/>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4</a:t>
            </a:r>
            <a:endParaRPr lang="en-US" sz="1250" dirty="0"/>
          </a:p>
        </p:txBody>
      </p:sp>
      <p:sp>
        <p:nvSpPr>
          <p:cNvPr id="15" name="Text 13"/>
          <p:cNvSpPr/>
          <p:nvPr/>
        </p:nvSpPr>
        <p:spPr>
          <a:xfrm>
            <a:off x="1353312" y="3447288"/>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Hỗ trợ học sinh theo nguyên tắc phân bậc “gợi mở trước, chỉ dẫn sau, làm mẫu cuối cùng” — không làm thay.</a:t>
            </a:r>
            <a:endParaRPr lang="en-US" sz="1250" dirty="0"/>
          </a:p>
        </p:txBody>
      </p:sp>
      <p:sp>
        <p:nvSpPr>
          <p:cNvPr id="16" name="Shape 14"/>
          <p:cNvSpPr/>
          <p:nvPr/>
        </p:nvSpPr>
        <p:spPr>
          <a:xfrm>
            <a:off x="822960" y="4206240"/>
            <a:ext cx="292608" cy="292608"/>
          </a:xfrm>
          <a:prstGeom prst="rect">
            <a:avLst/>
          </a:prstGeom>
          <a:solidFill>
            <a:srgbClr val="C1571A"/>
          </a:solidFill>
          <a:ln/>
        </p:spPr>
      </p:sp>
      <p:sp>
        <p:nvSpPr>
          <p:cNvPr id="17" name="Text 15"/>
          <p:cNvSpPr/>
          <p:nvPr/>
        </p:nvSpPr>
        <p:spPr>
          <a:xfrm>
            <a:off x="822960" y="4206240"/>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5</a:t>
            </a:r>
            <a:endParaRPr lang="en-US" sz="1250" dirty="0"/>
          </a:p>
        </p:txBody>
      </p:sp>
      <p:sp>
        <p:nvSpPr>
          <p:cNvPr id="18" name="Text 16"/>
          <p:cNvSpPr/>
          <p:nvPr/>
        </p:nvSpPr>
        <p:spPr>
          <a:xfrm>
            <a:off x="1353312" y="4096512"/>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AI là công cụ hỗ trợ GV và HS, không thay thế trách nhiệm chuyên môn — cần kiểm chứng đầu ra và đảm bảo công bằng tiếp cận.</a:t>
            </a:r>
            <a:endParaRPr lang="en-US" sz="1250" dirty="0"/>
          </a:p>
        </p:txBody>
      </p:sp>
      <p:sp>
        <p:nvSpPr>
          <p:cNvPr id="19" name="Shape 17"/>
          <p:cNvSpPr/>
          <p:nvPr/>
        </p:nvSpPr>
        <p:spPr>
          <a:xfrm>
            <a:off x="822960" y="4855464"/>
            <a:ext cx="292608" cy="292608"/>
          </a:xfrm>
          <a:prstGeom prst="rect">
            <a:avLst/>
          </a:prstGeom>
          <a:solidFill>
            <a:srgbClr val="C1571A"/>
          </a:solidFill>
          <a:ln/>
        </p:spPr>
      </p:sp>
      <p:sp>
        <p:nvSpPr>
          <p:cNvPr id="20" name="Text 18"/>
          <p:cNvSpPr/>
          <p:nvPr/>
        </p:nvSpPr>
        <p:spPr>
          <a:xfrm>
            <a:off x="822960" y="4855464"/>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6</a:t>
            </a:r>
            <a:endParaRPr lang="en-US" sz="1250" dirty="0"/>
          </a:p>
        </p:txBody>
      </p:sp>
      <p:sp>
        <p:nvSpPr>
          <p:cNvPr id="21" name="Text 19"/>
          <p:cNvSpPr/>
          <p:nvPr/>
        </p:nvSpPr>
        <p:spPr>
          <a:xfrm>
            <a:off x="1353312" y="4745736"/>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Rubric công bố trước khi làm bài; đánh giá sản phẩm số theo 5 chiều: đúng đắn, hoàn chỉnh, hiệu quả, thẩm mỹ, sáng tạo.</a:t>
            </a:r>
            <a:endParaRPr lang="en-US" sz="1250" dirty="0"/>
          </a:p>
        </p:txBody>
      </p:sp>
      <p:sp>
        <p:nvSpPr>
          <p:cNvPr id="22" name="Shape 20"/>
          <p:cNvSpPr/>
          <p:nvPr/>
        </p:nvSpPr>
        <p:spPr>
          <a:xfrm>
            <a:off x="822960" y="5504688"/>
            <a:ext cx="292608" cy="292608"/>
          </a:xfrm>
          <a:prstGeom prst="rect">
            <a:avLst/>
          </a:prstGeom>
          <a:solidFill>
            <a:srgbClr val="C1571A"/>
          </a:solidFill>
          <a:ln/>
        </p:spPr>
      </p:sp>
      <p:sp>
        <p:nvSpPr>
          <p:cNvPr id="23" name="Text 21"/>
          <p:cNvSpPr/>
          <p:nvPr/>
        </p:nvSpPr>
        <p:spPr>
          <a:xfrm>
            <a:off x="822960" y="5504688"/>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7</a:t>
            </a:r>
            <a:endParaRPr lang="en-US" sz="1250" dirty="0"/>
          </a:p>
        </p:txBody>
      </p:sp>
      <p:sp>
        <p:nvSpPr>
          <p:cNvPr id="24" name="Text 22"/>
          <p:cNvSpPr/>
          <p:nvPr/>
        </p:nvSpPr>
        <p:spPr>
          <a:xfrm>
            <a:off x="1353312" y="5394960"/>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Tiết ôn tập là học sinh tái kiến tạo — không phải giáo viên giảng lại; cần phân hóa và tạo ra sản phẩm hệ thống hóa.</a:t>
            </a:r>
            <a:endParaRPr lang="en-US" sz="1250" dirty="0"/>
          </a:p>
        </p:txBody>
      </p:sp>
      <p:sp>
        <p:nvSpPr>
          <p:cNvPr id="25" name="Shape 23"/>
          <p:cNvSpPr/>
          <p:nvPr/>
        </p:nvSpPr>
        <p:spPr>
          <a:xfrm>
            <a:off x="822960" y="6153912"/>
            <a:ext cx="292608" cy="292608"/>
          </a:xfrm>
          <a:prstGeom prst="rect">
            <a:avLst/>
          </a:prstGeom>
          <a:solidFill>
            <a:srgbClr val="C1571A"/>
          </a:solidFill>
          <a:ln/>
        </p:spPr>
      </p:sp>
      <p:sp>
        <p:nvSpPr>
          <p:cNvPr id="26" name="Text 24"/>
          <p:cNvSpPr/>
          <p:nvPr/>
        </p:nvSpPr>
        <p:spPr>
          <a:xfrm>
            <a:off x="822960" y="6153912"/>
            <a:ext cx="292608" cy="292608"/>
          </a:xfrm>
          <a:prstGeom prst="rect">
            <a:avLst/>
          </a:prstGeom>
          <a:noFill/>
          <a:ln/>
        </p:spPr>
        <p:txBody>
          <a:bodyPr wrap="square" rtlCol="0" anchor="ctr"/>
          <a:lstStyle/>
          <a:p>
            <a:pPr algn="ctr" indent="0" marL="0">
              <a:buNone/>
            </a:pPr>
            <a:r>
              <a:rPr lang="en-US" sz="1250" b="1" dirty="0">
                <a:solidFill>
                  <a:srgbClr val="16324F"/>
                </a:solidFill>
                <a:latin typeface="Calibri" pitchFamily="34" charset="0"/>
                <a:ea typeface="Calibri" pitchFamily="34" charset="-122"/>
                <a:cs typeface="Calibri" pitchFamily="34" charset="-120"/>
              </a:rPr>
              <a:t>8</a:t>
            </a:r>
            <a:endParaRPr lang="en-US" sz="1250" dirty="0"/>
          </a:p>
        </p:txBody>
      </p:sp>
      <p:sp>
        <p:nvSpPr>
          <p:cNvPr id="27" name="Text 25"/>
          <p:cNvSpPr/>
          <p:nvPr/>
        </p:nvSpPr>
        <p:spPr>
          <a:xfrm>
            <a:off x="1353312" y="6044184"/>
            <a:ext cx="10149840" cy="594360"/>
          </a:xfrm>
          <a:prstGeom prst="rect">
            <a:avLst/>
          </a:prstGeom>
          <a:noFill/>
          <a:ln/>
        </p:spPr>
        <p:txBody>
          <a:bodyPr wrap="square" rtlCol="0" anchor="ctr"/>
          <a:lstStyle/>
          <a:p>
            <a:pPr indent="0" marL="0">
              <a:buNone/>
            </a:pPr>
            <a:r>
              <a:rPr lang="en-US" sz="1250" dirty="0">
                <a:solidFill>
                  <a:srgbClr val="E6EEF6"/>
                </a:solidFill>
                <a:latin typeface="Calibri" pitchFamily="34" charset="0"/>
                <a:ea typeface="Calibri" pitchFamily="34" charset="-122"/>
                <a:cs typeface="Calibri" pitchFamily="34" charset="-120"/>
              </a:rPr>
              <a:t>Năng lực tổ chức dạy học chỉ phát triển qua chu trình: thực hành → phản hồi → phản tư → điều chỉnh → thực hành lại.</a:t>
            </a:r>
            <a:endParaRPr lang="en-US" sz="1250" dirty="0"/>
          </a:p>
        </p:txBody>
      </p:sp>
      <p:sp>
        <p:nvSpPr>
          <p:cNvPr id="28" name="Text 26"/>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Cảm ơn — Chương 6: Tổ chức dạy học Tin học</a:t>
            </a:r>
            <a:endParaRPr lang="en-US" sz="1000" dirty="0"/>
          </a:p>
        </p:txBody>
      </p:sp>
      <p:sp>
        <p:nvSpPr>
          <p:cNvPr id="29" name="Text 27"/>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120</Slides>
  <Notes>120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120</vt:i4>
      </vt:variant>
    </vt:vector>
  </HeadingPairs>
  <TitlesOfParts>
    <vt:vector size="1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2026-09-13T14:39:41Z</dcterms:created>
  <dcterms:modified xsi:type="dcterms:W3CDTF">2026-09-13T14:39:41Z</dcterms:modified>
</cp:coreProperties>
</file>