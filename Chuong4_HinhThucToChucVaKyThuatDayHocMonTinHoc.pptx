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1828800"/>
            <a:ext cx="7315200" cy="548640"/>
          </a:xfrm>
          <a:prstGeom prst="rect">
            <a:avLst/>
          </a:prstGeom>
          <a:noFill/>
          <a:ln/>
        </p:spPr>
        <p:txBody>
          <a:bodyPr wrap="square" rtlCol="0" anchor="ctr"/>
          <a:lstStyle/>
          <a:p>
            <a:pPr indent="0" marL="0">
              <a:buNone/>
            </a:pPr>
            <a:r>
              <a:rPr lang="en-US" sz="1800" b="1" spc="300" kern="0" dirty="0">
                <a:solidFill>
                  <a:srgbClr val="C1571A"/>
                </a:solidFill>
                <a:latin typeface="Calibri" pitchFamily="34" charset="0"/>
                <a:ea typeface="Calibri" pitchFamily="34" charset="-122"/>
                <a:cs typeface="Calibri" pitchFamily="34" charset="-120"/>
              </a:rPr>
              <a:t>CHƯƠNG 4</a:t>
            </a:r>
            <a:endParaRPr lang="en-US" sz="1800" dirty="0"/>
          </a:p>
        </p:txBody>
      </p:sp>
      <p:sp>
        <p:nvSpPr>
          <p:cNvPr id="3" name="Text 1"/>
          <p:cNvSpPr/>
          <p:nvPr/>
        </p:nvSpPr>
        <p:spPr>
          <a:xfrm>
            <a:off x="822960" y="2331720"/>
            <a:ext cx="10515600" cy="2468880"/>
          </a:xfrm>
          <a:prstGeom prst="rect">
            <a:avLst/>
          </a:prstGeom>
          <a:noFill/>
          <a:ln/>
        </p:spPr>
        <p:txBody>
          <a:bodyPr wrap="square" rtlCol="0" anchor="ctr"/>
          <a:lstStyle/>
          <a:p>
            <a:pPr algn="l" indent="0" marL="0">
              <a:lnSpc>
                <a:spcPct val="105000"/>
              </a:lnSpc>
              <a:buNone/>
            </a:pPr>
            <a:r>
              <a:rPr lang="en-US" sz="4000" b="1" dirty="0">
                <a:solidFill>
                  <a:srgbClr val="FFFFFF"/>
                </a:solidFill>
                <a:latin typeface="Calibri" pitchFamily="34" charset="0"/>
                <a:ea typeface="Calibri" pitchFamily="34" charset="-122"/>
                <a:cs typeface="Calibri" pitchFamily="34" charset="-120"/>
              </a:rPr>
              <a:t>HÌNH THỨC TỔ CHỨC VÀ</a:t>
            </a:r>
            <a:endParaRPr lang="en-US" sz="4000" dirty="0"/>
          </a:p>
          <a:p>
            <a:pPr algn="l" indent="0" marL="0">
              <a:lnSpc>
                <a:spcPct val="105000"/>
              </a:lnSpc>
              <a:buNone/>
            </a:pPr>
            <a:r>
              <a:rPr lang="en-US" sz="4000" b="1" dirty="0">
                <a:solidFill>
                  <a:srgbClr val="FFFFFF"/>
                </a:solidFill>
                <a:latin typeface="Calibri" pitchFamily="34" charset="0"/>
                <a:ea typeface="Calibri" pitchFamily="34" charset="-122"/>
                <a:cs typeface="Calibri" pitchFamily="34" charset="-120"/>
              </a:rPr>
              <a:t>KỸ THUẬT DẠY HỌC</a:t>
            </a:r>
            <a:endParaRPr lang="en-US" sz="4000" dirty="0"/>
          </a:p>
          <a:p>
            <a:pPr algn="l" indent="0" marL="0">
              <a:lnSpc>
                <a:spcPct val="105000"/>
              </a:lnSpc>
              <a:buNone/>
            </a:pPr>
            <a:r>
              <a:rPr lang="en-US" sz="4000" b="1" dirty="0">
                <a:solidFill>
                  <a:srgbClr val="FFFFFF"/>
                </a:solidFill>
                <a:latin typeface="Calibri" pitchFamily="34" charset="0"/>
                <a:ea typeface="Calibri" pitchFamily="34" charset="-122"/>
                <a:cs typeface="Calibri" pitchFamily="34" charset="-120"/>
              </a:rPr>
              <a:t>MÔN TIN HỌC</a:t>
            </a:r>
            <a:endParaRPr lang="en-US" sz="4000" dirty="0"/>
          </a:p>
        </p:txBody>
      </p:sp>
      <p:sp>
        <p:nvSpPr>
          <p:cNvPr id="4" name="Text 2"/>
          <p:cNvSpPr/>
          <p:nvPr/>
        </p:nvSpPr>
        <p:spPr>
          <a:xfrm>
            <a:off x="822960" y="5074920"/>
            <a:ext cx="91440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Lý luận và Phương pháp dạy học Tin học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Mục tiêu của chương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Lựa chọn kỹ thuật dạy học và nền tảng số phù hợp</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Đánh giá đúng đặc thù bài học để chọn kỹ thuật (Khăn trải bàn, Mảnh ghép, 5W1H, Think-Code-Share...) và công cụ số (Scratch, Python IDE, Padlet...) phù hợp trình độ HS và điều kiện thực tế.</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Xây dựng hoạt động học tập tương tác cao</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Ứng dụng hiệu quả mô hình Lớp học đảo ngược (Flipped Classroom) và tích hợp công nghệ theo các mức độ của mô hình SAMR.</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Vận hành 6 chức năng điều hành quá trình dạy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Từ khảo sát trình độ xuất phát đến hướng dẫn tự học, đặc biệt tổ chức tốt các giờ thực hành phòng máy.</a:t>
            </a:r>
            <a:endParaRPr lang="en-US" sz="18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Mục tiêu của chương (tiếp)</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b="1" dirty="0">
                <a:solidFill>
                  <a:srgbClr val="222B33"/>
                </a:solidFill>
                <a:latin typeface="Calibri" pitchFamily="34" charset="0"/>
                <a:ea typeface="Calibri" pitchFamily="34" charset="-122"/>
                <a:cs typeface="Calibri" pitchFamily="34" charset="-120"/>
              </a:rPr>
              <a:t>Xử lý linh hoạt các tình huống sư phạm</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Nhận diện, đề xuất giải pháp cho tình huống phát sinh (HS chán nản, chênh lệch trình độ, lỗi code) và lồng ghép giáo dục đạo đức, an toàn số.</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Trọng tâm chương: từ “biết phương pháp” (Chương 3) đến “làm chủ kỹ thuật cụ thể và công cụ vận hành” — cấp độ tác nghiệp của người giáo viên Tin học.</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Nội dung chương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4.1. Kỹ thuật dạy học tích cực trong Tin học</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Khái niệm KTDH; 8 kỹ thuật phổ biến (Động não, Khăn trải bàn, Mảnh ghép, Phòng tranh, Công đoạn, Sơ đồ tư duy, 5W1H, Think-Code-Share); nguyên tắc lựa chọn &amp; phối hợp.</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4.2. Ứng dụng công nghệ và mô hình dạy học số</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Mô hình SAMR; môi trường lập trình (Scratch, Thonny, Replit, Colab); công cụ quản lý lớp học; Lớp học đảo ngược; Dạy học hỗn hợp; An toàn số.</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4.3. Những chức năng điều hành quá trình dạy học</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6 chức năng: đảm bảo trình độ xuất phát, hướng đích - gợi động cơ, làm việc với nội dung mới, củng cố, kiểm tra - đánh giá, hướng dẫn tự học.</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4.4. Lựa chọn và phối hợp phương pháp dạy học</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Tiêu chí lựa chọn; nguyên tắc phối hợp; mô hình phối hợp theo loại bài học; sai lầm thường gặp; quy trình 5 bước thiết kế bài học.</a:t>
            </a:r>
            <a:endParaRPr lang="en-US" sz="17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4.1</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Kỹ thuật dạy học tích cực trong Tin học</a:t>
            </a:r>
            <a:endParaRPr lang="en-US" sz="3200" dirty="0"/>
          </a:p>
        </p:txBody>
      </p:sp>
      <p:sp>
        <p:nvSpPr>
          <p:cNvPr id="4" name="Text 2"/>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Khái niệm và vai trò của kỹ thuật dạy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KTDH là những cách thức hành động cụ thể, linh hoạt trong các tình huống nhỏ nhằm tổ chức, điều chỉnh và nâng cao hiệu quả của quá trình dạy học.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PPDH trả lời “Dạy học như thế nào?”; KTDH trả lời “Làm thế nào để từng hoạt động nhỏ diễn ra hiệu quả và sinh động?”</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Vai trò đặc biệt quan trọng trong Tin học vì:</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Nội dung thường trừu tượng (thuật toán, cấu trúc dữ liệu, logic) — KTDH giúp cụ thể hóa, trực quan hóa.</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Lớp học phân hóa lớn về trình độ — KTDH giúp cá nhân hóa, hỗ trợ nhiều mức độ trong cùng một hoạt động.</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Thực hành là trọng tâm — KTDH tạo cơ chế tổ chức thực hành sôi nổi, có phản hồi, có tính cộng tác.</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Lưu ý: KTDH không phải “trò chơi cho vui” mà là công cụ có chủ đích — không lạm dụng hay áp dụng máy móc.</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Động não (Brainstorming)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Bản chất: huy động nhanh, không phán xét tất cả ý tưởng của HS về một vấn đề, khơi dậy tư duy sáng tạo.</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Bước 1 — Đặt vấn đề: GV nêu câu hỏi ngắn gọn. VD: “Có những cách nào để sắp xếp một danh sách số từ nhỏ đến lớn?”</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Bước 2 — Phát ý tưởng tự do (3–5 phút): HS nêu ý kiến không giới hạn, không phê bình; GV ghi nhanh lên bảng/Padlet.</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Bước 3 — Phân loại và đánh giá: cả lớp nhóm các ý tưởng, loại trùng lặp, đánh giá tính khả thi.</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Bước 4 — Kết luận: GV hệ thống hóa, dẫn vào nội dung bài học.</a:t>
            </a:r>
            <a:endParaRPr lang="en-US" sz="17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Động não — Ứng dụng &amp; biến thể số</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Khởi động bài mới: “Kể tên thông tin cần lưu trữ khi quản lý thư viện trường” (trước khi học CSDL).</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Phân tích yêu cầu bài toán trước khi lập trình.</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Huy động ý tưởng cho dự án nhóm ở giai đoạn đầu.</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Tổng kết chủ đề: “Nêu một số ứng dụng của vòng lặp trong thực tế”.</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Biến thể số: dùng Mentimeter (wordcloud), Padlet để HS đăng ý kiến đồng thời — phù hợp phòng máy, không mất thời gian viết bảng tuần tự.</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Khăn trải bàn (Placemat)</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Bản chất: kết hợp tư duy cá nhân độc lập và thảo luận nhóm để đạt đồng thuận chung.</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Chuẩn bị: giấy A3 (hoặc bảng số) chia 5 ô — 4 ô góc cho 4 thành viên, 1 ô trung tâm cho ý kiến chung.</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Bước 1 — Làm việc cá nhân (3–5 phút): mỗi HS viết ý kiến vào ô của mình, không trao đổi.</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Bước 2 — Chia sẻ nhóm (5–7 phút): lần lượt trình bày, lắng nghe, đặt câu hỏi.</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Bước 3 — Thống nhất (3–5 phút): cả nhóm thảo luận, điền vào ô trung tâm điểm đồng thuận.</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Bước 4 — Báo cáo: đại diện nhóm trình bày ô trung tâm trước lớp.</a:t>
            </a:r>
            <a:endParaRPr lang="en-US" sz="16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Khăn trải bàn — Ứng dụng trong Tin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Phân tích một đoạn code: mỗi HS đọc, ghi nhận xét riêng → nhóm thống nhất đánh giá chung.</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Thảo luận tiêu chí chọn cấu trúc dữ liệu phù hợp cho bài toán.</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So sánh ưu/nhược điểm của hai thuật toán hoặc hai công cụ phần mềm.</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Lập kế hoạch phân công công việc cho dự án nhóm.</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Đặc biệt phát huy giá trị khi HS khác biệt trình độ — HS yếu không bị “chìm” vì có bước làm việc cá nhân bắt buộc trước.</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Mảnh ghép (Jigsaw)</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Bản chất: mỗi HS trở thành “chuyên gia” về một phần kiến thức, sau đó dạy lại cho nhóm gốc — tạo sự phụ thuộc tích cực.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Vòng 1 — Nhóm chuyên gia:</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Lớp chia nhóm chuyên gia, mỗi nhóm nghiên cứu sâu một phần nội dung (15–20 phút); thống nhất cách trình bày để dạy lại.</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Vòng 2 — Nhóm gốc (ghép mảnh):</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Mỗi nhóm gốc gồm đại diện từ các nhóm chuyên gia; lần lượt dạy lại phần mình cho cả nhóm; tổng hợp và giải quyết nhiệm vụ chung.</a:t>
            </a:r>
            <a:endParaRPr lang="en-US" sz="18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Mảnh ghép — Ví dụ chia mảnh trong Tin học</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4114800"/>
                <a:gridCol w="7040880"/>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Chủ đề</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Cách chia mảnh</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7155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Các thuật toán sắp xếp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Bubble Sort / Selection Sort / Insertion Sort / Merge Sort</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Các kiểu dữ liệu trong Python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int &amp; float / str / list / dict &amp; tuple</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7155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Lịch sử phát triển Internet</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ARPANET / WWW / Băng thông rộng / Internet di động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Các mô hình mạng máy tính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Client-Server / P2P / Cloud / Hybrid</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Lưu ý: mỗi “mảnh” cần độ phức tạp tương đương; cần phiếu học tập rõ ràng cho từng nhóm; thời gian tổng 35–45 phút, phù hợp tiết lý thuyết.</a:t>
            </a:r>
            <a:endParaRPr lang="en-US" sz="1200" dirty="0"/>
          </a:p>
        </p:txBody>
      </p:sp>
      <p:sp>
        <p:nvSpPr>
          <p:cNvPr id="7"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Phòng tranh (Gallery Walk)</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Bản chất: HS trưng bày sản phẩm học tập (bài giải, sơ đồ, code, thiết kế) kiểu “triển lãm”; các nhóm luân phiên tham quan, đặt câu hỏi, để lại nhận xét.</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Chuẩn bị: các nhóm hoàn thiện sản phẩm, dán/chiếu lên “trạm trưng bày”; mỗi trạm có phiếu phản hồi.</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Tham quan (10–15 phút): các nhóm di chuyển theo chiều kim đồng hồ, dừng mỗi trạm 2–3 phút, để lại ít nhất 1 nhận xét tích cực + 1 gợi ý cải thiện.</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Phản hồi: mỗi nhóm quay về trạm mình, đọc nhận xét và thảo luận.</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Tổng kết: GV điểm qua điểm chung nổi bật, sửa lỗi điển hình.</a:t>
            </a:r>
            <a:endParaRPr lang="en-US" sz="17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Phòng tranh — Ứng dụng &amp; biến thể số</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Trưng bày các giải pháp lập trình khác nhau cho cùng bài toán (so sánh phong cách code, hiệu quả).</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Triển lãm giao diện thiết kế website hoặc ứng dụng của nhóm.</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Trưng bày sơ đồ thuật toán (flowchart) và nhận xét từ nhóm khác.</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Chia sẻ báo cáo phân tích dữ liệu cuối dự án.</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Biến thể số (Virtual Gallery Walk): dùng Padlet hoặc Google Slides (mỗi nhóm 1 slide) — HS nhận xét qua comment. Phù hợp khi thiếu không gian hoặc học online.</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Kỹ thuật Công đoạn (Pass the Problem)</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Bản chất: sản phẩm nhóm này là đầu vào để nhóm khác phát triển, kiểm tra, tối ưu — mô phỏng quy trình phát triển phần mềm thực tế (code review, testing, refactoring).</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Giai đoạn 1 — Giải quyết vấn đề ban đầu: mỗi nhóm thực hiện nhiệm vụ (viết code, sửa lỗi, thiết kế thuật toán), ghi lại quá trình suy nghĩ.</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Giai đoạn 2 — Chuyển giao: chuyển sản phẩm (kèm ghi chú) cho nhóm kế tiếp.</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Giai đoạn 3 — Kiểm tra và cải tiến: nhóm nhận đọc hiểu, kiểm thử, phát hiện lỗi tiềm ẩn, đề xuất cải tiến — không xóa phần cũ mà chú thích bên cạnh.</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Giai đoạn 4 — Tổng kết đa chiều: GV cùng lớp xem sản phẩm điển hình, phân tích khác biệt giữa 2 phiên bản.</a:t>
            </a:r>
            <a:endParaRPr lang="en-US" sz="15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đoạn — Ví dụ: Debug và Tối ưu code (Python, lớp 11)</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1: Nhóm A nhận code Python lỗi logic (tính tổng số chẵn nhưng sai kết quả) — tìm lỗi, sửa, ghi chú giải thích.</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2: Nhóm A chuyển code đã sửa sang Nhóm B.</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3: Nhóm B kiểm tra bằng nhiều bộ test (list rỗng, list toàn số lẻ), phát hiện trường hợp chưa xử lý, đề xuất viết gọn hơn bằng list comprehension.</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4: Cả lớp thảo luận khác biệt giữa 2 phiên bản — cơ hội dạy tư duy kiểm thử và tái cấu trúc (refactoring) tự nhiên.</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Lưu ý: cần định nghĩa rõ “sản phẩm bàn giao” (code + ghi chú); tránh để nhóm nhận “xóa sạch” làm lại — mục tiêu là đối thoại giữa hai phiên bản.</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4.1.2.6</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Sơ đồ tư duy (Mind Map)</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00" b="1" dirty="0">
                <a:solidFill>
                  <a:srgbClr val="222B33"/>
                </a:solidFill>
                <a:latin typeface="Calibri" pitchFamily="34" charset="0"/>
                <a:ea typeface="Calibri" pitchFamily="34" charset="-122"/>
                <a:cs typeface="Calibri" pitchFamily="34" charset="-120"/>
              </a:rPr>
              <a:t>Bản chất: công cụ tổ chức thông tin theo cấu trúc phân nhánh từ một ý tưởng trung tâm, giúp hệ thống hóa kiến thức trực quan, sáng tạo, cá nhân hóa.</a:t>
            </a:r>
            <a:endParaRPr lang="en-US" sz="1600" dirty="0"/>
          </a:p>
          <a:p>
            <a:pPr algn="l" marL="203200" indent="-203200">
              <a:lnSpc>
                <a:spcPct val="108000"/>
              </a:lnSpc>
              <a:spcAft>
                <a:spcPts val="1000"/>
              </a:spcAft>
              <a:buSzPct val="100000"/>
              <a:buChar char="▪"/>
            </a:pPr>
            <a:r>
              <a:rPr lang="en-US" sz="1600" dirty="0">
                <a:solidFill>
                  <a:srgbClr val="222B33"/>
                </a:solidFill>
                <a:latin typeface="Calibri" pitchFamily="34" charset="0"/>
                <a:ea typeface="Calibri" pitchFamily="34" charset="-122"/>
                <a:cs typeface="Calibri" pitchFamily="34" charset="-120"/>
              </a:rPr>
              <a:t>Trước bài học: kích hoạt kiến thức nền — HS vẽ những gì đã biết về chủ đề.</a:t>
            </a:r>
            <a:endParaRPr lang="en-US" sz="1600" dirty="0"/>
          </a:p>
          <a:p>
            <a:pPr algn="l" marL="203200" indent="-203200">
              <a:lnSpc>
                <a:spcPct val="108000"/>
              </a:lnSpc>
              <a:spcAft>
                <a:spcPts val="1000"/>
              </a:spcAft>
              <a:buSzPct val="100000"/>
              <a:buChar char="▪"/>
            </a:pPr>
            <a:r>
              <a:rPr lang="en-US" sz="1600" dirty="0">
                <a:solidFill>
                  <a:srgbClr val="222B33"/>
                </a:solidFill>
                <a:latin typeface="Calibri" pitchFamily="34" charset="0"/>
                <a:ea typeface="Calibri" pitchFamily="34" charset="-122"/>
                <a:cs typeface="Calibri" pitchFamily="34" charset="-120"/>
              </a:rPr>
              <a:t>Trong bài học: ghi chép linh hoạt, không tuyến tính — phù hợp cách não bộ xử lý thông tin.</a:t>
            </a:r>
            <a:endParaRPr lang="en-US" sz="1600" dirty="0"/>
          </a:p>
          <a:p>
            <a:pPr algn="l" marL="203200" indent="-203200">
              <a:lnSpc>
                <a:spcPct val="108000"/>
              </a:lnSpc>
              <a:spcAft>
                <a:spcPts val="1000"/>
              </a:spcAft>
              <a:buSzPct val="100000"/>
              <a:buChar char="▪"/>
            </a:pPr>
            <a:r>
              <a:rPr lang="en-US" sz="1600" dirty="0">
                <a:solidFill>
                  <a:srgbClr val="222B33"/>
                </a:solidFill>
                <a:latin typeface="Calibri" pitchFamily="34" charset="0"/>
                <a:ea typeface="Calibri" pitchFamily="34" charset="-122"/>
                <a:cs typeface="Calibri" pitchFamily="34" charset="-120"/>
              </a:rPr>
              <a:t>Sau bài học: tổng kết, hệ thống hóa kiến thức toàn chương.</a:t>
            </a:r>
            <a:endParaRPr lang="en-US" sz="1600" dirty="0"/>
          </a:p>
          <a:p>
            <a:pPr algn="l" marL="203200" indent="-203200">
              <a:lnSpc>
                <a:spcPct val="108000"/>
              </a:lnSpc>
              <a:spcAft>
                <a:spcPts val="1000"/>
              </a:spcAft>
              <a:buSzPct val="100000"/>
              <a:buChar char="▪"/>
            </a:pPr>
            <a:r>
              <a:rPr lang="en-US" sz="1600" dirty="0">
                <a:solidFill>
                  <a:srgbClr val="222B33"/>
                </a:solidFill>
                <a:latin typeface="Calibri" pitchFamily="34" charset="0"/>
                <a:ea typeface="Calibri" pitchFamily="34" charset="-122"/>
                <a:cs typeface="Calibri" pitchFamily="34" charset="-120"/>
              </a:rPr>
              <a:t>Ứng dụng: tổng kết kiểu cấu trúc dữ liệu, hệ thống lệnh SQL, phân loại lỗi lập trình (cú pháp/logic/runtime), tóm tắt thành phần mạng máy tính.</a:t>
            </a:r>
            <a:endParaRPr lang="en-US" sz="1600" dirty="0"/>
          </a:p>
          <a:p>
            <a:pPr algn="l" marL="203200" indent="-203200">
              <a:lnSpc>
                <a:spcPct val="108000"/>
              </a:lnSpc>
              <a:spcAft>
                <a:spcPts val="1000"/>
              </a:spcAft>
              <a:buSzPct val="100000"/>
              <a:buChar char="▪"/>
            </a:pPr>
            <a:r>
              <a:rPr lang="en-US" sz="1600" dirty="0">
                <a:solidFill>
                  <a:srgbClr val="222B33"/>
                </a:solidFill>
                <a:latin typeface="Calibri" pitchFamily="34" charset="0"/>
                <a:ea typeface="Calibri" pitchFamily="34" charset="-122"/>
                <a:cs typeface="Calibri" pitchFamily="34" charset="-120"/>
              </a:rPr>
              <a:t>Công cụ: MindMeister, Miro, XMind, Canva — HS tạo, chia sẻ trực tuyến, GV nhận xét qua link.</a:t>
            </a:r>
            <a:endParaRPr lang="en-US" sz="16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Lưu ý sư phạm: không yêu cầu sơ đồ “đẹp” hơn “đúng và sâu” — đánh giá theo tính đầy đủ của nhánh kiến thức và độ chính xác mối liên hệ.</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4.1.2.7</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Kỹ thuật 5W1H trong phân tích bài toán</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Bản chất: áp dụng khung câu hỏi 5W1H (What–Why–Who–When–Where–How) như công cụ tư duy hệ thống để phân tích yêu cầu bài toán trước khi thiết kế thuật toán hoặc viết code.</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Mô phỏng giai đoạn “phân tích yêu cầu” trong quy trình phát triển phần mềm thực tế — kỹ thuật đặc thù của dạy học Tin học.</a:t>
            </a:r>
            <a:endParaRPr lang="en-US" sz="19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4.1.2.7</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5W1H — Ý nghĩa từng câu hỏi (VD: Quản lý điểm HS)</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103120"/>
                <a:gridCol w="3657600"/>
                <a:gridCol w="5394960"/>
              </a:tblGrid>
              <a:tr h="45720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Câu hỏi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Ý nghĩa trong phân tích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Ví dụ</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What — Cái gì?</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Đầu vào là gì? Đầu ra là gì?</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Input: danh sách điểm. Output: điểm TB, xếp loại</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Why — Tại sao?</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Ý nghĩa thực tế, mục đích</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Giúp GV tổng kết học kỳ nhanh hơn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Who — Ai?</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Người dùng là ai? Nhu cầu?</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GV chủ nhiệm — cần giao diện đơn giản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When — Khi nào?</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Điều kiện biên, trường hợp đặc biệt</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Xử lý thế nào nếu danh sách rỗng? Điểm âm?</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Where — Ở đâu?</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Dữ liệu lấy từ đâu? Xuất ra đâu?</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Nhập bàn phím hay đọc file CSV?</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How — Như thế nào?</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Thuật toán nào? Chia nhỏ ra sao?</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Dùng vòng lặp tính tổng, chia n lấy TB</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4.1.2.7</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5W1H — Tiến trình thực hiện &amp; giá trị cốt lõi</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Bước 1: HS đọc đề bài, điền bảng 5W1H cá nhân (5 phút).</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Bước 2: Thảo luận cặp đôi — thống nhất các điểm khác biệt.</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Bước 3: Chia sẻ nhanh với lớp, tập trung câu When (điều kiện biên thường bị bỏ sót).</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Bước 4: Bắt đầu thiết kế thuật toán dựa trên bảng 5W1H đã thống nhất.</a:t>
            </a:r>
            <a:endParaRPr lang="en-US" sz="19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Giá trị cốt lõi: dạy HS thói quen “phân tích trước, code sau” — tư duy quan trọng của lập trình viên chuyên nghiệp, tránh lỗi đọc đề xong code ngay.</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4.1.2.8</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Kỹ thuật Think — Code — Share</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Bản chất: biến thể của Think–Pair–Share, điều chỉnh đặc thù cho dạy học lập trình — tư duy độc lập về thuật toán, tự viết code, rồi chia sẻ so sánh.</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Think (3–5 phút): đọc đề, phân tích yêu cầu, phác thảo thuật toán bằng ngôn ngữ tự nhiên hoặc sơ đồ khối — chưa viết code.</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Code (10–15 phút): tự viết code theo thuật toán đã phác thảo, ghi chú chỗ chưa chắc chắn.</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Share (5–10 phút): chia sẻ với bạn cạnh (hoặc nhóm) — so sánh cách tiếp cận, giải thích lý do chọn thuật toán, phát hiện lỗi cho nhau.</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Vì sao cần tách Think và Code: HS thường bỏ qua tư duy thuật toán, viết code ngay dẫn đến lộn xộn — kỹ thuật tạo “rào cản có chủ đích” để hình thành thói quen tư duy trước.</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Chọn kỹ thuật dạy học theo mục tiêu hoạt động</a:t>
            </a:r>
            <a:endParaRPr lang="en-US" sz="2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5029200"/>
                <a:gridCol w="6126480"/>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Mục tiêu hoạt động</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Kỹ thuật phù hợp</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Kích hoạt kiến thức nền, khởi động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Động não, Sơ đồ tư duy (trống)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Phân tích và hiểu bài toán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5W1H, Khăn trải bàn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Hình thành kiến thức mới theo nhóm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Mảnh ghép, Phòng tranh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Luyện tập và phản hồi lẫn nhau</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Công đoạn, Think–Code–Share</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Tổng kết và hệ thống hóa</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Sơ đồ tư duy, Gallery Walk</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Chọn kỹ thuật theo thời điểm &amp; điều kiện</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Đầu tiết (5–10 phút): Động não, Sơ đồ tư duy kích hoạt kiến thức cũ.</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Giữa tiết (15–25 phút): Mảnh ghép, Khăn trải bàn, Think–Code–Share khi hình thành kiến thức mới.</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Cuối tiết (10–15 phút): Phòng tranh, Công đoạn để chia sẻ và phản hồi sản phẩm thực hành.</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Theo quy mô lớp &amp; thiết bị: phòng máy đủ thiết bị → ưu tiên kỹ thuật có sản phẩm số; lớp thường/mất điện → ưu tiên Khăn trải bàn, Sơ đồ tư duy giấy, Mảnh ghép với phiếu in sẵn.</a:t>
            </a:r>
            <a:endParaRPr lang="en-US" sz="18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4.2</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Ứng dụng công nghệ và mô hình dạy học số</a:t>
            </a:r>
            <a:endParaRPr lang="en-US" sz="3200" dirty="0"/>
          </a:p>
        </p:txBody>
      </p:sp>
      <p:sp>
        <p:nvSpPr>
          <p:cNvPr id="4" name="Text 2"/>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Quan điểm nền tảng về tích hợp công nghệ</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50" b="1" i="1" dirty="0">
                <a:solidFill>
                  <a:srgbClr val="222B33"/>
                </a:solidFill>
                <a:latin typeface="Calibri" pitchFamily="34" charset="0"/>
                <a:ea typeface="Calibri" pitchFamily="34" charset="-122"/>
                <a:cs typeface="Calibri" pitchFamily="34" charset="-120"/>
              </a:rPr>
              <a:t>Câu hỏi then chốt: “Công nghệ này giúp học sinh học tốt hơn như thế nào?” — không phải “Dùng công nghệ có vẻ hiện đại hơn không?”</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Thực tiễn: nhiều giờ dùng nhiều công cụ nhưng HS vẫn học thụ động — công nghệ chỉ thay phương tiện (bảng → slide) mà không đổi bản chất hoạt động học.</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Ngược lại: một số giờ dùng rất ít công nghệ nhưng HS tư duy tích cực, sâu sắc.</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Mô hình SAMR (Puentedura, 2006) giúp GV tự đánh giá mức độ chuyển đổi thực sự trong dạy học của mình (4 mức: S–A–M–R).</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Mục tiêu: dần tiến lên mức M và R — nơi công nghệ thực sự biến đổi cách học; tuy nhiên mức S và A vẫn có giá trị trong hoàn cảnh phù hợp.</a:t>
            </a:r>
            <a:endParaRPr lang="en-US" sz="17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theo cấp học (1): Scratch &amp; Thonny</a:t>
            </a:r>
            <a:endParaRPr lang="en-US" sz="29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Scratch (scratch.mit.edu) — Tiểu học &amp; THCS đầu cấp (lớp 1–7)</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Lập trình kéo thả, không cần gõ cú pháp, loại bỏ rào cản lỗi cú pháp cho người mới.</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Phù hợp dạy tư duy thuật toán, cấu trúc điều kiện, vòng lặp qua hoạt hình, trò chơi.</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GV theo dõi, nhận xét dự án HS trực tuyến qua Scratch Studio.</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Hạn chế: không phù hợp dạy lập trình thực tế khi HS đã sẵn sàng cho ngôn ngữ văn bản.</a:t>
            </a:r>
            <a:endParaRPr lang="en-US" sz="14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Thonny — THCS (lớp 7–9), học Python lần đầu</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Giao diện tối giản, debugger trực quan từng bước — lý tưởng cho người mới học Python.</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Cài đặt offline, không phụ thuộc Internet — ưu thế lớn ở trường thiếu mạng ổn định.</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Hiển thị trực tiếp giá trị biến theo từng bước chạy, giúp hiểu cơ chế thực thi.</a:t>
            </a:r>
            <a:endParaRPr lang="en-US" sz="14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theo cấp học (2): Replit &amp; Google Colab</a:t>
            </a:r>
            <a:endParaRPr lang="en-US" sz="29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Replit (replit.com) — THCS và THPT</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Môi trường lập trình trên trình duyệt, hỗ trợ hơn 50 ngôn ngữ.</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Tính năng Multiplayer: nhiều HS cùng chỉnh sửa 1 file real-time — phù hợp Pair Programming và dự án nhóm.</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Lưu ý: cần Internet ổn định; bản miễn phí giới hạn tài nguyên.</a:t>
            </a:r>
            <a:endParaRPr lang="en-US" sz="14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Google Colab — THPT, định hướng Khoa học dữ liệu &amp; AI</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Kết hợp văn bản (Markdown), code Python, kết quả (biểu đồ, bảng) trong 1 tài liệu (Jupyter Notebook).</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Hỗ trợ sẵn thư viện dữ liệu (pandas, matplotlib, scikit-learn), không cần cài đặt.</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Phù hợp bài phân tích dữ liệu thực tế (dân số, khí hậu, kết quả thi); lưu trên Google Drive, chia sẻ dễ dàng.</a:t>
            </a:r>
            <a:endParaRPr lang="en-US" sz="14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CS Unplugged — dạy Tin học không cần máy tính</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b="1" dirty="0">
                <a:solidFill>
                  <a:srgbClr val="222B33"/>
                </a:solidFill>
                <a:latin typeface="Calibri" pitchFamily="34" charset="0"/>
                <a:ea typeface="Calibri" pitchFamily="34" charset="-122"/>
                <a:cs typeface="Calibri" pitchFamily="34" charset="-120"/>
              </a:rPr>
              <a:t>Bộ hoạt động dạy khoa học máy tính không cần máy tính (thẻ bài, trò chơi vận động, bản đồ) — mọi cấp học, đặc biệt khi thiếu thiết bị.</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Phù hợp dạy khái niệm trừu tượng: nhị phân, mã hóa, thuật toán tìm kiếm/sắp xếp, mạng máy tính.</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Ví dụ: dạy thuật toán sắp xếp bằng cách cho HS đứng hàng và tự sắp xếp theo chiều cao (Bubble Sort, Selection Sort) — trải nghiệm trực tiếp giúp hiểu sâu hơn nhiều so với xem giải thích trên màn hình.</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So sánh và lựa chọn môi trường phù hợp</a:t>
            </a:r>
            <a:endParaRPr lang="en-US" sz="2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194560"/>
                <a:gridCol w="2011680"/>
                <a:gridCol w="1828800"/>
                <a:gridCol w="2468880"/>
                <a:gridCol w="2651760"/>
              </a:tblGrid>
              <a:tr h="45720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Tiêu chí</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Scratch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Thonny</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Replit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Colab</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Cấp học phù hợp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Tiểu học–THCS</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THCS</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THCS–THPT</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THPT</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Yêu cầu Internet</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Có/offline app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Không</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Có (bắt buộc)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Có (bắt buộc)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Hỗ trợ cộng tác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Hạn chế</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Không</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Tốt (Multiplayer)</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Tốt (Share link)</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Ngôn ngữ</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Kéo thả</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Đa ngôn ngữ</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Python &amp; khác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Chi phí</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Miễn phí</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Miễn phí</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Miễn phí (giới hạn)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Miễn phí/có phí</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tương tác trong giờ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Mentimeter / Slido — thăm dò ý kiến, kiểm tra nhanh</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HS truy cập bằng mã code, bỏ phiếu/gõ trả lời qua điện thoại; kết quả hiện ngay dạng biểu đồ, word cloud.</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Ứng dụng: khảo sát đầu vào, kiểm tra hiểu bài giữa tiết, thu thập ý kiến sau buổi học.</a:t>
            </a:r>
            <a:endParaRPr lang="en-US" sz="1500" dirty="0"/>
          </a:p>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Padlet — bảng tương tác đa phương tiện</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HS đăng text, hình ảnh, link, code lên bảng chung real-time; nhiều layout (Wall, Grid, Map, Timeline).</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Ứng dụng: thu thập code giải pháp để so sánh, Gallery Walk số, ngân hàng câu hỏi, lưu tài nguyên học tập.</a:t>
            </a:r>
            <a:endParaRPr lang="en-US" sz="1500" dirty="0"/>
          </a:p>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Kahoot! / Quizizz — trò chơi học tập có tính điểm</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Trắc nghiệm thi đua, xếp hạng real-time. Quizizz có chế độ “homework” ít áp lực hơn Kahoot!.</a:t>
            </a:r>
            <a:endParaRPr lang="en-US" sz="15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Lưu ý: chỉ phù hợp đánh giá kiến thức nhớ (bậc 1 Bloom); tính cạnh tranh cao có thể tạo áp lực cho HS yếu.</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quản lý lớp học số</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Google Classroom — nền tảng quản lý lớp học toàn diện</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Tạo/giao bài tập, nhận bài nộp, chấm điểm, phản hồi trong một môi trường thống nhất.</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Tích hợp Google Drive, Docs, Forms — HS làm và nộp bài ngay trên nền tảng.</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Ứng dụng Tin học: giao bài thực hành lập trình (nộp file/link Replit), thi thực hành theo ca, phân phát tài liệu số.</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Hạn chế: không chạy code trực tiếp — cần kết hợp Replit/Colab.</a:t>
            </a:r>
            <a:endParaRPr lang="en-US" sz="1500" dirty="0"/>
          </a:p>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GitHub Classroom — quản lý bài tập lập trình chuyên biệt (THPT, định hướng CS)</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Mỗi HS nhận 1 repository riêng; GV xem code, lịch sử commit, chạy automated test.</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HS làm quen Git/GitHub — kỹ năng thực tế; phù hợp lớp 11–12 định hướng CS.</a:t>
            </a:r>
            <a:endParaRPr lang="en-US" sz="15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hỗ trợ trực quan hóa</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00" b="1" dirty="0">
                <a:solidFill>
                  <a:srgbClr val="222B33"/>
                </a:solidFill>
                <a:latin typeface="Calibri" pitchFamily="34" charset="0"/>
                <a:ea typeface="Calibri" pitchFamily="34" charset="-122"/>
                <a:cs typeface="Calibri" pitchFamily="34" charset="-120"/>
              </a:rPr>
              <a:t>Python Tutor (pythontutor.com) — trực quan hóa thực thi code</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Hiển thị từng bước thực thi: giá trị biến, call stack, bộ nhớ — theo thời gian thực.</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Ứng dụng: giải thích cơ chế vòng lặp, đệ quy, truyền tham số hàm — khái niệm trừu tượng nhất trong lập trình.</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Miễn phí, không cần tài khoản; hỗ trợ Python, Java, C, C++, JavaScript.</a:t>
            </a:r>
            <a:endParaRPr lang="en-US" sz="1600" dirty="0"/>
          </a:p>
          <a:p>
            <a:pPr algn="l" marL="203200" indent="-203200">
              <a:lnSpc>
                <a:spcPct val="108000"/>
              </a:lnSpc>
              <a:spcAft>
                <a:spcPts val="1000"/>
              </a:spcAft>
              <a:buSzPct val="100000"/>
              <a:buChar char="▪"/>
            </a:pPr>
            <a:r>
              <a:rPr lang="en-US" sz="1600" b="1" dirty="0">
                <a:solidFill>
                  <a:srgbClr val="222B33"/>
                </a:solidFill>
                <a:latin typeface="Calibri" pitchFamily="34" charset="0"/>
                <a:ea typeface="Calibri" pitchFamily="34" charset="-122"/>
                <a:cs typeface="Calibri" pitchFamily="34" charset="-120"/>
              </a:rPr>
              <a:t>Visualgo (visualgo.net) — trực quan hóa thuật toán &amp; cấu trúc dữ liệu</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Animation động các thuật toán sắp xếp, tìm kiếm, cây, đồ thị — tốc độ điều chỉnh được.</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Ứng dụng: minh họa thuật toán trước khi yêu cầu HS cài đặt; so sánh trực quan tốc độ thuật toán.</a:t>
            </a:r>
            <a:endParaRPr lang="en-US" sz="1600" dirty="0"/>
          </a:p>
          <a:p>
            <a:pPr algn="l" lvl="1" marL="457200" indent="-228600">
              <a:lnSpc>
                <a:spcPct val="108000"/>
              </a:lnSpc>
              <a:spcAft>
                <a:spcPts val="600"/>
              </a:spcAft>
              <a:buSzPct val="100000"/>
              <a:buChar char="–"/>
            </a:pPr>
            <a:r>
              <a:rPr lang="en-US" sz="1400" dirty="0">
                <a:solidFill>
                  <a:srgbClr val="5B6B79"/>
                </a:solidFill>
                <a:latin typeface="Calibri" pitchFamily="34" charset="0"/>
                <a:ea typeface="Calibri" pitchFamily="34" charset="-122"/>
                <a:cs typeface="Calibri" pitchFamily="34" charset="-120"/>
              </a:rPr>
              <a:t>Có sẵn bài tập tự luyện với phản hồi ngay lập tức.</a:t>
            </a:r>
            <a:endParaRPr lang="en-US" sz="16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Lớp học đảo ngược — bản chất và nguyên lý</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Flipped Classroom: phần truyền đạt thông tin (thường tại lớp) chuyển về nhà qua video/tài liệu số; thời gian trên lớp dành cho tư duy bậc cao, luyện tập, thực hành, hỗ trợ cá nhân (Bergmann &amp; Sams, 2012).</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Xuất phát từ quan sát: HS cần hỗ trợ nhất khi đang LÀM bài tập — không phải khi đang nghe giảng.</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Mô hình truyền thống: GV dành phần lớn thời gian trên lớp để giảng (khi HS chưa cần hỗ trợ nhiều), rồi giao bài tập về nhà (khi HS một mình, không ai hỗ trợ).</a:t>
            </a:r>
            <a:endParaRPr lang="en-US" sz="1800" dirty="0"/>
          </a:p>
          <a:p>
            <a:pPr algn="l" marL="203200" indent="-203200">
              <a:lnSpc>
                <a:spcPct val="108000"/>
              </a:lnSpc>
              <a:spcAft>
                <a:spcPts val="1000"/>
              </a:spcAft>
              <a:buSzPct val="100000"/>
              <a:buChar char="▪"/>
            </a:pPr>
            <a:r>
              <a:rPr lang="en-US" sz="1800" b="1" i="1" dirty="0">
                <a:solidFill>
                  <a:srgbClr val="222B33"/>
                </a:solidFill>
                <a:latin typeface="Calibri" pitchFamily="34" charset="0"/>
                <a:ea typeface="Calibri" pitchFamily="34" charset="-122"/>
                <a:cs typeface="Calibri" pitchFamily="34" charset="-120"/>
              </a:rPr>
              <a:t>Lớp học đảo ngược đảo lại logic: đưa “bài giảng” về nhà, đưa “bài tập” lên lớp.</a:t>
            </a:r>
            <a:endParaRPr lang="en-US" sz="18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Vì sao Flipped Classroom phù hợp với Tin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Kiến thức lý thuyết có thể học trước qua học liệu số</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Khái niệm, cú pháp, giao diện phần mềm, thao tác cơ bản trình bày hiệu quả qua video ngắn — HS chủ động xem lại, tạm dừng, tua theo tốc độ riêng.</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Thời gian trên lớp ưu tiên cho thực hành và giải quyết vấn đề</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HS cần thực hành trên máy để hình thành kỹ năng; khi gặp lỗi cần GV quan sát, gợi ý, hỗ trợ kịp thời — thời gian quý báu dành trọn cho thực hành nâng cao, cộng tác.</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Đáp ứng khác biệt về tốc độ và năng lực học tập</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Học trước qua học liệu số giúp mỗi HS tự điều chỉnh tiến độ; thời gian trên lớp dành cho hỗ trợ cá nhân hóa.</a:t>
            </a:r>
            <a:endParaRPr lang="en-US" sz="16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Quy trình triển khai Flipped Classroom</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Trước giờ học (ở nhà):</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Xem video ngắn (5–10 phút, tự quay hoặc chọn lọc YouTube/Khan Academy) giới thiệu khái niệm, kỹ năng mới.</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Đọc tài liệu tóm tắt; thử bài kiểm tra hiểu biết đơn giản (VD: Google Form trắc nghiệm 5 câu); ghi lại câu hỏi chưa hiểu.</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Trong giờ học (trên lớp):</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5–10 phút đầu: kiểm tra nhanh việc tự học (Quizizz, hỏi miệng, xem Form); giải đáp thắc mắc, tập trung câu nhiều HS sai.</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Phần còn lại: thực hành nâng cao, bài toán phức tạp, dự án nhóm, mini-game — GV đi vòng quanh hỗ trợ trực tiếp.</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Sau giờ học: hoàn thiện bài tập, nộp qua Google Classroom/Replit; xem trước video bài tiếp theo.</a:t>
            </a:r>
            <a:endParaRPr lang="en-US" sz="15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Ví dụ Flipped Classroom — Chủ đề Hàm trong Python (lớp 10–11)</a:t>
            </a:r>
            <a:endParaRPr lang="en-US" sz="2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6217920"/>
                <a:gridCol w="246888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Thời điểm</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Hoạt động</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Công cụ</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Tối trước tiết học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Xem video (7') khái niệm hàm &amp; cú pháp; video (5') hướng dẫn viết hàm tính giai thừa</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YouTube / Google Classroom</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Trước khi ngủ</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Làm Google Form 5 câu trắc nghiệm về cú pháp hàm</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Google Forms</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Đầu giờ trên lớp (10')</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GV xem kết quả Form, giải đáp câu HS sai nhiều nhất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Google Classroom + bảng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Giữa tiết (25')</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 nâng cao: hàm tính BMI, kiểm tra số nguyên tố; Pair Programming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Thonny / Replit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Cuối tiết (10')</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Gallery Walk / mini-game: so sánh cách viết hàm, thảo luận ưu nhược điểm</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Màn hình máy tính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Lưu ý khi triển khai Flipped Classroom</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Đảm bảo công bằng về điều kiện học tập ở nhà</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Không phải HS nào cũng có thiết bị/Internet ổn định — cần phương án dự phòng: xem video tại thư viện trường, chia sẻ file offline qua USB, cung cấp bản tóm tắt in sẵn.</a:t>
            </a:r>
            <a:endParaRPr lang="en-US" sz="1700" dirty="0"/>
          </a:p>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Chất lượng video quyết định hiệu quả của mô hình</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Video quá 10 phút, trình bày đơn điệu, âm thanh kém khiến HS không xem. Nên chọn video có sẵn chất lượng cao trước khi tự quay; cần điểm dừng để HS ghi chép, thử làm.</a:t>
            </a:r>
            <a:endParaRPr lang="en-US" sz="1700" dirty="0"/>
          </a:p>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Bắt đầu từng bước, không đảo ngược hoàn toàn ngay</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Thử nghiệm với một chủ đề, một tiết học trước khi nhân rộng toàn chương trình.</a:t>
            </a:r>
            <a:endParaRPr lang="en-US" sz="17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Dạy học hỗn hợp (Blended Learning) — khái niệm</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Mô hình tổ chức dạy học phối hợp có chủ đích giữa học trực tiếp (face-to-face) và học trực tuyến (online), mỗi hình thức phát huy thế mạnh riêng trong cùng một quá trình. HS có một phần quyền kiểm soát thời gian, địa điểm, tốc độ học (Graham, 2006).</a:t>
            </a:r>
            <a:endParaRPr lang="en-US" sz="1900" dirty="0"/>
          </a:p>
          <a:p>
            <a:pPr algn="l" marL="203200" indent="-203200">
              <a:lnSpc>
                <a:spcPct val="108000"/>
              </a:lnSpc>
              <a:spcAft>
                <a:spcPts val="1000"/>
              </a:spcAft>
              <a:buSzPct val="100000"/>
              <a:buChar char="▪"/>
            </a:pPr>
            <a:r>
              <a:rPr lang="en-US" sz="1900" i="1" dirty="0">
                <a:solidFill>
                  <a:srgbClr val="222B33"/>
                </a:solidFill>
                <a:latin typeface="Calibri" pitchFamily="34" charset="0"/>
                <a:ea typeface="Calibri" pitchFamily="34" charset="-122"/>
                <a:cs typeface="Calibri" pitchFamily="34" charset="-120"/>
              </a:rPr>
              <a:t>Cần phân biệt rõ: KHÔNG phải “dạy trực tiếp + thi trực tuyến”, cũng KHÔNG phải “dạy trực tiếp rồi giao thêm bài online”.</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Đòi hỏi thiết kế có chủ đích: hoạt động trực tuyến và trực tiếp bổ trợ, tăng cường lẫn nhau, hướng đến mục tiêu học tập thống nhất.</a:t>
            </a:r>
            <a:endParaRPr lang="en-US" sz="19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Các hình thức tổ chức trong Blended Learning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Lớp học đảo ngược (Flipped Classroom)</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Dạng phổ biến của Blended Learning — HS học lý thuyết ở nhà qua video/tài liệu; trên lớp thực hành, giải quyết vấn đề, thảo luận chuyên sâu.</a:t>
            </a:r>
            <a:endParaRPr lang="en-US" sz="1700" dirty="0"/>
          </a:p>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Xoay vòng vị trí (Station Rotation)</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Trong 1 tiết, HS luân phiên qua các “trạm”: trạm học trực tuyến, trạm thực hành, trạm hướng dẫn trực tiếp — phù hợp phòng máy khi số máy ít hơn số HS.</a:t>
            </a:r>
            <a:endParaRPr lang="en-US" sz="1700" dirty="0"/>
          </a:p>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Tự học có kiểm soát (Flex Model / Self-Paced)</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HS học theo lộ trình cá nhân hóa trên nền tảng số (Khan Academy, CodeHS, CS50); GV theo dõi và hỗ trợ linh hoạt.</a:t>
            </a:r>
            <a:endParaRPr lang="en-US" sz="17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Công cụ hỗ trợ Blended Learning trong Tin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LMS: Google Classroom (dễ dùng, tích hợp Drive), Microsoft Teams (môi trường M365), Moodle (mã nguồn mở, linh hoạt).</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Công cụ tạo video: OBS Studio, Screencast-O-Matic, PowerPoint (ghi âm thuyết minh) — video nên dưới 10 phút, tập trung một khái niệm, có phụ đề.</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Công cụ kiểm tra &amp; phản hồi: Google Forms, Quizizz, Kahoot!, Mentimeter.</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Công cụ thực hành lập trình trực tuyến: Replit, Google Colab, Scratch.</a:t>
            </a:r>
            <a:endParaRPr lang="en-US" sz="18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Ví dụ thiết kế đơn vị “Cơ sở dữ liệu và SQL” (lớp 11, 4 tiết)</a:t>
            </a:r>
            <a:endParaRPr lang="en-US" sz="2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1645920"/>
                <a:gridCol w="70408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Thời điểm</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Hình thức</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Hoạt động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Trước tiết 1 (ở nhà)</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Online</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Xem video “CSDL là gì?” (8'); đọc tài liệu; làm quiz 5 câu</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Tiết 1 (trên lớp)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Trực tiếp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Giải đáp quiz; thực hành tạo bảng CSDL; thảo luận</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Trước tiết 2 (ở nhà)</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Online</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Xem video “SELECT cơ bản” (7'); thử viết 3 câu lệnh trên Replit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Tiết 2 (trên lớp)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Trực tiếp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Phân tích code từ Replit; thực hành truy vấn phức tạp hơn</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Tiết 3–4 (trên lớp)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Trực tiếp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Dự án nhóm: thiết kế CSDL quản lý thư viện lớp học</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Sau tiết 4 (ở nhà)</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Online</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Hoàn thiện dự án; viết báo cáo; nộp qua Google Classroom</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Điều kiện để Blended Learning thành công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Hệ thống LMS ổn định — thiết lập và duy trì nhất quán suốt quá trình dạy học.</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Tài nguyên số chất lượng cao, được tổ chức tốt — học liệu rời rạc, khó tìm sẽ làm mất động lực tự học.</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Học sinh có kỹ năng tự học và tự quản lý thời gian — cần rèn dần, GV hướng dẫn và kiểm tra thường xuyên giai đoạn đầu.</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Giáo viên sẵn sàng chuyển vai — từ “người giảng bài” sang “người hướng dẫn và hỗ trợ cá nhân hóa” — thay đổi tư duy quan trọng nhất.</a:t>
            </a:r>
            <a:endParaRPr lang="en-US" sz="18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4.2.6</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An toàn thông tin và đạo đức số</a:t>
            </a:r>
            <a:endParaRPr lang="en-US" sz="29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GV Tin học không chỉ có trách nhiệm sư phạm mà còn trách nhiệm bảo vệ HS trong môi trường số — thành phần bắt buộc, không phải phần phụ.</a:t>
            </a:r>
            <a:endParaRPr lang="en-US" sz="1450" dirty="0"/>
          </a:p>
          <a:p>
            <a:pPr algn="l" marL="203200" indent="-203200">
              <a:lnSpc>
                <a:spcPct val="108000"/>
              </a:lnSpc>
              <a:spcAft>
                <a:spcPts val="1000"/>
              </a:spcAft>
              <a:buSzPct val="100000"/>
              <a:buChar char="▪"/>
            </a:pPr>
            <a:r>
              <a:rPr lang="en-US" sz="1450" dirty="0">
                <a:solidFill>
                  <a:srgbClr val="222B33"/>
                </a:solidFill>
                <a:latin typeface="Calibri" pitchFamily="34" charset="0"/>
                <a:ea typeface="Calibri" pitchFamily="34" charset="-122"/>
                <a:cs typeface="Calibri" pitchFamily="34" charset="-120"/>
              </a:rPr>
              <a:t>Kiểm tra độ tuổi sử dụng nền tảng: ưu tiên phiên bản giáo dục (Google Workspace for Education, Scratch, Padlet Education) thay vì tài khoản cá nhân.</a:t>
            </a:r>
            <a:endParaRPr lang="en-US" sz="1450" dirty="0"/>
          </a:p>
          <a:p>
            <a:pPr algn="l" marL="203200" indent="-203200">
              <a:lnSpc>
                <a:spcPct val="108000"/>
              </a:lnSpc>
              <a:spcAft>
                <a:spcPts val="1000"/>
              </a:spcAft>
              <a:buSzPct val="100000"/>
              <a:buChar char="▪"/>
            </a:pPr>
            <a:r>
              <a:rPr lang="en-US" sz="1450" dirty="0">
                <a:solidFill>
                  <a:srgbClr val="222B33"/>
                </a:solidFill>
                <a:latin typeface="Calibri" pitchFamily="34" charset="0"/>
                <a:ea typeface="Calibri" pitchFamily="34" charset="-122"/>
                <a:cs typeface="Calibri" pitchFamily="34" charset="-120"/>
              </a:rPr>
              <a:t>Tôn trọng quyền riêng tư: không yêu cầu thông tin cá nhân không cần thiết; không chiếu thông tin cá nhân HS lên màn hình chung.</a:t>
            </a:r>
            <a:endParaRPr lang="en-US" sz="14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dirty="0">
                <a:solidFill>
                  <a:srgbClr val="222B33"/>
                </a:solidFill>
                <a:latin typeface="Calibri" pitchFamily="34" charset="0"/>
                <a:ea typeface="Calibri" pitchFamily="34" charset="-122"/>
                <a:cs typeface="Calibri" pitchFamily="34" charset="-120"/>
              </a:rPr>
              <a:t>Hướng dẫn thực hành bảo mật: dành 2–3 phút hướng dẫn đặt mật khẩu mạnh, không dùng lại mật khẩu, không chia sẻ tài khoản.</a:t>
            </a:r>
            <a:endParaRPr lang="en-US" sz="1450" dirty="0"/>
          </a:p>
          <a:p>
            <a:pPr algn="l" marL="203200" indent="-203200">
              <a:lnSpc>
                <a:spcPct val="108000"/>
              </a:lnSpc>
              <a:spcAft>
                <a:spcPts val="1000"/>
              </a:spcAft>
              <a:buSzPct val="100000"/>
              <a:buChar char="▪"/>
            </a:pPr>
            <a:r>
              <a:rPr lang="en-US" sz="1450" dirty="0">
                <a:solidFill>
                  <a:srgbClr val="222B33"/>
                </a:solidFill>
                <a:latin typeface="Calibri" pitchFamily="34" charset="0"/>
                <a:ea typeface="Calibri" pitchFamily="34" charset="-122"/>
                <a:cs typeface="Calibri" pitchFamily="34" charset="-120"/>
              </a:rPr>
              <a:t>Ưu tiên tài khoản trường học (email school domain) thay vì tài khoản cá nhân của HS.</a:t>
            </a:r>
            <a:endParaRPr lang="en-US" sz="1450" dirty="0"/>
          </a:p>
          <a:p>
            <a:pPr algn="l" marL="203200" indent="-203200">
              <a:lnSpc>
                <a:spcPct val="108000"/>
              </a:lnSpc>
              <a:spcAft>
                <a:spcPts val="1000"/>
              </a:spcAft>
              <a:buSzPct val="100000"/>
              <a:buChar char="▪"/>
            </a:pPr>
            <a:r>
              <a:rPr lang="en-US" sz="1450" dirty="0">
                <a:solidFill>
                  <a:srgbClr val="222B33"/>
                </a:solidFill>
                <a:latin typeface="Calibri" pitchFamily="34" charset="0"/>
                <a:ea typeface="Calibri" pitchFamily="34" charset="-122"/>
                <a:cs typeface="Calibri" pitchFamily="34" charset="-120"/>
              </a:rPr>
              <a:t>Quyền tác giả và sử dụng code: hướng dẫn giấy phép mã nguồn mở, cách trích dẫn, ranh giới học hỏi và sao chép (academic integrity).</a:t>
            </a:r>
            <a:endParaRPr lang="en-US" sz="1450" dirty="0"/>
          </a:p>
        </p:txBody>
      </p:sp>
      <p:sp>
        <p:nvSpPr>
          <p:cNvPr id="7" name="Text 5"/>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Tích hợp tự nhiên vào hoạt động hàng ngày, không tách riêng thành bài học độc lập — VD: khi đăng ký Replit, thực hành ngay việc đặt mật khẩu mạnh.</a:t>
            </a:r>
            <a:endParaRPr lang="en-US" sz="1250" dirty="0"/>
          </a:p>
        </p:txBody>
      </p:sp>
      <p:sp>
        <p:nvSpPr>
          <p:cNvPr id="8" name="Text 6"/>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9" name="Text 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4.3</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Những chức năng điều hành quá trình dạy học</a:t>
            </a:r>
            <a:endParaRPr lang="en-US" sz="3200" dirty="0"/>
          </a:p>
        </p:txBody>
      </p:sp>
      <p:sp>
        <p:nvSpPr>
          <p:cNvPr id="4" name="Text 2"/>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Sáu chức năng — cấu trúc chung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Quá trình dạy học là quá trình điều khiển và tổ chức hoạt động học tập của HS nhằm đạt mục tiêu giáo dục.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Sáu chức năng điều hành là những thành tố cấu trúc cơ bản mà GV cần triển khai trong thiết kế và thực hiện bài học.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Kế thừa từ lý luận dạy học truyền thống (Nguyễn Bá Kim, 2004; Lê Văn Tiến, 2010), được điều chỉnh phù hợp định hướng phát triển năng lực số, tư duy máy tính, kỹ năng thế kỷ 21.</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Sáu chức năng: (1) Đảm bảo trình độ xuất phát, (2) Hướng đích và gợi động cơ, (3) Làm việc với nội dung mới, (4) Củng cố, (5) Kiểm tra và đánh giá, (6) Hướng dẫn công việc ở nhà.</a:t>
            </a:r>
            <a:endParaRPr lang="en-US" sz="18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Đảm bảo trình độ xuất phát</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Điều kiện tiên quyết đảm bảo quá trình dạy học bắt đầu từ “vùng phát triển gần nhất” của HS (Vygotsky, 1978).</a:t>
            </a:r>
            <a:endParaRPr lang="en-US" sz="1500" dirty="0"/>
          </a:p>
          <a:p>
            <a:pPr algn="l" marL="203200" indent="-203200">
              <a:lnSpc>
                <a:spcPct val="108000"/>
              </a:lnSpc>
              <a:spcAft>
                <a:spcPts val="1000"/>
              </a:spcAft>
              <a:buSzPct val="100000"/>
              <a:buChar char="▪"/>
            </a:pPr>
            <a:r>
              <a:rPr lang="en-US" sz="1500" dirty="0">
                <a:solidFill>
                  <a:srgbClr val="222B33"/>
                </a:solidFill>
                <a:latin typeface="Calibri" pitchFamily="34" charset="0"/>
                <a:ea typeface="Calibri" pitchFamily="34" charset="-122"/>
                <a:cs typeface="Calibri" pitchFamily="34" charset="-120"/>
              </a:rPr>
              <a:t>Bao gồm không chỉ kiến thức chuyên môn mà cả kỹ năng số, thái độ học tập, phẩm chất công dân số.</a:t>
            </a:r>
            <a:endParaRPr lang="en-US" sz="1500" dirty="0"/>
          </a:p>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Ba nhóm tiền đề cần phân tích:</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Tiền đề chung: năng lực học tập, tự học, tư duy logic, khả năng hợp tác.</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Tiền đề Tin học: kỹ năng thao tác phần mềm, tư duy thuật toán, hiểu biết an toàn thông tin.</a:t>
            </a:r>
            <a:endParaRPr lang="en-US" sz="1500" dirty="0"/>
          </a:p>
          <a:p>
            <a:pPr algn="l" lvl="1" marL="457200" indent="-228600">
              <a:lnSpc>
                <a:spcPct val="108000"/>
              </a:lnSpc>
              <a:spcAft>
                <a:spcPts val="600"/>
              </a:spcAft>
              <a:buSzPct val="100000"/>
              <a:buChar char="–"/>
            </a:pPr>
            <a:r>
              <a:rPr lang="en-US" sz="1300" dirty="0">
                <a:solidFill>
                  <a:srgbClr val="5B6B79"/>
                </a:solidFill>
                <a:latin typeface="Calibri" pitchFamily="34" charset="0"/>
                <a:ea typeface="Calibri" pitchFamily="34" charset="-122"/>
                <a:cs typeface="Calibri" pitchFamily="34" charset="-120"/>
              </a:rPr>
              <a:t>Tiền đề đặc thù: kiến thức cụ thể cho chủ đề (VD: “biến–mảng–vòng lặp” trong lập trình).</a:t>
            </a:r>
            <a:endParaRPr lang="en-US" sz="1500" dirty="0"/>
          </a:p>
          <a:p>
            <a:pPr algn="l" marL="203200" indent="-203200">
              <a:lnSpc>
                <a:spcPct val="108000"/>
              </a:lnSpc>
              <a:spcAft>
                <a:spcPts val="1000"/>
              </a:spcAft>
              <a:buSzPct val="100000"/>
              <a:buChar char="▪"/>
            </a:pPr>
            <a:r>
              <a:rPr lang="en-US" sz="1500" b="1" dirty="0">
                <a:solidFill>
                  <a:srgbClr val="222B33"/>
                </a:solidFill>
                <a:latin typeface="Calibri" pitchFamily="34" charset="0"/>
                <a:ea typeface="Calibri" pitchFamily="34" charset="-122"/>
                <a:cs typeface="Calibri" pitchFamily="34" charset="-120"/>
              </a:rPr>
              <a:t>Quy trình: nghiên cứu chương trình &amp; SGK → đánh giá trình độ HS (quan sát, kiểm tra ngắn, khởi động) → tái hiện/tái tạo kiến thức thiếu (tường minh hoặc ẩn tàng).</a:t>
            </a:r>
            <a:endParaRPr lang="en-US" sz="15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VD: lớp 10, trước dạy Thuật toán sắp xếp, GV cho HS ôn lại thao tác lặp bằng bài tính tổng — HS yếu hướng dẫn tường minh, HS khá tự tái hiện.</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Hướng đích và gợi động cơ</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“Hướng đích” giúp HS hiểu rõ mục tiêu học tập; “gợi động cơ” giúp HS muốn học, muốn khám phá.</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GV cần làm rõ cả mục tiêu dài hạn (năng lực số, tự học, sáng tạo công nghệ) và mục tiêu bộ phận (nắm cú pháp, hiểu thuật toán, ứng dụng công cụ).</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Mục tiêu bộ phận phải phục vụ mục tiêu toàn bộ.</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Khi hướng đích: tránh thuật ngữ chưa quen thuộc.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Gợi động cơ không chỉ cho hoạt động cụ thể mà cả phương thức làm việc dài hạn (tư duy thuật toán); có thể xuất phát từ yêu cầu học tập hoặc xã hội (trách nhiệm công dân số).</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Chi tiết về gợi động cơ mở đầu, trung gian, kết thúc đã trình bày ở Chương 3, mục 3.2.2.</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Làm việc với nội dung mới</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Nhấn mạnh “làm việc với nội dung mới” thay vì “giảng bài mới” — tránh hiểu lầm chỉ thầy nói, trò nghe.</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Dựa trên quan điểm hoạt động và thuyết kiến tạo (Piaget, 1977) — HS được tổ chức để tự chiếm lĩnh tri thức.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Quy trình: GV tạo tình huống gợi vấn đề phù hợp mục tiêu → HS hoạt động nhóm, thảo luận, thử nghiệm → GV quan sát, hướng dẫn, phân tách hoạt động phức tạp → HS rút kết luận, khái quát hóa thành tri thức mới.</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GV cần điều chỉnh độ khó và giúp HS xác nhận, bình luận kiến thức mới để hiểu sâu hơn.</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VD: dạy Thuật toán đồ thị (lớp 12), khởi động bằng “Tìm đường ngắn nhất trên Google Maps” — HS mô phỏng bằng Python (Dijkstra), vừa lập trình vừa thảo luận nguyên lý.</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Củng cố — năm hình thức phối hợp</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Củng cố là quá trình chuyển hóa tri thức mới thành tri thức bền vững, giúp HS hiểu sâu, vận dụng linh hoạt.</a:t>
            </a:r>
            <a:endParaRPr lang="en-US" sz="1400" dirty="0"/>
          </a:p>
          <a:p>
            <a:pPr algn="l" marL="203200" indent="-203200">
              <a:lnSpc>
                <a:spcPct val="108000"/>
              </a:lnSpc>
              <a:spcAft>
                <a:spcPts val="1000"/>
              </a:spcAft>
              <a:buSzPct val="100000"/>
              <a:buChar char="▪"/>
            </a:pPr>
            <a:r>
              <a:rPr lang="en-US" sz="1400" dirty="0">
                <a:solidFill>
                  <a:srgbClr val="222B33"/>
                </a:solidFill>
                <a:latin typeface="Calibri" pitchFamily="34" charset="0"/>
                <a:ea typeface="Calibri" pitchFamily="34" charset="-122"/>
                <a:cs typeface="Calibri" pitchFamily="34" charset="-120"/>
              </a:rPr>
              <a:t>Luyện tập: rèn kỹ năng bằng mạch bài tập phân bậc từ dễ đến khó; chú ý hoạt động trí tuệ, động cơ, tri thức phương pháp.</a:t>
            </a:r>
            <a:endParaRPr lang="en-US" sz="1400" dirty="0"/>
          </a:p>
          <a:p>
            <a:pPr algn="l" marL="203200" indent="-203200">
              <a:lnSpc>
                <a:spcPct val="108000"/>
              </a:lnSpc>
              <a:spcAft>
                <a:spcPts val="1000"/>
              </a:spcAft>
              <a:buSzPct val="100000"/>
              <a:buChar char="▪"/>
            </a:pPr>
            <a:r>
              <a:rPr lang="en-US" sz="1400" dirty="0">
                <a:solidFill>
                  <a:srgbClr val="222B33"/>
                </a:solidFill>
                <a:latin typeface="Calibri" pitchFamily="34" charset="0"/>
                <a:ea typeface="Calibri" pitchFamily="34" charset="-122"/>
                <a:cs typeface="Calibri" pitchFamily="34" charset="-120"/>
              </a:rPr>
              <a:t>Đào sâu: phát hiện khía cạnh khác, trường hợp đặc biệt. VD: xử lý bảng dữ liệu trống/lỗi trùng khóa để hiểu tính toàn vẹn dữ liệu.</a:t>
            </a:r>
            <a:endParaRPr lang="en-US" sz="1400" dirty="0"/>
          </a:p>
          <a:p>
            <a:pPr algn="l" marL="203200" indent="-203200">
              <a:lnSpc>
                <a:spcPct val="108000"/>
              </a:lnSpc>
              <a:spcAft>
                <a:spcPts val="1000"/>
              </a:spcAft>
              <a:buSzPct val="100000"/>
              <a:buChar char="▪"/>
            </a:pPr>
            <a:r>
              <a:rPr lang="en-US" sz="1400" dirty="0">
                <a:solidFill>
                  <a:srgbClr val="222B33"/>
                </a:solidFill>
                <a:latin typeface="Calibri" pitchFamily="34" charset="0"/>
                <a:ea typeface="Calibri" pitchFamily="34" charset="-122"/>
                <a:cs typeface="Calibri" pitchFamily="34" charset="-120"/>
              </a:rPr>
              <a:t>Ứng dụng: vận dụng vào vấn đề mới — toán học hóa tình huống → giải quyết bằng công cụ Tin học → chuyển kết quả về thực tế.</a:t>
            </a:r>
            <a:endParaRPr lang="en-US" sz="1400" dirty="0"/>
          </a:p>
          <a:p>
            <a:pPr algn="l" marL="203200" indent="-203200">
              <a:lnSpc>
                <a:spcPct val="108000"/>
              </a:lnSpc>
              <a:spcAft>
                <a:spcPts val="1000"/>
              </a:spcAft>
              <a:buSzPct val="100000"/>
              <a:buChar char="▪"/>
            </a:pPr>
            <a:r>
              <a:rPr lang="en-US" sz="1400" dirty="0">
                <a:solidFill>
                  <a:srgbClr val="222B33"/>
                </a:solidFill>
                <a:latin typeface="Calibri" pitchFamily="34" charset="0"/>
                <a:ea typeface="Calibri" pitchFamily="34" charset="-122"/>
                <a:cs typeface="Calibri" pitchFamily="34" charset="-120"/>
              </a:rPr>
              <a:t>Hệ thống hóa: so sánh, làm rõ quan hệ giữa tri thức. VD: bảng so sánh thuật toán tìm kiếm (tuần tự–nhị phân–băm).</a:t>
            </a:r>
            <a:endParaRPr lang="en-US" sz="1400" dirty="0"/>
          </a:p>
          <a:p>
            <a:pPr algn="l" marL="203200" indent="-203200">
              <a:lnSpc>
                <a:spcPct val="108000"/>
              </a:lnSpc>
              <a:spcAft>
                <a:spcPts val="1000"/>
              </a:spcAft>
              <a:buSzPct val="100000"/>
              <a:buChar char="▪"/>
            </a:pPr>
            <a:r>
              <a:rPr lang="en-US" sz="1400" dirty="0">
                <a:solidFill>
                  <a:srgbClr val="222B33"/>
                </a:solidFill>
                <a:latin typeface="Calibri" pitchFamily="34" charset="0"/>
                <a:ea typeface="Calibri" pitchFamily="34" charset="-122"/>
                <a:cs typeface="Calibri" pitchFamily="34" charset="-120"/>
              </a:rPr>
              <a:t>Ôn tập: nhắc lại qua sơ đồ tư duy, trò chơi (Quizizz, Kahoot!), phối hợp nhớ ý nghĩa và máy móc.</a:t>
            </a:r>
            <a:endParaRPr lang="en-US" sz="14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Kiểm tra và đánh giá</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Chức năng phản hồi và điều chỉnh quá trình học tập. Trong Tin học, đánh giá hướng tới năng lực số, tư duy máy tính, khả năng vận dụng và sáng tạo.</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Kiểm tra: gồm thường xuyên (trong tiết), định kỳ (cuối chương), tổng kết.</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Hình thức: trắc nghiệm, thực hành, sản phẩm số, vấn đáp.</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Tiêu chí: đúng kỹ thuật, tư duy logic, sáng tạo, tuân thủ đạo đức số.</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Đánh giá: phân tích mạnh yếu, nguyên nhân sai lầm, khuyến khích cải thiện — kết hợp GV đánh giá, tự đánh giá, đánh giá đồng đẳng.</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VD: dự án “Xây dựng ứng dụng web” (lớp 12) — GV đánh giá sản phẩm, HS đánh giá lẫn nhau theo rubric (chức năng, sáng tạo, giao diện, đạo đức thông tin).</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4.3.6</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Hướng dẫn công việc ở nhà</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Mắt xích cuối cùng nối liền hoạt động trên lớp với tự học ngoài lớp — cơ hội rèn năng lực tự học, học suốt đời, học trực tuyến.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Nội dung hướng dẫn: học lý thuyết (đọc tài liệu, xem video, tóm tắt sơ đồ tư duy), bài tập thực hành (lập trình, thiết kế CSDL), chuẩn bị bài mới.</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Nguyên tắc: vừa sức, phân hóa theo năng lực; hướng dẫn rõ ràng, tiêu chí đánh giá cụ thể; liên kết bài học–tự học–dự án; hạn chế số lượng, chọn thời điểm phù hợp.</a:t>
            </a:r>
            <a:endParaRPr lang="en-US" sz="19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VD: lớp 10, chủ đề Tổ chức và xử lý thông tin — HS tìm dữ liệu thực tế, tổ chức vào bảng tính, nộp qua Google Classroom — vừa củng cố kỹ năng, vừa rèn năng lực số và hợp tác trực tuyến.</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Sáu chức năng — một chu trình liên tục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(1) Xác định nền tảng → (2) Định hướng mục tiêu → (3) Tổ chức hoạt động → (4) Củng cố → (5) Đánh giá → (6) Mở rộng tự học</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Sáu chức năng không phải sáu bước tách biệt mà là một chu trình liên tục, lặp lại và bồi đắp qua từng bài học.</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Nếu GV vận dụng linh hoạt, các chức năng này giúp quá trình dạy học Tin học trở thành một quá trình kiến tạo tri thức và phát triển năng lực toàn diện, góp phần hình thành người học số — công dân toàn cầu của thế kỷ 21.</a:t>
            </a:r>
            <a:endParaRPr lang="en-US" sz="19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4.4</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Lựa chọn và phối hợp phương pháp dạy học</a:t>
            </a:r>
            <a:endParaRPr lang="en-US" sz="3200" dirty="0"/>
          </a:p>
        </p:txBody>
      </p:sp>
      <p:sp>
        <p:nvSpPr>
          <p:cNvPr id="4" name="Text 2"/>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Nguyên tắc nền tảng &amp; ba sai lầm cần tránh</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Nguyên tắc căn bản: Không có PPDH nào tốt nhất trong mọi tình huống. Hiệu quả phụ thuộc sự phù hợp với bối cảnh cụ thể — mục tiêu, nội dung, HS, điều kiện, năng lực GV.</a:t>
            </a:r>
            <a:endParaRPr lang="en-US" sz="1550" dirty="0"/>
          </a:p>
          <a:p>
            <a:pPr algn="l" marL="203200" indent="-203200">
              <a:lnSpc>
                <a:spcPct val="108000"/>
              </a:lnSpc>
              <a:spcAft>
                <a:spcPts val="1000"/>
              </a:spcAft>
              <a:buSzPct val="100000"/>
              <a:buChar char="▪"/>
            </a:pPr>
            <a:r>
              <a:rPr lang="en-US" sz="1550" i="1" dirty="0">
                <a:solidFill>
                  <a:srgbClr val="222B33"/>
                </a:solidFill>
                <a:latin typeface="Calibri" pitchFamily="34" charset="0"/>
                <a:ea typeface="Calibri" pitchFamily="34" charset="-122"/>
                <a:cs typeface="Calibri" pitchFamily="34" charset="-120"/>
              </a:rPr>
              <a:t>Giáo viên giỏi không phải người biết nhiều phương pháp nhất, mà là người biết chọn đúng phương pháp đúng lúc.</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Quan điểm tuyệt đối hóa: cho rằng một PP nào đó “tốt nhất” và áp dụng cho mọi bài (VD: PjBL không phù hợp khi cần truyền đạt nhanh kiến thức nền).</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Quan điểm thời trang: chạy theo xu hướng mà không hiểu bản chất, dùng công nghệ/PP mới chỉ vì “trông hiện đại”.</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Quan điểm an toàn: chỉ dùng PP quen thuộc (thuyết trình, thực hành theo mẫu) vì sợ thất bại — HS bỏ lỡ cơ hội phát triển tư duy bậc cao.</a:t>
            </a:r>
            <a:endParaRPr lang="en-US" sz="15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Mục tiêu bài học &amp; phương pháp phù hợp (Bloom)</a:t>
            </a:r>
            <a:endParaRPr lang="en-US" sz="29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1554480"/>
                <a:gridCol w="2651760"/>
                <a:gridCol w="3566160"/>
                <a:gridCol w="338328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Mức độ</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Mục tiêu học tập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Phương pháp phù hợp</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Ví dụ Tin học</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Nhớ</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Nhận biết, liệt kê</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Thuyết trình + trực quan; luyện tập lặp lại</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Nhớ cú pháp lệnh Python cơ bản</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Hiểu</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Giải thích, so sánh</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Vấn đáp dẫn dắt; minh họa có tương tác</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Giải thích khác biệt while và for</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Vận dụng</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Thực hiện trong tình huống quen</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Thực hành có hướng dẫn; luyện tập phân bậc</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Viết chương trình tính BMI theo mẫu</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Phân tích</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Phân tách, tìm nguyên nhân</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Dạy học giải quyết vấn đề; phân tích tình huống</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Tìm lỗi trong code, giải thích nguyên nhân</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Đánh giá</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So sánh, phê phán</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Dạy học hợp tác (tranh luận); case study</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So sánh ưu nhược thuật toán sắp xếp</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Sáng tạo</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Thiết kế, xây dựng mới</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Dạy học dự án; khám phá tự do</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00" dirty="0">
                          <a:solidFill>
                            <a:srgbClr val="222B33"/>
                          </a:solidFill>
                          <a:latin typeface="Calibri" pitchFamily="34" charset="0"/>
                          <a:ea typeface="Calibri" pitchFamily="34" charset="-122"/>
                          <a:cs typeface="Calibri" pitchFamily="34" charset="-120"/>
                        </a:rPr>
                        <a:t>Thiết kế ứng dụng giải vấn đề thực tế</a:t>
                      </a:r>
                      <a:endParaRPr lang="en-US" sz="11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Quy tắc vàng: mục tiêu “nhớ/hiểu” không nên dùng dạy học dự án (lãng phí); mục tiêu “sáng tạo” không nên dừng ở thuyết trình + luyện tập.</a:t>
            </a:r>
            <a:endParaRPr lang="en-US" sz="1200" dirty="0"/>
          </a:p>
        </p:txBody>
      </p:sp>
      <p:sp>
        <p:nvSpPr>
          <p:cNvPr id="7"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Phân loại nội dung theo bản chất tri thức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350" b="1" dirty="0">
                <a:solidFill>
                  <a:srgbClr val="222B33"/>
                </a:solidFill>
                <a:latin typeface="Calibri" pitchFamily="34" charset="0"/>
                <a:ea typeface="Calibri" pitchFamily="34" charset="-122"/>
                <a:cs typeface="Calibri" pitchFamily="34" charset="-120"/>
              </a:rPr>
              <a:t>Tri thức sự kiện (Factual): thuật ngữ, ký hiệu, cú pháp → Thuyết trình ngắn + trực quan + luyện tập.</a:t>
            </a:r>
            <a:endParaRPr lang="en-US" sz="1350" dirty="0"/>
          </a:p>
          <a:p>
            <a:pPr algn="l" lvl="1" marL="457200" indent="-228600">
              <a:lnSpc>
                <a:spcPct val="108000"/>
              </a:lnSpc>
              <a:spcAft>
                <a:spcPts val="600"/>
              </a:spcAft>
              <a:buSzPct val="100000"/>
              <a:buChar char="–"/>
            </a:pPr>
            <a:r>
              <a:rPr lang="en-US" sz="1150" dirty="0">
                <a:solidFill>
                  <a:srgbClr val="5B6B79"/>
                </a:solidFill>
                <a:latin typeface="Calibri" pitchFamily="34" charset="0"/>
                <a:ea typeface="Calibri" pitchFamily="34" charset="-122"/>
                <a:cs typeface="Calibri" pitchFamily="34" charset="-120"/>
              </a:rPr>
              <a:t>VD: toán tử so sánh Python (==, !=, &gt;, &lt;) → thuyết trình 5' với bảng tóm tắt + luyện viết điều kiện đơn giản.</a:t>
            </a:r>
            <a:endParaRPr lang="en-US" sz="1350" dirty="0"/>
          </a:p>
          <a:p>
            <a:pPr algn="l" marL="203200" indent="-203200">
              <a:lnSpc>
                <a:spcPct val="108000"/>
              </a:lnSpc>
              <a:spcAft>
                <a:spcPts val="1000"/>
              </a:spcAft>
              <a:buSzPct val="100000"/>
              <a:buChar char="▪"/>
            </a:pPr>
            <a:r>
              <a:rPr lang="en-US" sz="1350" b="1" dirty="0">
                <a:solidFill>
                  <a:srgbClr val="222B33"/>
                </a:solidFill>
                <a:latin typeface="Calibri" pitchFamily="34" charset="0"/>
                <a:ea typeface="Calibri" pitchFamily="34" charset="-122"/>
                <a:cs typeface="Calibri" pitchFamily="34" charset="-120"/>
              </a:rPr>
              <a:t>Tri thức khái niệm (Conceptual): nguyên lý, mô hình, quan hệ → Vấn đáp dẫn dắt + minh họa + thảo luận.</a:t>
            </a:r>
            <a:endParaRPr lang="en-US" sz="1350" dirty="0"/>
          </a:p>
          <a:p>
            <a:pPr algn="l" lvl="1" marL="457200" indent="-228600">
              <a:lnSpc>
                <a:spcPct val="108000"/>
              </a:lnSpc>
              <a:spcAft>
                <a:spcPts val="600"/>
              </a:spcAft>
              <a:buSzPct val="100000"/>
              <a:buChar char="–"/>
            </a:pPr>
            <a:r>
              <a:rPr lang="en-US" sz="1150" dirty="0">
                <a:solidFill>
                  <a:srgbClr val="5B6B79"/>
                </a:solidFill>
                <a:latin typeface="Calibri" pitchFamily="34" charset="0"/>
                <a:ea typeface="Calibri" pitchFamily="34" charset="-122"/>
                <a:cs typeface="Calibri" pitchFamily="34" charset="-120"/>
              </a:rPr>
              <a:t>VD: khái niệm “thuật toán” → vấn đáp từ hoạt động hàng ngày (công thức nấu ăn, chỉ đường) dẫn đến định nghĩa tổng quát.</a:t>
            </a:r>
            <a:endParaRPr lang="en-US" sz="1350" dirty="0"/>
          </a:p>
          <a:p>
            <a:pPr algn="l" marL="203200" indent="-203200">
              <a:lnSpc>
                <a:spcPct val="108000"/>
              </a:lnSpc>
              <a:spcAft>
                <a:spcPts val="1000"/>
              </a:spcAft>
              <a:buSzPct val="100000"/>
              <a:buChar char="▪"/>
            </a:pPr>
            <a:r>
              <a:rPr lang="en-US" sz="1350" b="1" dirty="0">
                <a:solidFill>
                  <a:srgbClr val="222B33"/>
                </a:solidFill>
                <a:latin typeface="Calibri" pitchFamily="34" charset="0"/>
                <a:ea typeface="Calibri" pitchFamily="34" charset="-122"/>
                <a:cs typeface="Calibri" pitchFamily="34" charset="-120"/>
              </a:rPr>
              <a:t>Tri thức thủ tục (Procedural): quy trình, kỹ năng thao tác → Minh họa (làm mẫu) + thực hành bắt chước + luyện tập.</a:t>
            </a:r>
            <a:endParaRPr lang="en-US" sz="1350" dirty="0"/>
          </a:p>
          <a:p>
            <a:pPr algn="l" lvl="1" marL="457200" indent="-228600">
              <a:lnSpc>
                <a:spcPct val="108000"/>
              </a:lnSpc>
              <a:spcAft>
                <a:spcPts val="600"/>
              </a:spcAft>
              <a:buSzPct val="100000"/>
              <a:buChar char="–"/>
            </a:pPr>
            <a:r>
              <a:rPr lang="en-US" sz="1150" dirty="0">
                <a:solidFill>
                  <a:srgbClr val="5B6B79"/>
                </a:solidFill>
                <a:latin typeface="Calibri" pitchFamily="34" charset="0"/>
                <a:ea typeface="Calibri" pitchFamily="34" charset="-122"/>
                <a:cs typeface="Calibri" pitchFamily="34" charset="-120"/>
              </a:rPr>
              <a:t>VD: dùng hàm trong Excel → GV làm mẫu từng bước + HS làm lại + luyện tập với hàm khác.</a:t>
            </a:r>
            <a:endParaRPr lang="en-US" sz="1350" dirty="0"/>
          </a:p>
          <a:p>
            <a:pPr algn="l" marL="203200" indent="-203200">
              <a:lnSpc>
                <a:spcPct val="108000"/>
              </a:lnSpc>
              <a:spcAft>
                <a:spcPts val="1000"/>
              </a:spcAft>
              <a:buSzPct val="100000"/>
              <a:buChar char="▪"/>
            </a:pPr>
            <a:r>
              <a:rPr lang="en-US" sz="1350" b="1" dirty="0">
                <a:solidFill>
                  <a:srgbClr val="222B33"/>
                </a:solidFill>
                <a:latin typeface="Calibri" pitchFamily="34" charset="0"/>
                <a:ea typeface="Calibri" pitchFamily="34" charset="-122"/>
                <a:cs typeface="Calibri" pitchFamily="34" charset="-120"/>
              </a:rPr>
              <a:t>Tri thức siêu nhận thức (Metacognitive): chiến lược tư duy, cách tự học → Dạy học giải quyết vấn đề + phản tư có hướng dẫn.</a:t>
            </a:r>
            <a:endParaRPr lang="en-US" sz="1350" dirty="0"/>
          </a:p>
          <a:p>
            <a:pPr algn="l" lvl="1" marL="457200" indent="-228600">
              <a:lnSpc>
                <a:spcPct val="108000"/>
              </a:lnSpc>
              <a:spcAft>
                <a:spcPts val="600"/>
              </a:spcAft>
              <a:buSzPct val="100000"/>
              <a:buChar char="–"/>
            </a:pPr>
            <a:r>
              <a:rPr lang="en-US" sz="1150" dirty="0">
                <a:solidFill>
                  <a:srgbClr val="5B6B79"/>
                </a:solidFill>
                <a:latin typeface="Calibri" pitchFamily="34" charset="0"/>
                <a:ea typeface="Calibri" pitchFamily="34" charset="-122"/>
                <a:cs typeface="Calibri" pitchFamily="34" charset="-120"/>
              </a:rPr>
              <a:t>VD: cách xử lý lỗi lập trình (đọc lỗi → tìm dòng lỗi → tra cứu → thử nghiệm) → dạy qua xử lý lỗi thực tế và phản tư.</a:t>
            </a:r>
            <a:endParaRPr lang="en-US" sz="13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Phân loại nội dung theo độ phức tạp</a:t>
            </a:r>
            <a:endParaRPr lang="en-US" sz="29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926080"/>
                <a:gridCol w="4114800"/>
                <a:gridCol w="4114800"/>
              </a:tblGrid>
              <a:tr h="457200">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Độ phức tạp</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Đặc điểm</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Phương pháp phù hợp</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8684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Đơn giản, tuyến tính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Một đầu vào → một đầu ra rõ ràng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Thuyết trình + thực hành theo mẫu</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8684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Trung bình, có nhánh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Nhiều trường hợp, cần phân tích điều kiện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Vấn đáp + thực hành có hướng dẫn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8684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Phức tạp, đa chiều</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Nhiều yếu tố tương tác, cần tư duy hệ thống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Dạy học giải quyết vấn đề / dự án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Đặc điểm học sinh</a:t>
            </a:r>
            <a:endParaRPr lang="en-US" sz="29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Theo trình độ và kinh nghiệm:</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mới tiếp cận: cần hỗ trợ nhiều → Minh họa + thực hành bắt chước + luyện tập có mẫu.</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đã có nền tảng: có thể tự khám phá → Dạy học khám phá có hướng dẫn + dự án nhóm.</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thành thạo: cần thách thức → Dạy học khám phá tự do + dự án cá nhân phức tạp.</a:t>
            </a:r>
            <a:endParaRPr lang="en-US" sz="140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Theo đặc điểm tâm lý:</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nhút nhát, sợ sai: cần môi trường an toàn → Pair Programming + phản hồi riêng tư.</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năng động, thích cạnh tranh → Kahoot!, coding challenge có xếp hạng.</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HS thích hợp tác → dạy học nhóm, dự án chung.</a:t>
            </a:r>
            <a:endParaRPr lang="en-US" sz="1400" dirty="0"/>
          </a:p>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Theo quy mô lớp: lớp đồng đều → tiến độ chung; lớp phân hóa mạnh → dạy học phân hóa, trạm học tập, blended learning.</a:t>
            </a:r>
            <a:endParaRPr lang="en-US" sz="140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Điều kiện thực tế ảnh hưởng đến lựa chọn phương pháp</a:t>
            </a:r>
            <a:endParaRPr lang="en-US" sz="29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468880"/>
                <a:gridCol w="868680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Điều kiện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Ảnh hưởng đến lựa chọn phương pháp</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Thời lượng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 tiết: không nên dùng dạy học dự án; 2–4 tiết liên tiếp: có thể dùng PBL hoặc dự án mini</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Số máy tính</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 HS/máy: thực hành cá nhân; 2 HS/máy: Pair Programming; 3+ HS/máy: dạy học nhóm có phân công rõ</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Kết nối Internet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Có: Blended learning, Replit, Colab; Không: offline tools, CS Unplugged</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Không gian lớp học</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Phòng máy cố định: khó tổ chức nhóm lớn; không gian linh hoạt: dễ đổi hình thức</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Kinh nghiệm &amp; lộ trình phát triển năng lực của GV</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Một phương pháp chỉ hiệu quả khi GV thực sự làm chủ nó — GV mới không nên áp dụng đồng thời quá nhiều PP mới.</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1 (GV mới): Thuyết trình + minh họa + thực hành có hướng dẫn + vấn đáp kiểm tra.</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2 (Đã quen): thêm vấn đáp dẫn dắt + Think-Pair-Share + Pair Programming.</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3 (Thành thạo): thêm dạy học giải quyết vấn đề + dạy học hợp tác với kỹ thuật phức tạp (Jigsaw, Gallery Walk).</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Giai đoạn 4 (Chuyên gia): dạy học dự án + lớp học đảo ngược + dạy học phân hóa toàn diện.</a:t>
            </a:r>
            <a:endParaRPr lang="en-US" sz="18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4.4.3.1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Phối hợp phương pháp theo cấu trúc tiết học</a:t>
            </a:r>
            <a:endParaRPr lang="en-US" sz="2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3017520"/>
                <a:gridCol w="4023360"/>
                <a:gridCol w="173736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Giai đoạn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Mục đích</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Phương pháp phù hợp</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Thời lượng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7155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Khởi động</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Kích hoạt kiến thức cũ, tạo động cơ</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Vấn đáp nhanh, động não, tình huống gây tò mò</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5–7 phút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Hình thành kiến thức mới</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Chiếm lĩnh tri thức/kỹ năng mới</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Vấn đáp dẫn dắt, minh họa, khám phá có hướng dẫn</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10–15 phút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7155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Luyện tập/Thực hành</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Củng cố, vận dụng</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Thực hành cá nhân hoặc Pair Programming</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20–25 phút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Tổng kết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Hệ thống hóa, kết nối</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Vấn đáp tổng kết, sơ đồ tư duy, chia sẻ sản phẩm</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00" dirty="0">
                          <a:solidFill>
                            <a:srgbClr val="222B33"/>
                          </a:solidFill>
                          <a:latin typeface="Calibri" pitchFamily="34" charset="0"/>
                          <a:ea typeface="Calibri" pitchFamily="34" charset="-122"/>
                          <a:cs typeface="Calibri" pitchFamily="34" charset="-120"/>
                        </a:rPr>
                        <a:t>5–8 phút</a:t>
                      </a:r>
                      <a:endParaRPr lang="en-US" sz="12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Lưu ý: thời lượng trên là gợi ý cho tiết học thông thường; bài học dự án hoặc thực hành lớn có thể có cấu trúc khác.</a:t>
            </a:r>
            <a:endParaRPr lang="en-US" sz="1200" dirty="0"/>
          </a:p>
        </p:txBody>
      </p:sp>
      <p:sp>
        <p:nvSpPr>
          <p:cNvPr id="7"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Nguyên tắc chuyển tiếp linh hoạt</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Chuyển từ phương pháp này sang phương pháp khác cần tự nhiên, không gò ép. Các dấu hiệu cần chuyển: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Chuyển từ thuyết trình sang vấn đáp: khi thấy HS bắt đầu mất tập trung (10–15 phút).</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Chuyển từ lý thuyết sang thực hành: khi đã cung cấp đủ kiến thức tối thiểu để HS bắt đầu làm.</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Chuyển từ cá nhân sang nhóm: khi nhiệm vụ phức tạp hoặc cần nhiều góc nhìn.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Chuyển từ nhóm sang cá nhân: khi cần đánh giá năng lực thực sự của từng HS.</a:t>
            </a:r>
            <a:endParaRPr lang="en-US" sz="19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Nguyên tắc tăng dần mức độ chủ động</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Trong một chuỗi bài học, mức độ chủ động của HS nên tăng dần: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Bài 1 (Khái niệm mới): Thuyết trình 40% + Minh họa 30% + Thực hành bắt chước 30%.</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Bài 2–3 (Củng cố): Vấn đáp 20% + Thực hành có hướng dẫn 50% + Thảo luận nhóm 30%.</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Bài 4–5 (Vận dụng): Khởi động vấn đề 10% + Dạy học giải quyết vấn đề 40% + Dự án nhóm 50%.</a:t>
            </a:r>
            <a:endParaRPr lang="en-US" sz="19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Nguyên tắc cân bằng hiệu quả–khả thi: đừng hy sinh hiệu quả học tập để áp dụng PP “hiện đại” — 10 phút thuyết trình + 15 phút luyện tập có thể hiệu quả hơn dự án nhóm 2 tiết nếu mục tiêu chỉ là nhớ cú pháp.</a:t>
            </a:r>
            <a:endParaRPr lang="en-US" sz="1250" dirty="0"/>
          </a:p>
        </p:txBody>
      </p:sp>
      <p:sp>
        <p:nvSpPr>
          <p:cNvPr id="7" name="Text 5"/>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4.4.4.1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Mô hình phối hợp — Bài lý thuyết: “Khái niệm thuật toán” (lớp 10)</a:t>
            </a:r>
            <a:endParaRPr lang="en-US" sz="29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011680"/>
                <a:gridCol w="2743200"/>
                <a:gridCol w="4937760"/>
                <a:gridCol w="146304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Giai đoạn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Phương pháp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Hoạt động cụ thể</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Thời lượng</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Khởi động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Vấn đáp</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“Sáng nay em đi học thế nào?” → dẫn đến “chuỗi hành động có thứ tự”</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5 phút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Hình thành KT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Vấn đáp dẫn dắt + Minh họa</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Phân tích công thức nấu mì gói → rút ra đặc điểm thuật toán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12 phút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Dạy học hợp tác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Nhóm viết thuật toán cho hoạt động thực tế (pha trà, đi siêu thị...)</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20 phút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Tổng kết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Sơ đồ tư duy</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Cả lớp cùng tạo sơ đồ tư duy về “thuật toán”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8 phút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Mô hình phối hợp — Bài thực hành: “Vòng lặp for” (lớp 10)</a:t>
            </a:r>
            <a:endParaRPr lang="en-US" sz="29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103120"/>
                <a:gridCol w="2651760"/>
                <a:gridCol w="5212080"/>
                <a:gridCol w="118872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Giai đoạn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Phương pháp</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Hoạt động cụ thể</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T.gian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Khởi động</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Tình huống</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“Làm sao in ‘Xin chào’ 100 lần mà không viết 100 lệnh print?”</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Hình thành KT</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Minh họa (Live Coding)</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GV viết code từng dòng, giải thích, chạy thử</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Thực hành bước 1</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Thực hành bắt chước</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HS viết lại đúng chương trình vừa xem</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Thực hành bước 2</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Thực hành có hướng dẫn</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HS làm 3 bài tập độ khó tăng dần (có phiếu gợi ý)</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Thực hành bước 3</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Pair Programming</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Cặp đôi giải bài toán phức tạp hơn</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Tổng kết</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Chia sẻ</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2–3 cặp chia sẻ cách giải khác nhau</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050" dirty="0">
                          <a:solidFill>
                            <a:srgbClr val="222B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Mô hình phối hợp — Bài giải quyết vấn đề: “Tìm kiếm nhị phân” (lớp 11)</a:t>
            </a:r>
            <a:endParaRPr lang="en-US" sz="29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011680"/>
                <a:gridCol w="2743200"/>
                <a:gridCol w="5212080"/>
                <a:gridCol w="118872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Giai đoạn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Phương pháp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Hoạt động cụ thể</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T.gian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Đặt vấn đề</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Dạy học giải quyết vấn đề</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Tình huống: tìm tên trong danh bạ 1000 người — cách nào nhanh nhất?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Khám phá</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Dạy học hợp tác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Nhóm thảo luận và đề xuất phương pháp</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Phân tích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Minh họa + Vấn đáp</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GV demo thuật toán nhị phân, HS dự đoán từng bước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hiện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 cá nhân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HS viết code cài đặt thuật toán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Đánh giá</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Dạy học hợp tác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So sánh tốc độ tìm kiếm tuần tự và nhị phân với dữ liệu lớn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Mô hình phối hợp — Bài dự án: “Quản lý thư viện lớp” (lớp 9, 4 tiết)</a:t>
            </a:r>
            <a:endParaRPr lang="en-US" sz="29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1371600"/>
                <a:gridCol w="3657600"/>
                <a:gridCol w="612648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Tiết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Phương pháp chính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Hoạt động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Tiết 1</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Dạy học dự án + Động não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Giới thiệu dự án, phân nhóm, động não chức năng cần có</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Tiết 2</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Dạy học hợp tác + Vấn đáp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Thiết kế giao diện và cấu trúc dữ liệu, GV tư vấn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Tiết 3</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Thực hành + Pair Programming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Lập trình các chức năng, GV hỗ trợ debug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Tiết 4</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Gallery Walk + Vấn đáp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Trình bày sản phẩm, đánh giá lẫn nhau, tổng kết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Sai lầm thường gặp khi lựa chọn và phối hợp PP (1)</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Lạm dụng một phương pháp</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Biểu hiện: chỉ dùng thuyết trình cho mọi bài, hoặc cố biến mọi bài thành dạy học dự án. Hậu quả: HS mất hứng thú, không phát triển đa dạng kỹ năng.</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Khắc phục: lập bảng theo dõi phương pháp đã dùng trong tháng, đảm bảo đa dạng hóa.</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Chọn phương pháp không phù hợp mục tiêu</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Biểu hiện: mục tiêu “nhớ cú pháp” nhưng tổ chức dự án nhóm phức tạp. Hậu quả: lãng phí thời gian, mục tiêu không đạt.</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Khắc phục: luôn tự hỏi “Phương pháp này có giúp đạt mục tiêu không?” trước khi quyết định.</a:t>
            </a:r>
            <a:endParaRPr lang="en-US" sz="15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Sai lầm thường gặp khi lựa chọn và phối hợp PP (2)</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Phối hợp thiếu logic</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Biểu hiện: nhảy từ hoạt động này sang hoạt động khác không rõ lý do, HS bị rối. Hậu quả: HS mất phương hướng.</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Khắc phục: luôn giải thích ngắn gọn “Tại sao chúng ta làm hoạt động này” khi chuyển phương pháp.</a:t>
            </a:r>
            <a:endParaRPr lang="en-US" sz="1400" dirty="0"/>
          </a:p>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Quá tải phương pháp trong một tiết</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Biểu hiện: 45 phút cố nhồi nhét 5–6 hoạt động khác nhau. Hậu quả: không hoạt động nào được thực hiện kỹ, HS mệt mỏi.</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Khắc phục: ưu tiên chất lượng hơn số lượng — 2–3 hoạt động làm tốt có giá trị hơn 6 hoạt động qua loa.</a:t>
            </a:r>
            <a:endParaRPr lang="en-US" sz="1400" dirty="0"/>
          </a:p>
          <a:p>
            <a:pPr algn="l" marL="203200" indent="-203200">
              <a:lnSpc>
                <a:spcPct val="108000"/>
              </a:lnSpc>
              <a:spcAft>
                <a:spcPts val="1000"/>
              </a:spcAft>
              <a:buSzPct val="100000"/>
              <a:buChar char="▪"/>
            </a:pPr>
            <a:r>
              <a:rPr lang="en-US" sz="1400" b="1" dirty="0">
                <a:solidFill>
                  <a:srgbClr val="222B33"/>
                </a:solidFill>
                <a:latin typeface="Calibri" pitchFamily="34" charset="0"/>
                <a:ea typeface="Calibri" pitchFamily="34" charset="-122"/>
                <a:cs typeface="Calibri" pitchFamily="34" charset="-120"/>
              </a:rPr>
              <a:t>Bỏ qua điều kiện thực tế</a:t>
            </a:r>
            <a:endParaRPr lang="en-US" sz="1400" dirty="0"/>
          </a:p>
          <a:p>
            <a:pPr algn="l" lvl="1" marL="457200" indent="-228600">
              <a:lnSpc>
                <a:spcPct val="108000"/>
              </a:lnSpc>
              <a:spcAft>
                <a:spcPts val="600"/>
              </a:spcAft>
              <a:buSzPct val="100000"/>
              <a:buChar char="–"/>
            </a:pPr>
            <a:r>
              <a:rPr lang="en-US" sz="1200" dirty="0">
                <a:solidFill>
                  <a:srgbClr val="5B6B79"/>
                </a:solidFill>
                <a:latin typeface="Calibri" pitchFamily="34" charset="0"/>
                <a:ea typeface="Calibri" pitchFamily="34" charset="-122"/>
                <a:cs typeface="Calibri" pitchFamily="34" charset="-120"/>
              </a:rPr>
              <a:t>Biểu hiện: thiết kế đẹp trên giấy nhưng không khả thi (thiếu máy, thiếu thời gian). Khắc phục: luôn có “Plan B” dự phòng.</a:t>
            </a:r>
            <a:endParaRPr lang="en-US" sz="140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63040" cy="365760"/>
          </a:xfrm>
          <a:prstGeom prst="rect">
            <a:avLst/>
          </a:prstGeom>
          <a:solidFill>
            <a:srgbClr val="C1571A"/>
          </a:solidFill>
          <a:ln/>
        </p:spPr>
      </p:sp>
      <p:sp>
        <p:nvSpPr>
          <p:cNvPr id="3" name="Text 1"/>
          <p:cNvSpPr/>
          <p:nvPr/>
        </p:nvSpPr>
        <p:spPr>
          <a:xfrm>
            <a:off x="502920" y="384048"/>
            <a:ext cx="14630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4.4.6</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2900" b="1" dirty="0">
                <a:solidFill>
                  <a:srgbClr val="1B3A5C"/>
                </a:solidFill>
                <a:latin typeface="Calibri" pitchFamily="34" charset="0"/>
                <a:ea typeface="Calibri" pitchFamily="34" charset="-122"/>
                <a:cs typeface="Calibri" pitchFamily="34" charset="-120"/>
              </a:rPr>
              <a:t>Quy trình 5 bước ra quyết định khi thiết kế bài học</a:t>
            </a:r>
            <a:endParaRPr lang="en-US" sz="29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Bước 1 — Xác định mục tiêu cụ thể: HS sẽ làm được gì sau bài học? Mức độ Bloom mong muốn là gì?</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Bước 2 — Phân tích nội dung và học sinh: nội dung thuộc loại nào? HS đã biết gì, khó khăn thường gặp là gì?</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Bước 3 — Chọn phương pháp chủ đạo: dựa vào mục tiêu và nội dung, chọn 1–2 phương pháp chính.</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Bước 4 — Thiết kế chuỗi hoạt động: sắp xếp theo logic khởi động → hình thành → luyện tập → tổng kết; phối hợp PP phụ và KTDH hỗ trợ; phân bổ thời gian hợp lý.</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Bước 5 — Kiểm tra tính khả thi và điều chỉnh: điều kiện thực tế có đáp ứng không? Có phương án dự phòng? Đủ thời gian cho từng hoạt động không?</a:t>
            </a:r>
            <a:endParaRPr lang="en-US" sz="1550" dirty="0"/>
          </a:p>
        </p:txBody>
      </p:sp>
      <p:sp>
        <p:nvSpPr>
          <p:cNvPr id="6" name="Text 4"/>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4 · Hình thức tổ chức và kỹ thuật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457200"/>
            <a:ext cx="7315200" cy="457200"/>
          </a:xfrm>
          <a:prstGeom prst="rect">
            <a:avLst/>
          </a:prstGeom>
          <a:noFill/>
          <a:ln/>
        </p:spPr>
        <p:txBody>
          <a:bodyPr wrap="square" rtlCol="0" anchor="ctr"/>
          <a:lstStyle/>
          <a:p>
            <a:pPr indent="0" marL="0">
              <a:buNone/>
            </a:pPr>
            <a:r>
              <a:rPr lang="en-US" sz="1600" b="1" spc="200" kern="0" dirty="0">
                <a:solidFill>
                  <a:srgbClr val="C1571A"/>
                </a:solidFill>
                <a:latin typeface="Calibri" pitchFamily="34" charset="0"/>
                <a:ea typeface="Calibri" pitchFamily="34" charset="-122"/>
                <a:cs typeface="Calibri" pitchFamily="34" charset="-120"/>
              </a:rPr>
              <a:t>TỔNG KẾT CHƯƠNG</a:t>
            </a:r>
            <a:endParaRPr lang="en-US" sz="1600" dirty="0"/>
          </a:p>
        </p:txBody>
      </p:sp>
      <p:sp>
        <p:nvSpPr>
          <p:cNvPr id="3" name="Text 1"/>
          <p:cNvSpPr/>
          <p:nvPr/>
        </p:nvSpPr>
        <p:spPr>
          <a:xfrm>
            <a:off x="822960" y="868680"/>
            <a:ext cx="9144000" cy="64008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Những điểm cốt lõi cần ghi nhớ</a:t>
            </a:r>
            <a:endParaRPr lang="en-US" sz="2700" dirty="0"/>
          </a:p>
        </p:txBody>
      </p:sp>
      <p:sp>
        <p:nvSpPr>
          <p:cNvPr id="4" name="Shape 2"/>
          <p:cNvSpPr/>
          <p:nvPr/>
        </p:nvSpPr>
        <p:spPr>
          <a:xfrm>
            <a:off x="822960" y="1746504"/>
            <a:ext cx="310896" cy="310896"/>
          </a:xfrm>
          <a:prstGeom prst="rect">
            <a:avLst/>
          </a:prstGeom>
          <a:solidFill>
            <a:srgbClr val="C1571A"/>
          </a:solidFill>
          <a:ln/>
        </p:spPr>
      </p:sp>
      <p:sp>
        <p:nvSpPr>
          <p:cNvPr id="5" name="Text 3"/>
          <p:cNvSpPr/>
          <p:nvPr/>
        </p:nvSpPr>
        <p:spPr>
          <a:xfrm>
            <a:off x="822960" y="174650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71600" y="161848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KTDH là công cụ có chủ đích để tổ chức từng hoạt động nhỏ hiệu quả, sinh động — không lạm dụng hay áp dụng máy móc.</a:t>
            </a:r>
            <a:endParaRPr lang="en-US" sz="1280" dirty="0"/>
          </a:p>
        </p:txBody>
      </p:sp>
      <p:sp>
        <p:nvSpPr>
          <p:cNvPr id="7" name="Shape 5"/>
          <p:cNvSpPr/>
          <p:nvPr/>
        </p:nvSpPr>
        <p:spPr>
          <a:xfrm>
            <a:off x="822960" y="2569464"/>
            <a:ext cx="310896" cy="310896"/>
          </a:xfrm>
          <a:prstGeom prst="rect">
            <a:avLst/>
          </a:prstGeom>
          <a:solidFill>
            <a:srgbClr val="C1571A"/>
          </a:solidFill>
          <a:ln/>
        </p:spPr>
      </p:sp>
      <p:sp>
        <p:nvSpPr>
          <p:cNvPr id="8" name="Text 6"/>
          <p:cNvSpPr/>
          <p:nvPr/>
        </p:nvSpPr>
        <p:spPr>
          <a:xfrm>
            <a:off x="822960" y="256946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44144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8 kỹ thuật cốt lõi (Động não, Khăn trải bàn, Mảnh ghép, Phòng tranh, Công đoạn, Sơ đồ tư duy, 5W1H, Think-Code-Share) cần chọn theo mục tiêu, thời điểm, điều kiện.</a:t>
            </a:r>
            <a:endParaRPr lang="en-US" sz="1280" dirty="0"/>
          </a:p>
        </p:txBody>
      </p:sp>
      <p:sp>
        <p:nvSpPr>
          <p:cNvPr id="10" name="Shape 8"/>
          <p:cNvSpPr/>
          <p:nvPr/>
        </p:nvSpPr>
        <p:spPr>
          <a:xfrm>
            <a:off x="822960" y="3392424"/>
            <a:ext cx="310896" cy="310896"/>
          </a:xfrm>
          <a:prstGeom prst="rect">
            <a:avLst/>
          </a:prstGeom>
          <a:solidFill>
            <a:srgbClr val="C1571A"/>
          </a:solidFill>
          <a:ln/>
        </p:spPr>
      </p:sp>
      <p:sp>
        <p:nvSpPr>
          <p:cNvPr id="11" name="Text 9"/>
          <p:cNvSpPr/>
          <p:nvPr/>
        </p:nvSpPr>
        <p:spPr>
          <a:xfrm>
            <a:off x="822960" y="339242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371600" y="326440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Công nghệ chỉ có giá trị khi thực sự giúp HS học tốt hơn (SAMR mức M, R) — không phải vì “trông hiện đại”.</a:t>
            </a:r>
            <a:endParaRPr lang="en-US" sz="1280" dirty="0"/>
          </a:p>
        </p:txBody>
      </p:sp>
      <p:sp>
        <p:nvSpPr>
          <p:cNvPr id="13" name="Shape 11"/>
          <p:cNvSpPr/>
          <p:nvPr/>
        </p:nvSpPr>
        <p:spPr>
          <a:xfrm>
            <a:off x="822960" y="4215384"/>
            <a:ext cx="310896" cy="310896"/>
          </a:xfrm>
          <a:prstGeom prst="rect">
            <a:avLst/>
          </a:prstGeom>
          <a:solidFill>
            <a:srgbClr val="C1571A"/>
          </a:solidFill>
          <a:ln/>
        </p:spPr>
      </p:sp>
      <p:sp>
        <p:nvSpPr>
          <p:cNvPr id="14" name="Text 12"/>
          <p:cNvSpPr/>
          <p:nvPr/>
        </p:nvSpPr>
        <p:spPr>
          <a:xfrm>
            <a:off x="822960" y="421538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371600" y="408736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Flipped Classroom và Blended Learning tận dụng đặc thù thực hành cao của Tin học, đòi hỏi thiết kế có chủ đích.</a:t>
            </a:r>
            <a:endParaRPr lang="en-US" sz="1280" dirty="0"/>
          </a:p>
        </p:txBody>
      </p:sp>
      <p:sp>
        <p:nvSpPr>
          <p:cNvPr id="16" name="Shape 14"/>
          <p:cNvSpPr/>
          <p:nvPr/>
        </p:nvSpPr>
        <p:spPr>
          <a:xfrm>
            <a:off x="822960" y="5038344"/>
            <a:ext cx="310896" cy="310896"/>
          </a:xfrm>
          <a:prstGeom prst="rect">
            <a:avLst/>
          </a:prstGeom>
          <a:solidFill>
            <a:srgbClr val="C1571A"/>
          </a:solidFill>
          <a:ln/>
        </p:spPr>
      </p:sp>
      <p:sp>
        <p:nvSpPr>
          <p:cNvPr id="17" name="Text 15"/>
          <p:cNvSpPr/>
          <p:nvPr/>
        </p:nvSpPr>
        <p:spPr>
          <a:xfrm>
            <a:off x="822960" y="503834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371600" y="491032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Sáu chức năng điều hành (trình độ xuất phát → gợi động cơ → nội dung mới → củng cố → đánh giá → tự học) là một chu trình liên tục.</a:t>
            </a:r>
            <a:endParaRPr lang="en-US" sz="1280" dirty="0"/>
          </a:p>
        </p:txBody>
      </p:sp>
      <p:sp>
        <p:nvSpPr>
          <p:cNvPr id="19" name="Shape 17"/>
          <p:cNvSpPr/>
          <p:nvPr/>
        </p:nvSpPr>
        <p:spPr>
          <a:xfrm>
            <a:off x="822960" y="5861304"/>
            <a:ext cx="310896" cy="310896"/>
          </a:xfrm>
          <a:prstGeom prst="rect">
            <a:avLst/>
          </a:prstGeom>
          <a:solidFill>
            <a:srgbClr val="C1571A"/>
          </a:solidFill>
          <a:ln/>
        </p:spPr>
      </p:sp>
      <p:sp>
        <p:nvSpPr>
          <p:cNvPr id="20" name="Text 18"/>
          <p:cNvSpPr/>
          <p:nvPr/>
        </p:nvSpPr>
        <p:spPr>
          <a:xfrm>
            <a:off x="822960" y="586130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371600" y="5733288"/>
            <a:ext cx="10149840" cy="658368"/>
          </a:xfrm>
          <a:prstGeom prst="rect">
            <a:avLst/>
          </a:prstGeom>
          <a:noFill/>
          <a:ln/>
        </p:spPr>
        <p:txBody>
          <a:bodyPr wrap="square" rtlCol="0" anchor="ctr"/>
          <a:lstStyle/>
          <a:p>
            <a:pPr indent="0" marL="0">
              <a:buNone/>
            </a:pPr>
            <a:r>
              <a:rPr lang="en-US" sz="1280" dirty="0">
                <a:solidFill>
                  <a:srgbClr val="E6EEF6"/>
                </a:solidFill>
                <a:latin typeface="Calibri" pitchFamily="34" charset="0"/>
                <a:ea typeface="Calibri" pitchFamily="34" charset="-122"/>
                <a:cs typeface="Calibri" pitchFamily="34" charset="-120"/>
              </a:rPr>
              <a:t>Không có PPDH nào tốt nhất tuyệt đối — nghệ thuật của GV giỏi là chọn đúng và phối hợp khéo léo, có phản tư sau mỗi bài dạy.</a:t>
            </a:r>
            <a:endParaRPr lang="en-US" sz="1280" dirty="0"/>
          </a:p>
        </p:txBody>
      </p:sp>
      <p:sp>
        <p:nvSpPr>
          <p:cNvPr id="22" name="Text 20"/>
          <p:cNvSpPr/>
          <p:nvPr/>
        </p:nvSpPr>
        <p:spPr>
          <a:xfrm>
            <a:off x="457200" y="6492240"/>
            <a:ext cx="91440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Cảm ơn — Chương 4: Hình thức tổ chức và kỹ thuật dạy học môn Tin học</a:t>
            </a:r>
            <a:endParaRPr lang="en-US" sz="900" dirty="0"/>
          </a:p>
        </p:txBody>
      </p:sp>
      <p:sp>
        <p:nvSpPr>
          <p:cNvPr id="23" name="Text 2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2026-09-11T03:28:38Z</dcterms:created>
  <dcterms:modified xsi:type="dcterms:W3CDTF">2026-09-11T03:28:38Z</dcterms:modified>
</cp:coreProperties>
</file>